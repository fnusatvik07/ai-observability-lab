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Concise prompt</c:v>
                </c:pt>
              </c:strCache>
            </c:strRef>
          </c:tx>
          <c:spPr>
            <a:solidFill>
              <a:srgbClr val="3D3D3A"/>
            </a:solidFill>
            <a:effectLst/>
          </c:spPr>
          <c:invertIfNegative val="0"/>
          <c:dLbls>
            <c:numFmt formatCode="$0" sourceLinked="0"/>
            <c:txPr>
              <a:bodyPr/>
              <a:lstStyle/>
              <a:p>
                <a:pPr>
                  <a:defRPr b="0" i="0" strike="noStrike" sz="1200" u="none">
                    <a:solidFill>
                      <a:srgbClr val="141413"/>
                    </a:solidFill>
                    <a:latin typeface="Arial"/>
                  </a:defRPr>
                </a:pPr>
              </a:p>
            </c:txPr>
            <c:showLegendKey val="0"/>
            <c:showVal val="1"/>
            <c:showCatName val="0"/>
            <c:showSerName val="0"/>
            <c:showPercent val="0"/>
            <c:showBubbleSize val="0"/>
            <c:showLeaderLines val="0"/>
          </c:dLbls>
          <c:cat>
            <c:multiLvlStrRef>
              <c:f>Sheet1!$A$2:$A$3</c:f>
              <c:multiLvlStrCache>
                <c:ptCount val="2"/>
                <c:lvl>
                  <c:pt idx="0">
                    <c:v>gpt-4.1-nano</c:v>
                  </c:pt>
                  <c:pt idx="1">
                    <c:v>gpt-4o-mini</c:v>
                  </c:pt>
                </c:lvl>
              </c:multiLvlStrCache>
            </c:multiLvlStrRef>
          </c:cat>
          <c:val>
            <c:numRef>
              <c:f>Sheet1!$B$2:$B$3</c:f>
              <c:numCache>
                <c:formatCode>General</c:formatCode>
                <c:ptCount val="2"/>
                <c:pt idx="0">
                  <c:v>6.3</c:v>
                </c:pt>
                <c:pt idx="1">
                  <c:v>10.1</c:v>
                </c:pt>
              </c:numCache>
            </c:numRef>
          </c:val>
        </c:ser>
        <c:ser>
          <c:idx val="1"/>
          <c:order val="1"/>
          <c:tx>
            <c:strRef>
              <c:f>Sheet1!$C$1</c:f>
              <c:strCache>
                <c:ptCount val="1"/>
                <c:pt idx="0">
                  <c:v>Friendly prompt</c:v>
                </c:pt>
              </c:strCache>
            </c:strRef>
          </c:tx>
          <c:spPr>
            <a:solidFill>
              <a:srgbClr val="D97757"/>
            </a:solidFill>
            <a:effectLst/>
          </c:spPr>
          <c:invertIfNegative val="0"/>
          <c:dLbls>
            <c:numFmt formatCode="$0" sourceLinked="0"/>
            <c:txPr>
              <a:bodyPr/>
              <a:lstStyle/>
              <a:p>
                <a:pPr>
                  <a:defRPr b="0" i="0" strike="noStrike" sz="1200" u="none">
                    <a:solidFill>
                      <a:srgbClr val="141413"/>
                    </a:solidFill>
                    <a:latin typeface="Arial"/>
                  </a:defRPr>
                </a:pPr>
              </a:p>
            </c:txPr>
            <c:showLegendKey val="0"/>
            <c:showVal val="1"/>
            <c:showCatName val="0"/>
            <c:showSerName val="0"/>
            <c:showPercent val="0"/>
            <c:showBubbleSize val="0"/>
            <c:showLeaderLines val="0"/>
          </c:dLbls>
          <c:cat>
            <c:multiLvlStrRef>
              <c:f>Sheet1!$A$2:$A$3</c:f>
              <c:multiLvlStrCache>
                <c:ptCount val="2"/>
                <c:lvl>
                  <c:pt idx="0">
                    <c:v>gpt-4.1-nano</c:v>
                  </c:pt>
                  <c:pt idx="1">
                    <c:v>gpt-4o-mini</c:v>
                  </c:pt>
                </c:lvl>
              </c:multiLvlStrCache>
            </c:multiLvlStrRef>
          </c:cat>
          <c:val>
            <c:numRef>
              <c:f>Sheet1!$C$2:$C$3</c:f>
              <c:numCache>
                <c:formatCode>General</c:formatCode>
                <c:ptCount val="2"/>
                <c:pt idx="0">
                  <c:v>12.6</c:v>
                </c:pt>
                <c:pt idx="1">
                  <c:v>21.5</c:v>
                </c:pt>
              </c:numCache>
            </c:numRef>
          </c:val>
        </c:ser>
        <c:dLbls>
          <c:numFmt formatCode="$0" sourceLinked="0"/>
          <c:txPr>
            <a:bodyPr/>
            <a:lstStyle/>
            <a:p>
              <a:pPr>
                <a:defRPr b="0" i="0" strike="noStrike" sz="1200" u="none">
                  <a:solidFill>
                    <a:srgbClr val="141413"/>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D3D3A"/>
                </a:solidFill>
                <a:latin typeface="Avenir Nex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E4D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7867F"/>
                </a:solidFill>
                <a:latin typeface="Avenir Next"/>
              </a:defRPr>
            </a:pPr>
            <a:endParaRPr lang="en-US"/>
          </a:p>
        </c:txPr>
        <c:crossAx val="2094734554"/>
        <c:crosses val="autoZero"/>
        <c:crossBetween val="between"/>
      </c:valAx>
      <c:spPr>
        <a:solidFill>
          <a:srgbClr val="FAF9F5"/>
        </a:solidFill>
        <a:ln>
          <a:noFill/>
        </a:ln>
        <a:effectLst/>
      </c:spPr>
    </c:plotArea>
    <c:legend>
      <c:legendPos val="t"/>
      <c:overlay val="0"/>
      <c:txPr>
        <a:bodyPr/>
        <a:lstStyle/>
        <a:p>
          <a:pPr>
            <a:defRPr sz="1200">
              <a:solidFill>
                <a:srgbClr val="3D3D3A"/>
              </a:solidFill>
              <a:latin typeface="Avenir Next"/>
              <a:cs typeface="Avenir Next"/>
            </a:defRPr>
          </a:pPr>
          <a:endParaRPr lang="en-US"/>
        </a:p>
      </c:txPr>
    </c:legend>
    <c:plotVisOnly val="1"/>
    <c:dispBlanksAs val="span"/>
  </c:chart>
  <c:spPr>
    <a:solidFill>
      <a:srgbClr val="FAF9F5"/>
    </a:solidFill>
    <a:ln w="9525" cap="flat">
      <a:solidFill>
        <a:srgbClr val="D9D5C8"/>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Tonight is about one skill: when an AI app misbehaves, being able to see exactly what happened inside it. No prior knowledge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would you find out why this happened? Most people say print statements or logs. Keep that answer in mind. The dashboard was green because nothing crashed. AI apps often fail by being confidently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The basics take the longest, because once you understand traces and spans every tool feels familiar. One example all night: a tiny weather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It introduces every word we use tonight, so the rest of the session can build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No tools yet, only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checks for problems you predicted. Observability lets you investigate problems you did not predict. With AI apps, most problems are ones nobody predicted.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row is 'when it fails'. A normal app crashes. An AI app gives a polite, confident, wrong answer, and every dashboard stays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of the night. Keep coming back to it. A log is the driver's note. A metric is the daily total. A trace is your parcel's whole history. A span is one line in that history, with how long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code with the room. Two steps: get_weather pretends to call a website and takes half a second, ask_ai calls gpt-4o-mini. This exact function is in notebook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Logs are messages your code writes at important moments. Perfect for one request. With many users at once, the lines interleave and you cannot tell which belong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are numbers that summarize: how many, how fast, how many failed. They tell you that something is slow, not why. For why, we need to look inside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tool draws traces like this. The top bar is the whole request; the bars below are its steps. Now the question metrics could not answer has an answer: you can see how much time each step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new code pattern in the basics. Wrap each step in a with block. Nested blocks become child spans. The setup lines are in notebook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setup lines from notebook 01 with this table. The provider holds settings, the tracer creates spans, the processor decides when to pass them on, and the exporter delivers them. Simple processor sends each span immediately, which is easy to see in a demo. Batch processor collects spans and sends them in groups in the background, which is what real apps use; that is why short scripts must call flush. The collector is optional: a separate program, like a sorting hub, that many apps send to, which can remove personal data and forward to one or more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span is just a record with fields. For AI calls, the useful extra fields are model, tokens and cost. Tokens are pieces of words; you pay per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OpenTelemetry is a free, open standard. Your app creates spans, an exporter sends them, and a tool displays them. Because every tool understands it, you are never locked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Five things: speed, errors, tokens, cost, quality. And always record who asked and which prompt version, so you can answer 'did yesterday's change make it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one-line prompt change, 'be warm and chatty', made answers almost three times longer. Same model, double the bill. This is why cost belongs in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Switch to JupyterLab, notebook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explain every container. It is a website and a database on my laptop. The login is created automatically when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once, slowly. Docker Desktop runs the containers. The official repo contains the docker compose file. There is no default admin: you sign up, and you own the organization and project you create. API keys belong to a project. Tonight I used the repo's make up, which does the same thing and pre-creates the admin login and keys through Langfuse's headless initialization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notebook 02. Scroll to the change comments and stop there. Everything else is the code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Tracing, newest trace, click every row. Finish on OpenAI-generation: the import recorded it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Notebook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notebook 02 and 03 side by side. observe becomes traceable, the import becomes wrap_openai. The trace tree in LangSmith looks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removes most of the confusion. Say it out loud every time a tool uses its own word: that is a span.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Notebook 04, then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AI-first tools understand prompts and tokens. Big monitoring platforms put AI traces next to everything else the company runs. All of them understand OpenTelemetry.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notebook 04 and show the trace named 'plain OpenTelemetry' arriving in Langfuse. Then this table: same code, different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single best tool. Match it to the situation. And because of OpenTelemetry, the choice is reversible.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points aloud. If people remember one thing: a trace is the story of one request, and spans are its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Share the repo: three commands and the notebooks run on their own laptops.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3"/>
        </a:solidFill>
      </p:bgPr>
    </p:bg>
    <p:spTree>
      <p:nvGrpSpPr>
        <p:cNvPr id="1" name=""/>
        <p:cNvGrpSpPr/>
        <p:nvPr/>
      </p:nvGrpSpPr>
      <p:grpSpPr>
        <a:xfrm>
          <a:off x="0" y="0"/>
          <a:ext cx="0" cy="0"/>
          <a:chOff x="0" y="0"/>
          <a:chExt cx="0" cy="0"/>
        </a:xfrm>
      </p:grpSpPr>
      <p:sp>
        <p:nvSpPr>
          <p:cNvPr id="2" name="Text 0"/>
          <p:cNvSpPr/>
          <p:nvPr/>
        </p:nvSpPr>
        <p:spPr>
          <a:xfrm>
            <a:off x="640080" y="1234440"/>
            <a:ext cx="7315200" cy="320040"/>
          </a:xfrm>
          <a:prstGeom prst="rect">
            <a:avLst/>
          </a:prstGeom>
          <a:noFill/>
          <a:ln/>
        </p:spPr>
        <p:txBody>
          <a:bodyPr wrap="square" lIns="0" tIns="0" rIns="0" bIns="0" rtlCol="0" anchor="ctr"/>
          <a:lstStyle/>
          <a:p>
            <a:pPr indent="0" marL="0">
              <a:buNone/>
            </a:pPr>
            <a:r>
              <a:rPr lang="en-US" sz="1400" b="1" spc="200" kern="0" dirty="0">
                <a:solidFill>
                  <a:srgbClr val="D97757"/>
                </a:solidFill>
                <a:latin typeface="Avenir Next" pitchFamily="34" charset="0"/>
                <a:ea typeface="Avenir Next" pitchFamily="34" charset="-122"/>
                <a:cs typeface="Avenir Next" pitchFamily="34" charset="-120"/>
              </a:rPr>
              <a:t>Data Sense  ·  AI Discussions</a:t>
            </a:r>
            <a:endParaRPr lang="en-US" sz="1400" dirty="0"/>
          </a:p>
        </p:txBody>
      </p:sp>
      <p:sp>
        <p:nvSpPr>
          <p:cNvPr id="3" name="Text 1"/>
          <p:cNvSpPr/>
          <p:nvPr/>
        </p:nvSpPr>
        <p:spPr>
          <a:xfrm>
            <a:off x="640080" y="1737360"/>
            <a:ext cx="7315200" cy="1188720"/>
          </a:xfrm>
          <a:prstGeom prst="rect">
            <a:avLst/>
          </a:prstGeom>
          <a:noFill/>
          <a:ln/>
        </p:spPr>
        <p:txBody>
          <a:bodyPr wrap="square" lIns="0" tIns="0" rIns="0" bIns="0" rtlCol="0" anchor="ctr"/>
          <a:lstStyle/>
          <a:p>
            <a:pPr indent="0" marL="0">
              <a:buNone/>
            </a:pPr>
            <a:r>
              <a:rPr lang="en-US" sz="6600" dirty="0">
                <a:solidFill>
                  <a:srgbClr val="F0EEE6"/>
                </a:solidFill>
                <a:latin typeface="Charter" pitchFamily="34" charset="0"/>
                <a:ea typeface="Charter" pitchFamily="34" charset="-122"/>
                <a:cs typeface="Charter" pitchFamily="34" charset="-120"/>
              </a:rPr>
              <a:t>AI </a:t>
            </a:r>
            <a:pPr indent="0" marL="0">
              <a:buNone/>
            </a:pPr>
            <a:r>
              <a:rPr lang="en-US" sz="6600" i="1" dirty="0">
                <a:solidFill>
                  <a:srgbClr val="D97757"/>
                </a:solidFill>
                <a:latin typeface="Charter" pitchFamily="34" charset="0"/>
                <a:ea typeface="Charter" pitchFamily="34" charset="-122"/>
                <a:cs typeface="Charter" pitchFamily="34" charset="-120"/>
              </a:rPr>
              <a:t>Observability</a:t>
            </a:r>
            <a:endParaRPr lang="en-US" sz="6600" dirty="0"/>
          </a:p>
        </p:txBody>
      </p:sp>
      <p:sp>
        <p:nvSpPr>
          <p:cNvPr id="4" name="Text 2"/>
          <p:cNvSpPr/>
          <p:nvPr/>
        </p:nvSpPr>
        <p:spPr>
          <a:xfrm>
            <a:off x="640080" y="3017520"/>
            <a:ext cx="6858000" cy="548640"/>
          </a:xfrm>
          <a:prstGeom prst="rect">
            <a:avLst/>
          </a:prstGeom>
          <a:noFill/>
          <a:ln/>
        </p:spPr>
        <p:txBody>
          <a:bodyPr wrap="square" lIns="0" tIns="0" rIns="0" bIns="0" rtlCol="0" anchor="ctr"/>
          <a:lstStyle/>
          <a:p>
            <a:pPr indent="0" marL="0">
              <a:buNone/>
            </a:pPr>
            <a:r>
              <a:rPr lang="en-US" sz="2400" dirty="0">
                <a:solidFill>
                  <a:srgbClr val="C9C6BC"/>
                </a:solidFill>
                <a:latin typeface="Charter" pitchFamily="34" charset="0"/>
                <a:ea typeface="Charter" pitchFamily="34" charset="-122"/>
                <a:cs typeface="Charter" pitchFamily="34" charset="-120"/>
              </a:rPr>
              <a:t>See what your AI app is doing, step by step.</a:t>
            </a:r>
            <a:endParaRPr lang="en-US" sz="2400" dirty="0"/>
          </a:p>
        </p:txBody>
      </p:sp>
      <p:sp>
        <p:nvSpPr>
          <p:cNvPr id="5" name="Text 3"/>
          <p:cNvSpPr/>
          <p:nvPr/>
        </p:nvSpPr>
        <p:spPr>
          <a:xfrm>
            <a:off x="640080" y="5806440"/>
            <a:ext cx="7315200" cy="320040"/>
          </a:xfrm>
          <a:prstGeom prst="rect">
            <a:avLst/>
          </a:prstGeom>
          <a:noFill/>
          <a:ln/>
        </p:spPr>
        <p:txBody>
          <a:bodyPr wrap="square" lIns="0" tIns="0" rIns="0" bIns="0" rtlCol="0" anchor="ctr"/>
          <a:lstStyle/>
          <a:p>
            <a:pPr indent="0" marL="0">
              <a:buNone/>
            </a:pPr>
            <a:r>
              <a:rPr lang="en-US" sz="1200" dirty="0">
                <a:solidFill>
                  <a:srgbClr val="8F8D86"/>
                </a:solidFill>
                <a:latin typeface="Avenir Next" pitchFamily="34" charset="0"/>
                <a:ea typeface="Avenir Next" pitchFamily="34" charset="-122"/>
                <a:cs typeface="Avenir Next" pitchFamily="34" charset="-120"/>
              </a:rPr>
              <a:t>Foundations  ·  Tuesday, October 20, 2026  ·  7:00 PM PT</a:t>
            </a:r>
            <a:endParaRPr lang="en-US" sz="1200" dirty="0"/>
          </a:p>
        </p:txBody>
      </p:sp>
      <p:sp>
        <p:nvSpPr>
          <p:cNvPr id="6" name="Shape 4"/>
          <p:cNvSpPr/>
          <p:nvPr/>
        </p:nvSpPr>
        <p:spPr>
          <a:xfrm>
            <a:off x="7818120" y="1417320"/>
            <a:ext cx="3977640" cy="3017520"/>
          </a:xfrm>
          <a:prstGeom prst="rect">
            <a:avLst/>
          </a:prstGeom>
          <a:solidFill>
            <a:srgbClr val="262624"/>
          </a:solidFill>
          <a:ln w="9525">
            <a:solidFill>
              <a:srgbClr val="3A3936"/>
            </a:solidFill>
            <a:prstDash val="solid"/>
          </a:ln>
        </p:spPr>
      </p:sp>
      <p:sp>
        <p:nvSpPr>
          <p:cNvPr id="7" name="Text 5"/>
          <p:cNvSpPr/>
          <p:nvPr/>
        </p:nvSpPr>
        <p:spPr>
          <a:xfrm>
            <a:off x="8046720" y="1691640"/>
            <a:ext cx="3200400" cy="228600"/>
          </a:xfrm>
          <a:prstGeom prst="rect">
            <a:avLst/>
          </a:prstGeom>
          <a:noFill/>
          <a:ln/>
        </p:spPr>
        <p:txBody>
          <a:bodyPr wrap="square" lIns="0" tIns="0" rIns="0" bIns="0" rtlCol="0" anchor="ctr"/>
          <a:lstStyle/>
          <a:p>
            <a:pPr indent="0" marL="0">
              <a:buNone/>
            </a:pPr>
            <a:r>
              <a:rPr lang="en-US" sz="1000" dirty="0">
                <a:solidFill>
                  <a:srgbClr val="8F8D86"/>
                </a:solidFill>
                <a:latin typeface="Menlo" pitchFamily="34" charset="0"/>
                <a:ea typeface="Menlo" pitchFamily="34" charset="-122"/>
                <a:cs typeface="Menlo" pitchFamily="34" charset="-120"/>
              </a:rPr>
              <a:t>weather_assistant</a:t>
            </a:r>
            <a:endParaRPr lang="en-US" sz="1000" dirty="0"/>
          </a:p>
        </p:txBody>
      </p:sp>
      <p:sp>
        <p:nvSpPr>
          <p:cNvPr id="8" name="Shape 6"/>
          <p:cNvSpPr/>
          <p:nvPr/>
        </p:nvSpPr>
        <p:spPr>
          <a:xfrm>
            <a:off x="8046720" y="1947672"/>
            <a:ext cx="3474720" cy="182880"/>
          </a:xfrm>
          <a:prstGeom prst="rect">
            <a:avLst/>
          </a:prstGeom>
          <a:solidFill>
            <a:srgbClr val="D97757"/>
          </a:solidFill>
          <a:ln w="12700">
            <a:solidFill>
              <a:srgbClr val="D97757"/>
            </a:solidFill>
            <a:prstDash val="solid"/>
          </a:ln>
        </p:spPr>
      </p:sp>
      <p:sp>
        <p:nvSpPr>
          <p:cNvPr id="9" name="Text 7"/>
          <p:cNvSpPr/>
          <p:nvPr/>
        </p:nvSpPr>
        <p:spPr>
          <a:xfrm>
            <a:off x="8229600" y="2350008"/>
            <a:ext cx="3200400" cy="228600"/>
          </a:xfrm>
          <a:prstGeom prst="rect">
            <a:avLst/>
          </a:prstGeom>
          <a:noFill/>
          <a:ln/>
        </p:spPr>
        <p:txBody>
          <a:bodyPr wrap="square" lIns="0" tIns="0" rIns="0" bIns="0" rtlCol="0" anchor="ctr"/>
          <a:lstStyle/>
          <a:p>
            <a:pPr indent="0" marL="0">
              <a:buNone/>
            </a:pPr>
            <a:r>
              <a:rPr lang="en-US" sz="1000" dirty="0">
                <a:solidFill>
                  <a:srgbClr val="8F8D86"/>
                </a:solidFill>
                <a:latin typeface="Menlo" pitchFamily="34" charset="0"/>
                <a:ea typeface="Menlo" pitchFamily="34" charset="-122"/>
                <a:cs typeface="Menlo" pitchFamily="34" charset="-120"/>
              </a:rPr>
              <a:t>get_weather</a:t>
            </a:r>
            <a:endParaRPr lang="en-US" sz="1000" dirty="0"/>
          </a:p>
        </p:txBody>
      </p:sp>
      <p:sp>
        <p:nvSpPr>
          <p:cNvPr id="10" name="Shape 8"/>
          <p:cNvSpPr/>
          <p:nvPr/>
        </p:nvSpPr>
        <p:spPr>
          <a:xfrm>
            <a:off x="8046720" y="2606040"/>
            <a:ext cx="1303020" cy="182880"/>
          </a:xfrm>
          <a:prstGeom prst="rect">
            <a:avLst/>
          </a:prstGeom>
          <a:solidFill>
            <a:srgbClr val="D4A27F"/>
          </a:solidFill>
          <a:ln w="12700">
            <a:solidFill>
              <a:srgbClr val="D4A27F"/>
            </a:solidFill>
            <a:prstDash val="solid"/>
          </a:ln>
        </p:spPr>
      </p:sp>
      <p:sp>
        <p:nvSpPr>
          <p:cNvPr id="11" name="Text 9"/>
          <p:cNvSpPr/>
          <p:nvPr/>
        </p:nvSpPr>
        <p:spPr>
          <a:xfrm>
            <a:off x="8229600" y="3008376"/>
            <a:ext cx="3200400" cy="228600"/>
          </a:xfrm>
          <a:prstGeom prst="rect">
            <a:avLst/>
          </a:prstGeom>
          <a:noFill/>
          <a:ln/>
        </p:spPr>
        <p:txBody>
          <a:bodyPr wrap="square" lIns="0" tIns="0" rIns="0" bIns="0" rtlCol="0" anchor="ctr"/>
          <a:lstStyle/>
          <a:p>
            <a:pPr indent="0" marL="0">
              <a:buNone/>
            </a:pPr>
            <a:r>
              <a:rPr lang="en-US" sz="1000" dirty="0">
                <a:solidFill>
                  <a:srgbClr val="8F8D86"/>
                </a:solidFill>
                <a:latin typeface="Menlo" pitchFamily="34" charset="0"/>
                <a:ea typeface="Menlo" pitchFamily="34" charset="-122"/>
                <a:cs typeface="Menlo" pitchFamily="34" charset="-120"/>
              </a:rPr>
              <a:t>ask_ai</a:t>
            </a:r>
            <a:endParaRPr lang="en-US" sz="1000" dirty="0"/>
          </a:p>
        </p:txBody>
      </p:sp>
      <p:sp>
        <p:nvSpPr>
          <p:cNvPr id="12" name="Shape 10"/>
          <p:cNvSpPr/>
          <p:nvPr/>
        </p:nvSpPr>
        <p:spPr>
          <a:xfrm>
            <a:off x="9349740" y="3264408"/>
            <a:ext cx="2171700" cy="182880"/>
          </a:xfrm>
          <a:prstGeom prst="rect">
            <a:avLst/>
          </a:prstGeom>
          <a:solidFill>
            <a:srgbClr val="6A9BCC"/>
          </a:solidFill>
          <a:ln w="12700">
            <a:solidFill>
              <a:srgbClr val="6A9BCC"/>
            </a:solidFill>
            <a:prstDash val="solid"/>
          </a:ln>
        </p:spPr>
      </p:sp>
      <p:sp>
        <p:nvSpPr>
          <p:cNvPr id="13" name="Text 11"/>
          <p:cNvSpPr/>
          <p:nvPr/>
        </p:nvSpPr>
        <p:spPr>
          <a:xfrm>
            <a:off x="8412480" y="3666744"/>
            <a:ext cx="3200400" cy="228600"/>
          </a:xfrm>
          <a:prstGeom prst="rect">
            <a:avLst/>
          </a:prstGeom>
          <a:noFill/>
          <a:ln/>
        </p:spPr>
        <p:txBody>
          <a:bodyPr wrap="square" lIns="0" tIns="0" rIns="0" bIns="0" rtlCol="0" anchor="ctr"/>
          <a:lstStyle/>
          <a:p>
            <a:pPr indent="0" marL="0">
              <a:buNone/>
            </a:pPr>
            <a:r>
              <a:rPr lang="en-US" sz="1000" dirty="0">
                <a:solidFill>
                  <a:srgbClr val="8F8D86"/>
                </a:solidFill>
                <a:latin typeface="Menlo" pitchFamily="34" charset="0"/>
                <a:ea typeface="Menlo" pitchFamily="34" charset="-122"/>
                <a:cs typeface="Menlo" pitchFamily="34" charset="-120"/>
              </a:rPr>
              <a:t>gpt-4o-mini</a:t>
            </a:r>
            <a:endParaRPr lang="en-US" sz="1000" dirty="0"/>
          </a:p>
        </p:txBody>
      </p:sp>
      <p:sp>
        <p:nvSpPr>
          <p:cNvPr id="14" name="Shape 12"/>
          <p:cNvSpPr/>
          <p:nvPr/>
        </p:nvSpPr>
        <p:spPr>
          <a:xfrm>
            <a:off x="9436608" y="3922776"/>
            <a:ext cx="2084832" cy="182880"/>
          </a:xfrm>
          <a:prstGeom prst="rect">
            <a:avLst/>
          </a:prstGeom>
          <a:solidFill>
            <a:srgbClr val="788C5D"/>
          </a:solidFill>
          <a:ln w="12700">
            <a:solidFill>
              <a:srgbClr val="788C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Why we are here</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F8D86"/>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F8D86"/>
                </a:solidFill>
                <a:latin typeface="Avenir Next" pitchFamily="34" charset="0"/>
                <a:ea typeface="Avenir Next" pitchFamily="34" charset="-122"/>
                <a:cs typeface="Avenir Next" pitchFamily="34" charset="-120"/>
              </a:rPr>
              <a:t>2</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F0EEE6"/>
                </a:solidFill>
                <a:latin typeface="Charter" pitchFamily="34" charset="0"/>
                <a:ea typeface="Charter" pitchFamily="34" charset="-122"/>
                <a:cs typeface="Charter" pitchFamily="34" charset="-120"/>
              </a:rPr>
              <a:t>Your AI assistant gave a wrong answer, and </a:t>
            </a:r>
            <a:pPr indent="0" marL="0">
              <a:buNone/>
            </a:pPr>
            <a:r>
              <a:rPr lang="en-US" sz="2800" i="1" dirty="0">
                <a:solidFill>
                  <a:srgbClr val="D97757"/>
                </a:solidFill>
                <a:latin typeface="Charter" pitchFamily="34" charset="0"/>
                <a:ea typeface="Charter" pitchFamily="34" charset="-122"/>
                <a:cs typeface="Charter" pitchFamily="34" charset="-120"/>
              </a:rPr>
              <a:t>nothing told you why</a:t>
            </a:r>
            <a:endParaRPr lang="en-US" sz="2800" dirty="0"/>
          </a:p>
        </p:txBody>
      </p:sp>
      <p:sp>
        <p:nvSpPr>
          <p:cNvPr id="7" name="Shape 5"/>
          <p:cNvSpPr/>
          <p:nvPr/>
        </p:nvSpPr>
        <p:spPr>
          <a:xfrm>
            <a:off x="640080" y="1828800"/>
            <a:ext cx="5303520" cy="3566160"/>
          </a:xfrm>
          <a:prstGeom prst="rect">
            <a:avLst/>
          </a:prstGeom>
          <a:solidFill>
            <a:srgbClr val="262624"/>
          </a:solidFill>
          <a:ln w="9525">
            <a:solidFill>
              <a:srgbClr val="3A3936"/>
            </a:solidFill>
            <a:prstDash val="solid"/>
          </a:ln>
        </p:spPr>
      </p:sp>
      <p:sp>
        <p:nvSpPr>
          <p:cNvPr id="8" name="Text 6"/>
          <p:cNvSpPr/>
          <p:nvPr/>
        </p:nvSpPr>
        <p:spPr>
          <a:xfrm>
            <a:off x="1005840" y="2103120"/>
            <a:ext cx="2743200" cy="274320"/>
          </a:xfrm>
          <a:prstGeom prst="rect">
            <a:avLst/>
          </a:prstGeom>
          <a:noFill/>
          <a:ln/>
        </p:spPr>
        <p:txBody>
          <a:bodyPr wrap="square" lIns="0" tIns="0" rIns="0" bIns="0" rtlCol="0" anchor="t"/>
          <a:lstStyle/>
          <a:p>
            <a:pPr indent="0" marL="0">
              <a:buNone/>
            </a:pPr>
            <a:r>
              <a:rPr lang="en-US" sz="1100" dirty="0">
                <a:solidFill>
                  <a:srgbClr val="8F8D86"/>
                </a:solidFill>
                <a:latin typeface="Avenir Next" pitchFamily="34" charset="0"/>
                <a:ea typeface="Avenir Next" pitchFamily="34" charset="-122"/>
                <a:cs typeface="Avenir Next" pitchFamily="34" charset="-120"/>
              </a:rPr>
              <a:t>Customer</a:t>
            </a:r>
            <a:endParaRPr lang="en-US" sz="1100" dirty="0"/>
          </a:p>
        </p:txBody>
      </p:sp>
      <p:sp>
        <p:nvSpPr>
          <p:cNvPr id="9" name="Text 7"/>
          <p:cNvSpPr/>
          <p:nvPr/>
        </p:nvSpPr>
        <p:spPr>
          <a:xfrm>
            <a:off x="1005840" y="2377440"/>
            <a:ext cx="4572000" cy="365760"/>
          </a:xfrm>
          <a:prstGeom prst="rect">
            <a:avLst/>
          </a:prstGeom>
          <a:noFill/>
          <a:ln/>
        </p:spPr>
        <p:txBody>
          <a:bodyPr wrap="square" lIns="0" tIns="0" rIns="0" bIns="0" rtlCol="0" anchor="t"/>
          <a:lstStyle/>
          <a:p>
            <a:pPr indent="0" marL="0">
              <a:buNone/>
            </a:pPr>
            <a:r>
              <a:rPr lang="en-US" sz="1700" dirty="0">
                <a:solidFill>
                  <a:srgbClr val="F0EEE6"/>
                </a:solidFill>
                <a:latin typeface="Avenir Next" pitchFamily="34" charset="0"/>
                <a:ea typeface="Avenir Next" pitchFamily="34" charset="-122"/>
                <a:cs typeface="Avenir Next" pitchFamily="34" charset="-120"/>
              </a:rPr>
              <a:t>Can I get a refund after 60 days?</a:t>
            </a:r>
            <a:endParaRPr lang="en-US" sz="1700" dirty="0"/>
          </a:p>
        </p:txBody>
      </p:sp>
      <p:sp>
        <p:nvSpPr>
          <p:cNvPr id="10" name="Text 8"/>
          <p:cNvSpPr/>
          <p:nvPr/>
        </p:nvSpPr>
        <p:spPr>
          <a:xfrm>
            <a:off x="1005840" y="3063240"/>
            <a:ext cx="2743200" cy="274320"/>
          </a:xfrm>
          <a:prstGeom prst="rect">
            <a:avLst/>
          </a:prstGeom>
          <a:noFill/>
          <a:ln/>
        </p:spPr>
        <p:txBody>
          <a:bodyPr wrap="square" lIns="0" tIns="0" rIns="0" bIns="0" rtlCol="0" anchor="t"/>
          <a:lstStyle/>
          <a:p>
            <a:pPr indent="0" marL="0">
              <a:buNone/>
            </a:pPr>
            <a:r>
              <a:rPr lang="en-US" sz="1100" dirty="0">
                <a:solidFill>
                  <a:srgbClr val="8F8D86"/>
                </a:solidFill>
                <a:latin typeface="Avenir Next" pitchFamily="34" charset="0"/>
                <a:ea typeface="Avenir Next" pitchFamily="34" charset="-122"/>
                <a:cs typeface="Avenir Next" pitchFamily="34" charset="-120"/>
              </a:rPr>
              <a:t>Assistant</a:t>
            </a:r>
            <a:endParaRPr lang="en-US" sz="1100" dirty="0"/>
          </a:p>
        </p:txBody>
      </p:sp>
      <p:sp>
        <p:nvSpPr>
          <p:cNvPr id="11" name="Text 9"/>
          <p:cNvSpPr/>
          <p:nvPr/>
        </p:nvSpPr>
        <p:spPr>
          <a:xfrm>
            <a:off x="1005840" y="3337560"/>
            <a:ext cx="4572000" cy="365760"/>
          </a:xfrm>
          <a:prstGeom prst="rect">
            <a:avLst/>
          </a:prstGeom>
          <a:noFill/>
          <a:ln/>
        </p:spPr>
        <p:txBody>
          <a:bodyPr wrap="square" lIns="0" tIns="0" rIns="0" bIns="0" rtlCol="0" anchor="t"/>
          <a:lstStyle/>
          <a:p>
            <a:pPr indent="0" marL="0">
              <a:buNone/>
            </a:pPr>
            <a:r>
              <a:rPr lang="en-US" sz="1700" dirty="0">
                <a:solidFill>
                  <a:srgbClr val="BF4D43"/>
                </a:solidFill>
                <a:latin typeface="Avenir Next" pitchFamily="34" charset="0"/>
                <a:ea typeface="Avenir Next" pitchFamily="34" charset="-122"/>
                <a:cs typeface="Avenir Next" pitchFamily="34" charset="-120"/>
              </a:rPr>
              <a:t>Yes, refunds are available anytime.</a:t>
            </a:r>
            <a:endParaRPr lang="en-US" sz="1700" dirty="0"/>
          </a:p>
        </p:txBody>
      </p:sp>
      <p:sp>
        <p:nvSpPr>
          <p:cNvPr id="12" name="Shape 10"/>
          <p:cNvSpPr/>
          <p:nvPr/>
        </p:nvSpPr>
        <p:spPr>
          <a:xfrm>
            <a:off x="1005840" y="4069080"/>
            <a:ext cx="4572000" cy="0"/>
          </a:xfrm>
          <a:prstGeom prst="line">
            <a:avLst/>
          </a:prstGeom>
          <a:noFill/>
          <a:ln w="9525">
            <a:solidFill>
              <a:srgbClr val="3A3936"/>
            </a:solidFill>
            <a:prstDash val="solid"/>
          </a:ln>
        </p:spPr>
      </p:sp>
      <p:sp>
        <p:nvSpPr>
          <p:cNvPr id="13" name="Text 11"/>
          <p:cNvSpPr/>
          <p:nvPr/>
        </p:nvSpPr>
        <p:spPr>
          <a:xfrm>
            <a:off x="1005840" y="4251960"/>
            <a:ext cx="4572000" cy="822960"/>
          </a:xfrm>
          <a:prstGeom prst="rect">
            <a:avLst/>
          </a:prstGeom>
          <a:noFill/>
          <a:ln/>
        </p:spPr>
        <p:txBody>
          <a:bodyPr wrap="square" lIns="0" tIns="0" rIns="0" bIns="0" rtlCol="0" anchor="t"/>
          <a:lstStyle/>
          <a:p>
            <a:pPr indent="0" marL="0">
              <a:buNone/>
            </a:pPr>
            <a:r>
              <a:rPr lang="en-US" sz="1400" dirty="0">
                <a:solidFill>
                  <a:srgbClr val="C9C6BC"/>
                </a:solidFill>
                <a:latin typeface="Avenir Next" pitchFamily="34" charset="0"/>
                <a:ea typeface="Avenir Next" pitchFamily="34" charset="-122"/>
                <a:cs typeface="Avenir Next" pitchFamily="34" charset="-120"/>
              </a:rPr>
              <a:t>The real policy is 30 days. The server dashboard showed no errors.</a:t>
            </a:r>
            <a:endParaRPr lang="en-US" sz="1400" dirty="0"/>
          </a:p>
        </p:txBody>
      </p:sp>
      <p:sp>
        <p:nvSpPr>
          <p:cNvPr id="14" name="Text 12"/>
          <p:cNvSpPr/>
          <p:nvPr/>
        </p:nvSpPr>
        <p:spPr>
          <a:xfrm>
            <a:off x="6675120" y="1828800"/>
            <a:ext cx="4846320" cy="365760"/>
          </a:xfrm>
          <a:prstGeom prst="rect">
            <a:avLst/>
          </a:prstGeom>
          <a:noFill/>
          <a:ln/>
        </p:spPr>
        <p:txBody>
          <a:bodyPr wrap="square" lIns="0" tIns="0" rIns="0" bIns="0" rtlCol="0" anchor="t"/>
          <a:lstStyle/>
          <a:p>
            <a:pPr indent="0" marL="0">
              <a:buNone/>
            </a:pPr>
            <a:r>
              <a:rPr lang="en-US" sz="1700" b="1" dirty="0">
                <a:solidFill>
                  <a:srgbClr val="F0EEE6"/>
                </a:solidFill>
                <a:latin typeface="Avenir Next" pitchFamily="34" charset="0"/>
                <a:ea typeface="Avenir Next" pitchFamily="34" charset="-122"/>
                <a:cs typeface="Avenir Next" pitchFamily="34" charset="-120"/>
              </a:rPr>
              <a:t>To fix it you need answers to:</a:t>
            </a:r>
            <a:endParaRPr lang="en-US" sz="1700" dirty="0"/>
          </a:p>
        </p:txBody>
      </p:sp>
      <p:sp>
        <p:nvSpPr>
          <p:cNvPr id="15" name="Text 13"/>
          <p:cNvSpPr/>
          <p:nvPr/>
        </p:nvSpPr>
        <p:spPr>
          <a:xfrm>
            <a:off x="6675120" y="2377440"/>
            <a:ext cx="4846320" cy="2743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C9C6BC"/>
                </a:solidFill>
                <a:latin typeface="Avenir Next" pitchFamily="34" charset="0"/>
                <a:ea typeface="Avenir Next" pitchFamily="34" charset="-122"/>
                <a:cs typeface="Avenir Next" pitchFamily="34" charset="-120"/>
              </a:rPr>
              <a:t>Which question was sent to the AI model?</a:t>
            </a:r>
            <a:endParaRPr lang="en-US" sz="1600" dirty="0"/>
          </a:p>
          <a:p>
            <a:pPr marL="203200" indent="-203200">
              <a:spcAft>
                <a:spcPts val="800"/>
              </a:spcAft>
              <a:buSzPct val="100000"/>
              <a:buChar char="•"/>
            </a:pPr>
            <a:r>
              <a:rPr lang="en-US" sz="1600" dirty="0">
                <a:solidFill>
                  <a:srgbClr val="C9C6BC"/>
                </a:solidFill>
                <a:latin typeface="Avenir Next" pitchFamily="34" charset="0"/>
                <a:ea typeface="Avenir Next" pitchFamily="34" charset="-122"/>
                <a:cs typeface="Avenir Next" pitchFamily="34" charset="-120"/>
              </a:rPr>
              <a:t>What did each step return?</a:t>
            </a:r>
            <a:endParaRPr lang="en-US" sz="1600" dirty="0"/>
          </a:p>
          <a:p>
            <a:pPr marL="203200" indent="-203200">
              <a:spcAft>
                <a:spcPts val="800"/>
              </a:spcAft>
              <a:buSzPct val="100000"/>
              <a:buChar char="•"/>
            </a:pPr>
            <a:r>
              <a:rPr lang="en-US" sz="1600" dirty="0">
                <a:solidFill>
                  <a:srgbClr val="C9C6BC"/>
                </a:solidFill>
                <a:latin typeface="Avenir Next" pitchFamily="34" charset="0"/>
                <a:ea typeface="Avenir Next" pitchFamily="34" charset="-122"/>
                <a:cs typeface="Avenir Next" pitchFamily="34" charset="-120"/>
              </a:rPr>
              <a:t>How long did each step take?</a:t>
            </a:r>
            <a:endParaRPr lang="en-US" sz="1600" dirty="0"/>
          </a:p>
          <a:p>
            <a:pPr marL="203200" indent="-203200">
              <a:spcAft>
                <a:spcPts val="800"/>
              </a:spcAft>
              <a:buSzPct val="100000"/>
              <a:buChar char="•"/>
            </a:pPr>
            <a:r>
              <a:rPr lang="en-US" sz="1600" dirty="0">
                <a:solidFill>
                  <a:srgbClr val="C9C6BC"/>
                </a:solidFill>
                <a:latin typeface="Avenir Next" pitchFamily="34" charset="0"/>
                <a:ea typeface="Avenir Next" pitchFamily="34" charset="-122"/>
                <a:cs typeface="Avenir Next" pitchFamily="34" charset="-120"/>
              </a:rPr>
              <a:t>What did it cost?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Agenda</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3</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Tonight: </a:t>
            </a:r>
            <a:pPr indent="0" marL="0">
              <a:buNone/>
            </a:pPr>
            <a:r>
              <a:rPr lang="en-US" sz="2800" i="1" dirty="0">
                <a:solidFill>
                  <a:srgbClr val="D97757"/>
                </a:solidFill>
                <a:latin typeface="Charter" pitchFamily="34" charset="0"/>
                <a:ea typeface="Charter" pitchFamily="34" charset="-122"/>
                <a:cs typeface="Charter" pitchFamily="34" charset="-120"/>
              </a:rPr>
              <a:t>the basics first</a:t>
            </a:r>
            <a:pPr indent="0" marL="0">
              <a:buNone/>
            </a:pPr>
            <a:r>
              <a:rPr lang="en-US" sz="2800" dirty="0">
                <a:solidFill>
                  <a:srgbClr val="141413"/>
                </a:solidFill>
                <a:latin typeface="Charter" pitchFamily="34" charset="0"/>
                <a:ea typeface="Charter" pitchFamily="34" charset="-122"/>
                <a:cs typeface="Charter" pitchFamily="34" charset="-120"/>
              </a:rPr>
              <a:t>, then three tools on the same tiny example</a:t>
            </a:r>
            <a:endParaRPr lang="en-US" sz="2800" dirty="0"/>
          </a:p>
        </p:txBody>
      </p:sp>
      <p:sp>
        <p:nvSpPr>
          <p:cNvPr id="7" name="Shape 5"/>
          <p:cNvSpPr/>
          <p:nvPr/>
        </p:nvSpPr>
        <p:spPr>
          <a:xfrm>
            <a:off x="640080" y="1719072"/>
            <a:ext cx="10911535" cy="0"/>
          </a:xfrm>
          <a:prstGeom prst="line">
            <a:avLst/>
          </a:prstGeom>
          <a:noFill/>
          <a:ln w="9525">
            <a:solidFill>
              <a:srgbClr val="D9D5C8"/>
            </a:solidFill>
            <a:prstDash val="solid"/>
          </a:ln>
        </p:spPr>
      </p:sp>
      <p:sp>
        <p:nvSpPr>
          <p:cNvPr id="8" name="Text 6"/>
          <p:cNvSpPr/>
          <p:nvPr/>
        </p:nvSpPr>
        <p:spPr>
          <a:xfrm>
            <a:off x="640080" y="1828800"/>
            <a:ext cx="548640" cy="640080"/>
          </a:xfrm>
          <a:prstGeom prst="rect">
            <a:avLst/>
          </a:prstGeom>
          <a:noFill/>
          <a:ln/>
        </p:spPr>
        <p:txBody>
          <a:bodyPr wrap="square" lIns="0" tIns="0" rIns="0" bIns="0" rtlCol="0" anchor="t"/>
          <a:lstStyle/>
          <a:p>
            <a:pPr indent="0" marL="0">
              <a:buNone/>
            </a:pPr>
            <a:r>
              <a:rPr lang="en-US" sz="3200" dirty="0">
                <a:solidFill>
                  <a:srgbClr val="D97757"/>
                </a:solidFill>
                <a:latin typeface="Charter" pitchFamily="34" charset="0"/>
                <a:ea typeface="Charter" pitchFamily="34" charset="-122"/>
                <a:cs typeface="Charter" pitchFamily="34" charset="-120"/>
              </a:rPr>
              <a:t>1</a:t>
            </a:r>
            <a:endParaRPr lang="en-US" sz="3200" dirty="0"/>
          </a:p>
        </p:txBody>
      </p:sp>
      <p:sp>
        <p:nvSpPr>
          <p:cNvPr id="9" name="Text 7"/>
          <p:cNvSpPr/>
          <p:nvPr/>
        </p:nvSpPr>
        <p:spPr>
          <a:xfrm>
            <a:off x="1371600" y="1874520"/>
            <a:ext cx="2926080" cy="457200"/>
          </a:xfrm>
          <a:prstGeom prst="rect">
            <a:avLst/>
          </a:prstGeom>
          <a:noFill/>
          <a:ln/>
        </p:spPr>
        <p:txBody>
          <a:bodyPr wrap="square" lIns="0" tIns="0" rIns="0" bIns="0" rtlCol="0" anchor="t"/>
          <a:lstStyle/>
          <a:p>
            <a:pPr indent="0" marL="0">
              <a:buNone/>
            </a:pPr>
            <a:r>
              <a:rPr lang="en-US" sz="1900" b="1" dirty="0">
                <a:solidFill>
                  <a:srgbClr val="141413"/>
                </a:solidFill>
                <a:latin typeface="Avenir Next" pitchFamily="34" charset="0"/>
                <a:ea typeface="Avenir Next" pitchFamily="34" charset="-122"/>
                <a:cs typeface="Avenir Next" pitchFamily="34" charset="-120"/>
              </a:rPr>
              <a:t>The basics</a:t>
            </a:r>
            <a:endParaRPr lang="en-US" sz="1900" dirty="0"/>
          </a:p>
        </p:txBody>
      </p:sp>
      <p:sp>
        <p:nvSpPr>
          <p:cNvPr id="10" name="Text 8"/>
          <p:cNvSpPr/>
          <p:nvPr/>
        </p:nvSpPr>
        <p:spPr>
          <a:xfrm>
            <a:off x="4389120" y="1901952"/>
            <a:ext cx="5303520" cy="457200"/>
          </a:xfrm>
          <a:prstGeom prst="rect">
            <a:avLst/>
          </a:prstGeom>
          <a:noFill/>
          <a:ln/>
        </p:spPr>
        <p:txBody>
          <a:bodyPr wrap="square" lIns="0" tIns="0" rIns="0" bIns="0" rtlCol="0" anchor="t"/>
          <a:lstStyle/>
          <a:p>
            <a:pPr indent="0" marL="0">
              <a:buNone/>
            </a:pPr>
            <a:r>
              <a:rPr lang="en-US" sz="1600" dirty="0">
                <a:solidFill>
                  <a:srgbClr val="3D3D3A"/>
                </a:solidFill>
                <a:latin typeface="Avenir Next" pitchFamily="34" charset="0"/>
                <a:ea typeface="Avenir Next" pitchFamily="34" charset="-122"/>
                <a:cs typeface="Avenir Next" pitchFamily="34" charset="-120"/>
              </a:rPr>
              <a:t>Logs, metrics, traces and spans in plain words</a:t>
            </a:r>
            <a:endParaRPr lang="en-US" sz="1600" dirty="0"/>
          </a:p>
        </p:txBody>
      </p:sp>
      <p:sp>
        <p:nvSpPr>
          <p:cNvPr id="11" name="Text 9"/>
          <p:cNvSpPr/>
          <p:nvPr/>
        </p:nvSpPr>
        <p:spPr>
          <a:xfrm>
            <a:off x="9722815" y="1901952"/>
            <a:ext cx="1828800" cy="457200"/>
          </a:xfrm>
          <a:prstGeom prst="rect">
            <a:avLst/>
          </a:prstGeom>
          <a:noFill/>
          <a:ln/>
        </p:spPr>
        <p:txBody>
          <a:bodyPr wrap="square" lIns="0" tIns="0" rIns="0" bIns="0" rtlCol="0" anchor="t"/>
          <a:lstStyle/>
          <a:p>
            <a:pPr algn="r" indent="0" marL="0">
              <a:buNone/>
            </a:pPr>
            <a:r>
              <a:rPr lang="en-US" sz="1300" dirty="0">
                <a:solidFill>
                  <a:srgbClr val="87867F"/>
                </a:solidFill>
                <a:latin typeface="Avenir Next" pitchFamily="34" charset="0"/>
                <a:ea typeface="Avenir Next" pitchFamily="34" charset="-122"/>
                <a:cs typeface="Avenir Next" pitchFamily="34" charset="-120"/>
              </a:rPr>
              <a:t>Notebook 01</a:t>
            </a:r>
            <a:endParaRPr lang="en-US" sz="1300" dirty="0"/>
          </a:p>
        </p:txBody>
      </p:sp>
      <p:sp>
        <p:nvSpPr>
          <p:cNvPr id="12" name="Shape 10"/>
          <p:cNvSpPr/>
          <p:nvPr/>
        </p:nvSpPr>
        <p:spPr>
          <a:xfrm>
            <a:off x="640080" y="2679192"/>
            <a:ext cx="10911535" cy="0"/>
          </a:xfrm>
          <a:prstGeom prst="line">
            <a:avLst/>
          </a:prstGeom>
          <a:noFill/>
          <a:ln w="9525">
            <a:solidFill>
              <a:srgbClr val="D9D5C8"/>
            </a:solidFill>
            <a:prstDash val="solid"/>
          </a:ln>
        </p:spPr>
      </p:sp>
      <p:sp>
        <p:nvSpPr>
          <p:cNvPr id="13" name="Text 11"/>
          <p:cNvSpPr/>
          <p:nvPr/>
        </p:nvSpPr>
        <p:spPr>
          <a:xfrm>
            <a:off x="640080" y="2788920"/>
            <a:ext cx="548640" cy="640080"/>
          </a:xfrm>
          <a:prstGeom prst="rect">
            <a:avLst/>
          </a:prstGeom>
          <a:noFill/>
          <a:ln/>
        </p:spPr>
        <p:txBody>
          <a:bodyPr wrap="square" lIns="0" tIns="0" rIns="0" bIns="0" rtlCol="0" anchor="t"/>
          <a:lstStyle/>
          <a:p>
            <a:pPr indent="0" marL="0">
              <a:buNone/>
            </a:pPr>
            <a:r>
              <a:rPr lang="en-US" sz="3200" dirty="0">
                <a:solidFill>
                  <a:srgbClr val="D97757"/>
                </a:solidFill>
                <a:latin typeface="Charter" pitchFamily="34" charset="0"/>
                <a:ea typeface="Charter" pitchFamily="34" charset="-122"/>
                <a:cs typeface="Charter" pitchFamily="34" charset="-120"/>
              </a:rPr>
              <a:t>2</a:t>
            </a:r>
            <a:endParaRPr lang="en-US" sz="3200" dirty="0"/>
          </a:p>
        </p:txBody>
      </p:sp>
      <p:sp>
        <p:nvSpPr>
          <p:cNvPr id="14" name="Text 12"/>
          <p:cNvSpPr/>
          <p:nvPr/>
        </p:nvSpPr>
        <p:spPr>
          <a:xfrm>
            <a:off x="1371600" y="2834640"/>
            <a:ext cx="2926080" cy="457200"/>
          </a:xfrm>
          <a:prstGeom prst="rect">
            <a:avLst/>
          </a:prstGeom>
          <a:noFill/>
          <a:ln/>
        </p:spPr>
        <p:txBody>
          <a:bodyPr wrap="square" lIns="0" tIns="0" rIns="0" bIns="0" rtlCol="0" anchor="t"/>
          <a:lstStyle/>
          <a:p>
            <a:pPr indent="0" marL="0">
              <a:buNone/>
            </a:pPr>
            <a:r>
              <a:rPr lang="en-US" sz="1900" b="1" dirty="0">
                <a:solidFill>
                  <a:srgbClr val="141413"/>
                </a:solidFill>
                <a:latin typeface="Avenir Next" pitchFamily="34" charset="0"/>
                <a:ea typeface="Avenir Next" pitchFamily="34" charset="-122"/>
                <a:cs typeface="Avenir Next" pitchFamily="34" charset="-120"/>
              </a:rPr>
              <a:t>Langfuse</a:t>
            </a:r>
            <a:endParaRPr lang="en-US" sz="1900" dirty="0"/>
          </a:p>
        </p:txBody>
      </p:sp>
      <p:sp>
        <p:nvSpPr>
          <p:cNvPr id="15" name="Text 13"/>
          <p:cNvSpPr/>
          <p:nvPr/>
        </p:nvSpPr>
        <p:spPr>
          <a:xfrm>
            <a:off x="4389120" y="2862072"/>
            <a:ext cx="5303520" cy="457200"/>
          </a:xfrm>
          <a:prstGeom prst="rect">
            <a:avLst/>
          </a:prstGeom>
          <a:noFill/>
          <a:ln/>
        </p:spPr>
        <p:txBody>
          <a:bodyPr wrap="square" lIns="0" tIns="0" rIns="0" bIns="0" rtlCol="0" anchor="t"/>
          <a:lstStyle/>
          <a:p>
            <a:pPr indent="0" marL="0">
              <a:buNone/>
            </a:pPr>
            <a:r>
              <a:rPr lang="en-US" sz="1600" dirty="0">
                <a:solidFill>
                  <a:srgbClr val="3D3D3A"/>
                </a:solidFill>
                <a:latin typeface="Avenir Next" pitchFamily="34" charset="0"/>
                <a:ea typeface="Avenir Next" pitchFamily="34" charset="-122"/>
                <a:cs typeface="Avenir Next" pitchFamily="34" charset="-120"/>
              </a:rPr>
              <a:t>Send your first trace to a real dashboard</a:t>
            </a:r>
            <a:endParaRPr lang="en-US" sz="1600" dirty="0"/>
          </a:p>
        </p:txBody>
      </p:sp>
      <p:sp>
        <p:nvSpPr>
          <p:cNvPr id="16" name="Text 14"/>
          <p:cNvSpPr/>
          <p:nvPr/>
        </p:nvSpPr>
        <p:spPr>
          <a:xfrm>
            <a:off x="9722815" y="2862072"/>
            <a:ext cx="1828800" cy="457200"/>
          </a:xfrm>
          <a:prstGeom prst="rect">
            <a:avLst/>
          </a:prstGeom>
          <a:noFill/>
          <a:ln/>
        </p:spPr>
        <p:txBody>
          <a:bodyPr wrap="square" lIns="0" tIns="0" rIns="0" bIns="0" rtlCol="0" anchor="t"/>
          <a:lstStyle/>
          <a:p>
            <a:pPr algn="r" indent="0" marL="0">
              <a:buNone/>
            </a:pPr>
            <a:r>
              <a:rPr lang="en-US" sz="1300" dirty="0">
                <a:solidFill>
                  <a:srgbClr val="87867F"/>
                </a:solidFill>
                <a:latin typeface="Avenir Next" pitchFamily="34" charset="0"/>
                <a:ea typeface="Avenir Next" pitchFamily="34" charset="-122"/>
                <a:cs typeface="Avenir Next" pitchFamily="34" charset="-120"/>
              </a:rPr>
              <a:t>Notebook 02</a:t>
            </a:r>
            <a:endParaRPr lang="en-US" sz="1300" dirty="0"/>
          </a:p>
        </p:txBody>
      </p:sp>
      <p:sp>
        <p:nvSpPr>
          <p:cNvPr id="17" name="Shape 15"/>
          <p:cNvSpPr/>
          <p:nvPr/>
        </p:nvSpPr>
        <p:spPr>
          <a:xfrm>
            <a:off x="640080" y="3639312"/>
            <a:ext cx="10911535" cy="0"/>
          </a:xfrm>
          <a:prstGeom prst="line">
            <a:avLst/>
          </a:prstGeom>
          <a:noFill/>
          <a:ln w="9525">
            <a:solidFill>
              <a:srgbClr val="D9D5C8"/>
            </a:solidFill>
            <a:prstDash val="solid"/>
          </a:ln>
        </p:spPr>
      </p:sp>
      <p:sp>
        <p:nvSpPr>
          <p:cNvPr id="18" name="Text 16"/>
          <p:cNvSpPr/>
          <p:nvPr/>
        </p:nvSpPr>
        <p:spPr>
          <a:xfrm>
            <a:off x="640080" y="3749040"/>
            <a:ext cx="548640" cy="640080"/>
          </a:xfrm>
          <a:prstGeom prst="rect">
            <a:avLst/>
          </a:prstGeom>
          <a:noFill/>
          <a:ln/>
        </p:spPr>
        <p:txBody>
          <a:bodyPr wrap="square" lIns="0" tIns="0" rIns="0" bIns="0" rtlCol="0" anchor="t"/>
          <a:lstStyle/>
          <a:p>
            <a:pPr indent="0" marL="0">
              <a:buNone/>
            </a:pPr>
            <a:r>
              <a:rPr lang="en-US" sz="3200" dirty="0">
                <a:solidFill>
                  <a:srgbClr val="D97757"/>
                </a:solidFill>
                <a:latin typeface="Charter" pitchFamily="34" charset="0"/>
                <a:ea typeface="Charter" pitchFamily="34" charset="-122"/>
                <a:cs typeface="Charter" pitchFamily="34" charset="-120"/>
              </a:rPr>
              <a:t>3</a:t>
            </a:r>
            <a:endParaRPr lang="en-US" sz="3200" dirty="0"/>
          </a:p>
        </p:txBody>
      </p:sp>
      <p:sp>
        <p:nvSpPr>
          <p:cNvPr id="19" name="Text 17"/>
          <p:cNvSpPr/>
          <p:nvPr/>
        </p:nvSpPr>
        <p:spPr>
          <a:xfrm>
            <a:off x="1371600" y="3794760"/>
            <a:ext cx="2926080" cy="457200"/>
          </a:xfrm>
          <a:prstGeom prst="rect">
            <a:avLst/>
          </a:prstGeom>
          <a:noFill/>
          <a:ln/>
        </p:spPr>
        <p:txBody>
          <a:bodyPr wrap="square" lIns="0" tIns="0" rIns="0" bIns="0" rtlCol="0" anchor="t"/>
          <a:lstStyle/>
          <a:p>
            <a:pPr indent="0" marL="0">
              <a:buNone/>
            </a:pPr>
            <a:r>
              <a:rPr lang="en-US" sz="1900" b="1" dirty="0">
                <a:solidFill>
                  <a:srgbClr val="141413"/>
                </a:solidFill>
                <a:latin typeface="Avenir Next" pitchFamily="34" charset="0"/>
                <a:ea typeface="Avenir Next" pitchFamily="34" charset="-122"/>
                <a:cs typeface="Avenir Next" pitchFamily="34" charset="-120"/>
              </a:rPr>
              <a:t>LangSmith</a:t>
            </a:r>
            <a:endParaRPr lang="en-US" sz="1900" dirty="0"/>
          </a:p>
        </p:txBody>
      </p:sp>
      <p:sp>
        <p:nvSpPr>
          <p:cNvPr id="20" name="Text 18"/>
          <p:cNvSpPr/>
          <p:nvPr/>
        </p:nvSpPr>
        <p:spPr>
          <a:xfrm>
            <a:off x="4389120" y="3822192"/>
            <a:ext cx="5303520" cy="457200"/>
          </a:xfrm>
          <a:prstGeom prst="rect">
            <a:avLst/>
          </a:prstGeom>
          <a:noFill/>
          <a:ln/>
        </p:spPr>
        <p:txBody>
          <a:bodyPr wrap="square" lIns="0" tIns="0" rIns="0" bIns="0" rtlCol="0" anchor="t"/>
          <a:lstStyle/>
          <a:p>
            <a:pPr indent="0" marL="0">
              <a:buNone/>
            </a:pPr>
            <a:r>
              <a:rPr lang="en-US" sz="1600" dirty="0">
                <a:solidFill>
                  <a:srgbClr val="3D3D3A"/>
                </a:solidFill>
                <a:latin typeface="Avenir Next" pitchFamily="34" charset="0"/>
                <a:ea typeface="Avenir Next" pitchFamily="34" charset="-122"/>
                <a:cs typeface="Avenir Next" pitchFamily="34" charset="-120"/>
              </a:rPr>
              <a:t>The same example in a second tool</a:t>
            </a:r>
            <a:endParaRPr lang="en-US" sz="1600" dirty="0"/>
          </a:p>
        </p:txBody>
      </p:sp>
      <p:sp>
        <p:nvSpPr>
          <p:cNvPr id="21" name="Text 19"/>
          <p:cNvSpPr/>
          <p:nvPr/>
        </p:nvSpPr>
        <p:spPr>
          <a:xfrm>
            <a:off x="9722815" y="3822192"/>
            <a:ext cx="1828800" cy="457200"/>
          </a:xfrm>
          <a:prstGeom prst="rect">
            <a:avLst/>
          </a:prstGeom>
          <a:noFill/>
          <a:ln/>
        </p:spPr>
        <p:txBody>
          <a:bodyPr wrap="square" lIns="0" tIns="0" rIns="0" bIns="0" rtlCol="0" anchor="t"/>
          <a:lstStyle/>
          <a:p>
            <a:pPr algn="r" indent="0" marL="0">
              <a:buNone/>
            </a:pPr>
            <a:r>
              <a:rPr lang="en-US" sz="1300" dirty="0">
                <a:solidFill>
                  <a:srgbClr val="87867F"/>
                </a:solidFill>
                <a:latin typeface="Avenir Next" pitchFamily="34" charset="0"/>
                <a:ea typeface="Avenir Next" pitchFamily="34" charset="-122"/>
                <a:cs typeface="Avenir Next" pitchFamily="34" charset="-120"/>
              </a:rPr>
              <a:t>Notebook 03</a:t>
            </a:r>
            <a:endParaRPr lang="en-US" sz="1300" dirty="0"/>
          </a:p>
        </p:txBody>
      </p:sp>
      <p:sp>
        <p:nvSpPr>
          <p:cNvPr id="22" name="Shape 20"/>
          <p:cNvSpPr/>
          <p:nvPr/>
        </p:nvSpPr>
        <p:spPr>
          <a:xfrm>
            <a:off x="640080" y="4599432"/>
            <a:ext cx="10911535" cy="0"/>
          </a:xfrm>
          <a:prstGeom prst="line">
            <a:avLst/>
          </a:prstGeom>
          <a:noFill/>
          <a:ln w="9525">
            <a:solidFill>
              <a:srgbClr val="D9D5C8"/>
            </a:solidFill>
            <a:prstDash val="solid"/>
          </a:ln>
        </p:spPr>
      </p:sp>
      <p:sp>
        <p:nvSpPr>
          <p:cNvPr id="23" name="Text 21"/>
          <p:cNvSpPr/>
          <p:nvPr/>
        </p:nvSpPr>
        <p:spPr>
          <a:xfrm>
            <a:off x="640080" y="4709160"/>
            <a:ext cx="548640" cy="640080"/>
          </a:xfrm>
          <a:prstGeom prst="rect">
            <a:avLst/>
          </a:prstGeom>
          <a:noFill/>
          <a:ln/>
        </p:spPr>
        <p:txBody>
          <a:bodyPr wrap="square" lIns="0" tIns="0" rIns="0" bIns="0" rtlCol="0" anchor="t"/>
          <a:lstStyle/>
          <a:p>
            <a:pPr indent="0" marL="0">
              <a:buNone/>
            </a:pPr>
            <a:r>
              <a:rPr lang="en-US" sz="3200" dirty="0">
                <a:solidFill>
                  <a:srgbClr val="D97757"/>
                </a:solidFill>
                <a:latin typeface="Charter" pitchFamily="34" charset="0"/>
                <a:ea typeface="Charter" pitchFamily="34" charset="-122"/>
                <a:cs typeface="Charter" pitchFamily="34" charset="-120"/>
              </a:rPr>
              <a:t>4</a:t>
            </a:r>
            <a:endParaRPr lang="en-US" sz="3200" dirty="0"/>
          </a:p>
        </p:txBody>
      </p:sp>
      <p:sp>
        <p:nvSpPr>
          <p:cNvPr id="24" name="Text 22"/>
          <p:cNvSpPr/>
          <p:nvPr/>
        </p:nvSpPr>
        <p:spPr>
          <a:xfrm>
            <a:off x="1371600" y="4754880"/>
            <a:ext cx="2926080" cy="457200"/>
          </a:xfrm>
          <a:prstGeom prst="rect">
            <a:avLst/>
          </a:prstGeom>
          <a:noFill/>
          <a:ln/>
        </p:spPr>
        <p:txBody>
          <a:bodyPr wrap="square" lIns="0" tIns="0" rIns="0" bIns="0" rtlCol="0" anchor="t"/>
          <a:lstStyle/>
          <a:p>
            <a:pPr indent="0" marL="0">
              <a:buNone/>
            </a:pPr>
            <a:r>
              <a:rPr lang="en-US" sz="1900" b="1" dirty="0">
                <a:solidFill>
                  <a:srgbClr val="141413"/>
                </a:solidFill>
                <a:latin typeface="Avenir Next" pitchFamily="34" charset="0"/>
                <a:ea typeface="Avenir Next" pitchFamily="34" charset="-122"/>
                <a:cs typeface="Avenir Next" pitchFamily="34" charset="-120"/>
              </a:rPr>
              <a:t>Other tools</a:t>
            </a:r>
            <a:endParaRPr lang="en-US" sz="1900" dirty="0"/>
          </a:p>
        </p:txBody>
      </p:sp>
      <p:sp>
        <p:nvSpPr>
          <p:cNvPr id="25" name="Text 23"/>
          <p:cNvSpPr/>
          <p:nvPr/>
        </p:nvSpPr>
        <p:spPr>
          <a:xfrm>
            <a:off x="4389120" y="4782312"/>
            <a:ext cx="5303520" cy="457200"/>
          </a:xfrm>
          <a:prstGeom prst="rect">
            <a:avLst/>
          </a:prstGeom>
          <a:noFill/>
          <a:ln/>
        </p:spPr>
        <p:txBody>
          <a:bodyPr wrap="square" lIns="0" tIns="0" rIns="0" bIns="0" rtlCol="0" anchor="t"/>
          <a:lstStyle/>
          <a:p>
            <a:pPr indent="0" marL="0">
              <a:buNone/>
            </a:pPr>
            <a:r>
              <a:rPr lang="en-US" sz="1600" dirty="0">
                <a:solidFill>
                  <a:srgbClr val="3D3D3A"/>
                </a:solidFill>
                <a:latin typeface="Avenir Next" pitchFamily="34" charset="0"/>
                <a:ea typeface="Avenir Next" pitchFamily="34" charset="-122"/>
                <a:cs typeface="Avenir Next" pitchFamily="34" charset="-120"/>
              </a:rPr>
              <a:t>OpenTelemetry, Datadog, Dynatrace, and how to choose</a:t>
            </a:r>
            <a:endParaRPr lang="en-US" sz="1600" dirty="0"/>
          </a:p>
        </p:txBody>
      </p:sp>
      <p:sp>
        <p:nvSpPr>
          <p:cNvPr id="26" name="Text 24"/>
          <p:cNvSpPr/>
          <p:nvPr/>
        </p:nvSpPr>
        <p:spPr>
          <a:xfrm>
            <a:off x="9722815" y="4782312"/>
            <a:ext cx="1828800" cy="457200"/>
          </a:xfrm>
          <a:prstGeom prst="rect">
            <a:avLst/>
          </a:prstGeom>
          <a:noFill/>
          <a:ln/>
        </p:spPr>
        <p:txBody>
          <a:bodyPr wrap="square" lIns="0" tIns="0" rIns="0" bIns="0" rtlCol="0" anchor="t"/>
          <a:lstStyle/>
          <a:p>
            <a:pPr algn="r" indent="0" marL="0">
              <a:buNone/>
            </a:pPr>
            <a:r>
              <a:rPr lang="en-US" sz="1300" dirty="0">
                <a:solidFill>
                  <a:srgbClr val="87867F"/>
                </a:solidFill>
                <a:latin typeface="Avenir Next" pitchFamily="34" charset="0"/>
                <a:ea typeface="Avenir Next" pitchFamily="34" charset="-122"/>
                <a:cs typeface="Avenir Next" pitchFamily="34" charset="-120"/>
              </a:rPr>
              <a:t>Notebook 04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Warm-up</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4</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i="1" dirty="0">
                <a:solidFill>
                  <a:srgbClr val="D97757"/>
                </a:solidFill>
                <a:latin typeface="Charter" pitchFamily="34" charset="0"/>
                <a:ea typeface="Charter" pitchFamily="34" charset="-122"/>
                <a:cs typeface="Charter" pitchFamily="34" charset="-120"/>
              </a:rPr>
              <a:t>Four-minute</a:t>
            </a:r>
            <a:pPr indent="0" marL="0">
              <a:buNone/>
            </a:pPr>
            <a:r>
              <a:rPr lang="en-US" sz="2800" dirty="0">
                <a:solidFill>
                  <a:srgbClr val="141413"/>
                </a:solidFill>
                <a:latin typeface="Charter" pitchFamily="34" charset="0"/>
                <a:ea typeface="Charter" pitchFamily="34" charset="-122"/>
                <a:cs typeface="Charter" pitchFamily="34" charset="-120"/>
              </a:rPr>
              <a:t> overview</a:t>
            </a:r>
            <a:endParaRPr lang="en-US" sz="28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889608" y="1417320"/>
            <a:ext cx="8412480" cy="47320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8168335" y="0"/>
            <a:ext cx="4023360" cy="6858000"/>
          </a:xfrm>
          <a:prstGeom prst="rect">
            <a:avLst/>
          </a:prstGeom>
          <a:solidFill>
            <a:srgbClr val="D97757"/>
          </a:solidFill>
          <a:ln w="12700">
            <a:solidFill>
              <a:srgbClr val="D97757"/>
            </a:solidFill>
            <a:prstDash val="solid"/>
          </a:ln>
        </p:spPr>
      </p:sp>
      <p:sp>
        <p:nvSpPr>
          <p:cNvPr id="3" name="Text 1"/>
          <p:cNvSpPr/>
          <p:nvPr/>
        </p:nvSpPr>
        <p:spPr>
          <a:xfrm>
            <a:off x="8168335" y="1463040"/>
            <a:ext cx="4023360" cy="3840480"/>
          </a:xfrm>
          <a:prstGeom prst="rect">
            <a:avLst/>
          </a:prstGeom>
          <a:noFill/>
          <a:ln/>
        </p:spPr>
        <p:txBody>
          <a:bodyPr wrap="square" lIns="0" tIns="0" rIns="0" bIns="0" rtlCol="0" anchor="ctr"/>
          <a:lstStyle/>
          <a:p>
            <a:pPr algn="ctr" indent="0" marL="0">
              <a:buNone/>
            </a:pPr>
            <a:r>
              <a:rPr lang="en-US" sz="24000" dirty="0">
                <a:solidFill>
                  <a:srgbClr val="141413"/>
                </a:solidFill>
                <a:latin typeface="Charter" pitchFamily="34" charset="0"/>
                <a:ea typeface="Charter" pitchFamily="34" charset="-122"/>
                <a:cs typeface="Charter" pitchFamily="34" charset="-120"/>
              </a:rPr>
              <a:t>1</a:t>
            </a:r>
            <a:endParaRPr lang="en-US" sz="24000" dirty="0"/>
          </a:p>
        </p:txBody>
      </p:sp>
      <p:sp>
        <p:nvSpPr>
          <p:cNvPr id="4" name="Text 2"/>
          <p:cNvSpPr/>
          <p:nvPr/>
        </p:nvSpPr>
        <p:spPr>
          <a:xfrm>
            <a:off x="640080" y="2148840"/>
            <a:ext cx="6400800" cy="365760"/>
          </a:xfrm>
          <a:prstGeom prst="rect">
            <a:avLst/>
          </a:prstGeom>
          <a:noFill/>
          <a:ln/>
        </p:spPr>
        <p:txBody>
          <a:bodyPr wrap="square" lIns="0" tIns="0" rIns="0" bIns="0" rtlCol="0" anchor="ctr"/>
          <a:lstStyle/>
          <a:p>
            <a:pPr indent="0" marL="0">
              <a:buNone/>
            </a:pPr>
            <a:r>
              <a:rPr lang="en-US" sz="1400" b="1" spc="200" kern="0" dirty="0">
                <a:solidFill>
                  <a:srgbClr val="D97757"/>
                </a:solidFill>
                <a:latin typeface="Avenir Next" pitchFamily="34" charset="0"/>
                <a:ea typeface="Avenir Next" pitchFamily="34" charset="-122"/>
                <a:cs typeface="Avenir Next" pitchFamily="34" charset="-120"/>
              </a:rPr>
              <a:t>Part 1</a:t>
            </a:r>
            <a:endParaRPr lang="en-US" sz="1400" dirty="0"/>
          </a:p>
        </p:txBody>
      </p:sp>
      <p:sp>
        <p:nvSpPr>
          <p:cNvPr id="5" name="Text 3"/>
          <p:cNvSpPr/>
          <p:nvPr/>
        </p:nvSpPr>
        <p:spPr>
          <a:xfrm>
            <a:off x="640080" y="2606040"/>
            <a:ext cx="7132320" cy="1005840"/>
          </a:xfrm>
          <a:prstGeom prst="rect">
            <a:avLst/>
          </a:prstGeom>
          <a:noFill/>
          <a:ln/>
        </p:spPr>
        <p:txBody>
          <a:bodyPr wrap="square" lIns="0" tIns="0" rIns="0" bIns="0" rtlCol="0" anchor="ctr"/>
          <a:lstStyle/>
          <a:p>
            <a:pPr indent="0" marL="0">
              <a:buNone/>
            </a:pPr>
            <a:r>
              <a:rPr lang="en-US" sz="5200" dirty="0">
                <a:solidFill>
                  <a:srgbClr val="F0EEE6"/>
                </a:solidFill>
                <a:latin typeface="Charter" pitchFamily="34" charset="0"/>
                <a:ea typeface="Charter" pitchFamily="34" charset="-122"/>
                <a:cs typeface="Charter" pitchFamily="34" charset="-120"/>
              </a:rPr>
              <a:t>The basics</a:t>
            </a:r>
            <a:endParaRPr lang="en-US" sz="5200" dirty="0"/>
          </a:p>
        </p:txBody>
      </p:sp>
      <p:sp>
        <p:nvSpPr>
          <p:cNvPr id="6" name="Text 4"/>
          <p:cNvSpPr/>
          <p:nvPr/>
        </p:nvSpPr>
        <p:spPr>
          <a:xfrm>
            <a:off x="640080" y="3749040"/>
            <a:ext cx="6766560" cy="822960"/>
          </a:xfrm>
          <a:prstGeom prst="rect">
            <a:avLst/>
          </a:prstGeom>
          <a:noFill/>
          <a:ln/>
        </p:spPr>
        <p:txBody>
          <a:bodyPr wrap="square" lIns="0" tIns="0" rIns="0" bIns="0" rtlCol="0" anchor="t"/>
          <a:lstStyle/>
          <a:p>
            <a:pPr indent="0" marL="0">
              <a:buNone/>
            </a:pPr>
            <a:r>
              <a:rPr lang="en-US" sz="1800" dirty="0">
                <a:solidFill>
                  <a:srgbClr val="C9C6BC"/>
                </a:solidFill>
                <a:latin typeface="Avenir Next" pitchFamily="34" charset="0"/>
                <a:ea typeface="Avenir Next" pitchFamily="34" charset="-122"/>
                <a:cs typeface="Avenir Next" pitchFamily="34" charset="-120"/>
              </a:rPr>
              <a:t>What observability means, and the four kinds of information an app can leave behind.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6</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Monitoring tells you something is wrong; </a:t>
            </a:r>
            <a:pPr indent="0" marL="0">
              <a:buNone/>
            </a:pPr>
            <a:r>
              <a:rPr lang="en-US" sz="2800" i="1" dirty="0">
                <a:solidFill>
                  <a:srgbClr val="D97757"/>
                </a:solidFill>
                <a:latin typeface="Charter" pitchFamily="34" charset="0"/>
                <a:ea typeface="Charter" pitchFamily="34" charset="-122"/>
                <a:cs typeface="Charter" pitchFamily="34" charset="-120"/>
              </a:rPr>
              <a:t>observability tells you why</a:t>
            </a:r>
            <a:endParaRPr lang="en-US" sz="2800" dirty="0"/>
          </a:p>
        </p:txBody>
      </p:sp>
      <p:sp>
        <p:nvSpPr>
          <p:cNvPr id="7" name="Shape 5"/>
          <p:cNvSpPr/>
          <p:nvPr/>
        </p:nvSpPr>
        <p:spPr>
          <a:xfrm>
            <a:off x="640080" y="1828800"/>
            <a:ext cx="5303520" cy="3657600"/>
          </a:xfrm>
          <a:prstGeom prst="rect">
            <a:avLst/>
          </a:prstGeom>
          <a:solidFill>
            <a:srgbClr val="FAF9F5"/>
          </a:solidFill>
          <a:ln w="9525">
            <a:solidFill>
              <a:srgbClr val="D9D5C8"/>
            </a:solidFill>
            <a:prstDash val="solid"/>
          </a:ln>
        </p:spPr>
      </p:sp>
      <p:sp>
        <p:nvSpPr>
          <p:cNvPr id="8" name="Text 6"/>
          <p:cNvSpPr/>
          <p:nvPr/>
        </p:nvSpPr>
        <p:spPr>
          <a:xfrm>
            <a:off x="1005840" y="2103120"/>
            <a:ext cx="3657600" cy="274320"/>
          </a:xfrm>
          <a:prstGeom prst="rect">
            <a:avLst/>
          </a:prstGeom>
          <a:noFill/>
          <a:ln/>
        </p:spPr>
        <p:txBody>
          <a:bodyPr wrap="square" lIns="0" tIns="0" rIns="0" bIns="0" rtlCol="0" anchor="t"/>
          <a:lstStyle/>
          <a:p>
            <a:pPr indent="0" marL="0">
              <a:buNone/>
            </a:pPr>
            <a:r>
              <a:rPr lang="en-US" sz="1300" b="1" dirty="0">
                <a:solidFill>
                  <a:srgbClr val="87867F"/>
                </a:solidFill>
                <a:latin typeface="Avenir Next" pitchFamily="34" charset="0"/>
                <a:ea typeface="Avenir Next" pitchFamily="34" charset="-122"/>
                <a:cs typeface="Avenir Next" pitchFamily="34" charset="-120"/>
              </a:rPr>
              <a:t>Monitoring</a:t>
            </a:r>
            <a:endParaRPr lang="en-US" sz="1300" dirty="0"/>
          </a:p>
        </p:txBody>
      </p:sp>
      <p:sp>
        <p:nvSpPr>
          <p:cNvPr id="9" name="Text 7"/>
          <p:cNvSpPr/>
          <p:nvPr/>
        </p:nvSpPr>
        <p:spPr>
          <a:xfrm>
            <a:off x="1005840" y="2468880"/>
            <a:ext cx="4572000" cy="640080"/>
          </a:xfrm>
          <a:prstGeom prst="rect">
            <a:avLst/>
          </a:prstGeom>
          <a:noFill/>
          <a:ln/>
        </p:spPr>
        <p:txBody>
          <a:bodyPr wrap="square" lIns="0" tIns="0" rIns="0" bIns="0" rtlCol="0" anchor="t"/>
          <a:lstStyle/>
          <a:p>
            <a:pPr indent="0" marL="0">
              <a:buNone/>
            </a:pPr>
            <a:r>
              <a:rPr lang="en-US" sz="2800" b="1" dirty="0">
                <a:solidFill>
                  <a:srgbClr val="141413"/>
                </a:solidFill>
                <a:latin typeface="Avenir Next" pitchFamily="34" charset="0"/>
                <a:ea typeface="Avenir Next" pitchFamily="34" charset="-122"/>
                <a:cs typeface="Avenir Next" pitchFamily="34" charset="-120"/>
              </a:rPr>
              <a:t>Is it broken?</a:t>
            </a:r>
            <a:endParaRPr lang="en-US" sz="2800" dirty="0"/>
          </a:p>
        </p:txBody>
      </p:sp>
      <p:sp>
        <p:nvSpPr>
          <p:cNvPr id="10" name="Text 8"/>
          <p:cNvSpPr/>
          <p:nvPr/>
        </p:nvSpPr>
        <p:spPr>
          <a:xfrm>
            <a:off x="1005840" y="3337560"/>
            <a:ext cx="4572000" cy="19202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3D3D3A"/>
                </a:solidFill>
                <a:latin typeface="Avenir Next" pitchFamily="34" charset="0"/>
                <a:ea typeface="Avenir Next" pitchFamily="34" charset="-122"/>
                <a:cs typeface="Avenir Next" pitchFamily="34" charset="-120"/>
              </a:rPr>
              <a:t>Questions decided in advance</a:t>
            </a:r>
            <a:endParaRPr lang="en-US" sz="1600" dirty="0"/>
          </a:p>
          <a:p>
            <a:pPr marL="203200" indent="-203200">
              <a:spcAft>
                <a:spcPts val="800"/>
              </a:spcAft>
              <a:buSzPct val="100000"/>
              <a:buChar char="•"/>
            </a:pPr>
            <a:r>
              <a:rPr lang="en-US" sz="1600" dirty="0">
                <a:solidFill>
                  <a:srgbClr val="3D3D3A"/>
                </a:solidFill>
                <a:latin typeface="Avenir Next" pitchFamily="34" charset="0"/>
                <a:ea typeface="Avenir Next" pitchFamily="34" charset="-122"/>
                <a:cs typeface="Avenir Next" pitchFamily="34" charset="-120"/>
              </a:rPr>
              <a:t>Dashboards and alerts</a:t>
            </a:r>
            <a:endParaRPr lang="en-US" sz="1600" dirty="0"/>
          </a:p>
          <a:p>
            <a:pPr marL="203200" indent="-203200">
              <a:spcAft>
                <a:spcPts val="800"/>
              </a:spcAft>
              <a:buSzPct val="100000"/>
              <a:buChar char="•"/>
            </a:pPr>
            <a:r>
              <a:rPr lang="en-US" sz="1600" dirty="0">
                <a:solidFill>
                  <a:srgbClr val="3D3D3A"/>
                </a:solidFill>
                <a:latin typeface="Avenir Next" pitchFamily="34" charset="0"/>
                <a:ea typeface="Avenir Next" pitchFamily="34" charset="-122"/>
                <a:cs typeface="Avenir Next" pitchFamily="34" charset="-120"/>
              </a:rPr>
              <a:t>Catches problems you expected</a:t>
            </a:r>
            <a:endParaRPr lang="en-US" sz="1600" dirty="0"/>
          </a:p>
        </p:txBody>
      </p:sp>
      <p:sp>
        <p:nvSpPr>
          <p:cNvPr id="11" name="Shape 9"/>
          <p:cNvSpPr/>
          <p:nvPr/>
        </p:nvSpPr>
        <p:spPr>
          <a:xfrm>
            <a:off x="6172200" y="1828800"/>
            <a:ext cx="5303520" cy="3657600"/>
          </a:xfrm>
          <a:prstGeom prst="rect">
            <a:avLst/>
          </a:prstGeom>
          <a:solidFill>
            <a:srgbClr val="FAF9F5"/>
          </a:solidFill>
          <a:ln w="9525">
            <a:solidFill>
              <a:srgbClr val="D9D5C8"/>
            </a:solidFill>
            <a:prstDash val="solid"/>
          </a:ln>
        </p:spPr>
      </p:sp>
      <p:sp>
        <p:nvSpPr>
          <p:cNvPr id="12" name="Text 10"/>
          <p:cNvSpPr/>
          <p:nvPr/>
        </p:nvSpPr>
        <p:spPr>
          <a:xfrm>
            <a:off x="6537960" y="2103120"/>
            <a:ext cx="3657600" cy="274320"/>
          </a:xfrm>
          <a:prstGeom prst="rect">
            <a:avLst/>
          </a:prstGeom>
          <a:noFill/>
          <a:ln/>
        </p:spPr>
        <p:txBody>
          <a:bodyPr wrap="square" lIns="0" tIns="0" rIns="0" bIns="0" rtlCol="0" anchor="t"/>
          <a:lstStyle/>
          <a:p>
            <a:pPr indent="0" marL="0">
              <a:buNone/>
            </a:pPr>
            <a:r>
              <a:rPr lang="en-US" sz="1300" b="1" dirty="0">
                <a:solidFill>
                  <a:srgbClr val="D97757"/>
                </a:solidFill>
                <a:latin typeface="Avenir Next" pitchFamily="34" charset="0"/>
                <a:ea typeface="Avenir Next" pitchFamily="34" charset="-122"/>
                <a:cs typeface="Avenir Next" pitchFamily="34" charset="-120"/>
              </a:rPr>
              <a:t>Observability</a:t>
            </a:r>
            <a:endParaRPr lang="en-US" sz="1300" dirty="0"/>
          </a:p>
        </p:txBody>
      </p:sp>
      <p:sp>
        <p:nvSpPr>
          <p:cNvPr id="13" name="Text 11"/>
          <p:cNvSpPr/>
          <p:nvPr/>
        </p:nvSpPr>
        <p:spPr>
          <a:xfrm>
            <a:off x="6537960" y="2468880"/>
            <a:ext cx="4572000" cy="640080"/>
          </a:xfrm>
          <a:prstGeom prst="rect">
            <a:avLst/>
          </a:prstGeom>
          <a:noFill/>
          <a:ln/>
        </p:spPr>
        <p:txBody>
          <a:bodyPr wrap="square" lIns="0" tIns="0" rIns="0" bIns="0" rtlCol="0" anchor="t"/>
          <a:lstStyle/>
          <a:p>
            <a:pPr indent="0" marL="0">
              <a:buNone/>
            </a:pPr>
            <a:r>
              <a:rPr lang="en-US" sz="2800" b="1" dirty="0">
                <a:solidFill>
                  <a:srgbClr val="141413"/>
                </a:solidFill>
                <a:latin typeface="Avenir Next" pitchFamily="34" charset="0"/>
                <a:ea typeface="Avenir Next" pitchFamily="34" charset="-122"/>
                <a:cs typeface="Avenir Next" pitchFamily="34" charset="-120"/>
              </a:rPr>
              <a:t>Why is it broken?</a:t>
            </a:r>
            <a:endParaRPr lang="en-US" sz="2800" dirty="0"/>
          </a:p>
        </p:txBody>
      </p:sp>
      <p:sp>
        <p:nvSpPr>
          <p:cNvPr id="14" name="Text 12"/>
          <p:cNvSpPr/>
          <p:nvPr/>
        </p:nvSpPr>
        <p:spPr>
          <a:xfrm>
            <a:off x="6537960" y="3337560"/>
            <a:ext cx="4572000" cy="19202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3D3D3A"/>
                </a:solidFill>
                <a:latin typeface="Avenir Next" pitchFamily="34" charset="0"/>
                <a:ea typeface="Avenir Next" pitchFamily="34" charset="-122"/>
                <a:cs typeface="Avenir Next" pitchFamily="34" charset="-120"/>
              </a:rPr>
              <a:t>Questions you ask afterwards</a:t>
            </a:r>
            <a:endParaRPr lang="en-US" sz="1600" dirty="0"/>
          </a:p>
          <a:p>
            <a:pPr marL="203200" indent="-203200">
              <a:spcAft>
                <a:spcPts val="800"/>
              </a:spcAft>
              <a:buSzPct val="100000"/>
              <a:buChar char="•"/>
            </a:pPr>
            <a:r>
              <a:rPr lang="en-US" sz="1600" dirty="0">
                <a:solidFill>
                  <a:srgbClr val="3D3D3A"/>
                </a:solidFill>
                <a:latin typeface="Avenir Next" pitchFamily="34" charset="0"/>
                <a:ea typeface="Avenir Next" pitchFamily="34" charset="-122"/>
                <a:cs typeface="Avenir Next" pitchFamily="34" charset="-120"/>
              </a:rPr>
              <a:t>Answered from data the app leaves behind</a:t>
            </a:r>
            <a:endParaRPr lang="en-US" sz="1600" dirty="0"/>
          </a:p>
          <a:p>
            <a:pPr marL="203200" indent="-203200">
              <a:spcAft>
                <a:spcPts val="800"/>
              </a:spcAft>
              <a:buSzPct val="100000"/>
              <a:buChar char="•"/>
            </a:pPr>
            <a:r>
              <a:rPr lang="en-US" sz="1600" dirty="0">
                <a:solidFill>
                  <a:srgbClr val="3D3D3A"/>
                </a:solidFill>
                <a:latin typeface="Avenir Next" pitchFamily="34" charset="0"/>
                <a:ea typeface="Avenir Next" pitchFamily="34" charset="-122"/>
                <a:cs typeface="Avenir Next" pitchFamily="34" charset="-120"/>
              </a:rPr>
              <a:t>Explains problems you did not expect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7</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AI apps break the old rules, so </a:t>
            </a:r>
            <a:pPr indent="0" marL="0">
              <a:buNone/>
            </a:pPr>
            <a:r>
              <a:rPr lang="en-US" sz="2800" i="1" dirty="0">
                <a:solidFill>
                  <a:srgbClr val="D97757"/>
                </a:solidFill>
                <a:latin typeface="Charter" pitchFamily="34" charset="0"/>
                <a:ea typeface="Charter" pitchFamily="34" charset="-122"/>
                <a:cs typeface="Charter" pitchFamily="34" charset="-120"/>
              </a:rPr>
              <a:t>a green dashboard is not enough</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2651760"/>
                <a:gridCol w="4114800"/>
                <a:gridCol w="4142232"/>
              </a:tblGrid>
              <a:tr h="566928">
                <a:tc>
                  <a:txBody>
                    <a:bodyPr/>
                    <a:lstStyle/>
                    <a:p>
                      <a:pPr indent="0" marL="0">
                        <a:buNone/>
                      </a:pP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Traditional app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AI app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Same input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Same output every time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A different answer each time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When it fails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An error message, a crash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A confident wrong answer, no error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Cost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Fixed server cost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Every request costs money (tokens)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Where the logic lives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In the code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In prompts, the model and its tools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Speed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Milliseconds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Seconds, and it varies a lot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F8D86"/>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F8D86"/>
                </a:solidFill>
                <a:latin typeface="Avenir Next" pitchFamily="34" charset="0"/>
                <a:ea typeface="Avenir Next" pitchFamily="34" charset="-122"/>
                <a:cs typeface="Avenir Next" pitchFamily="34" charset="-120"/>
              </a:rPr>
              <a:t>8</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F0EEE6"/>
                </a:solidFill>
                <a:latin typeface="Charter" pitchFamily="34" charset="0"/>
                <a:ea typeface="Charter" pitchFamily="34" charset="-122"/>
                <a:cs typeface="Charter" pitchFamily="34" charset="-120"/>
              </a:rPr>
              <a:t>You already use observability every time you </a:t>
            </a:r>
            <a:pPr indent="0" marL="0">
              <a:buNone/>
            </a:pPr>
            <a:r>
              <a:rPr lang="en-US" sz="2800" i="1" dirty="0">
                <a:solidFill>
                  <a:srgbClr val="D97757"/>
                </a:solidFill>
                <a:latin typeface="Charter" pitchFamily="34" charset="0"/>
                <a:ea typeface="Charter" pitchFamily="34" charset="-122"/>
                <a:cs typeface="Charter" pitchFamily="34" charset="-120"/>
              </a:rPr>
              <a:t>track a parcel</a:t>
            </a:r>
            <a:endParaRPr lang="en-US" sz="2800" dirty="0"/>
          </a:p>
        </p:txBody>
      </p:sp>
      <p:sp>
        <p:nvSpPr>
          <p:cNvPr id="7" name="Text 5"/>
          <p:cNvSpPr/>
          <p:nvPr/>
        </p:nvSpPr>
        <p:spPr>
          <a:xfrm>
            <a:off x="914400" y="1783080"/>
            <a:ext cx="1828800" cy="274320"/>
          </a:xfrm>
          <a:prstGeom prst="rect">
            <a:avLst/>
          </a:prstGeom>
          <a:noFill/>
          <a:ln/>
        </p:spPr>
        <p:txBody>
          <a:bodyPr wrap="square" lIns="0" tIns="0" rIns="0" bIns="0" rtlCol="0" anchor="t"/>
          <a:lstStyle/>
          <a:p>
            <a:pPr indent="0" marL="0">
              <a:buNone/>
            </a:pPr>
            <a:r>
              <a:rPr lang="en-US" sz="1100" dirty="0">
                <a:solidFill>
                  <a:srgbClr val="8F8D86"/>
                </a:solidFill>
                <a:latin typeface="Avenir Next" pitchFamily="34" charset="0"/>
                <a:ea typeface="Avenir Next" pitchFamily="34" charset="-122"/>
                <a:cs typeface="Avenir Next" pitchFamily="34" charset="-120"/>
              </a:rPr>
              <a:t>Software word</a:t>
            </a:r>
            <a:endParaRPr lang="en-US" sz="1100" dirty="0"/>
          </a:p>
        </p:txBody>
      </p:sp>
      <p:sp>
        <p:nvSpPr>
          <p:cNvPr id="8" name="Text 6"/>
          <p:cNvSpPr/>
          <p:nvPr/>
        </p:nvSpPr>
        <p:spPr>
          <a:xfrm>
            <a:off x="2651760" y="1783080"/>
            <a:ext cx="3657600" cy="274320"/>
          </a:xfrm>
          <a:prstGeom prst="rect">
            <a:avLst/>
          </a:prstGeom>
          <a:noFill/>
          <a:ln/>
        </p:spPr>
        <p:txBody>
          <a:bodyPr wrap="square" lIns="0" tIns="0" rIns="0" bIns="0" rtlCol="0" anchor="t"/>
          <a:lstStyle/>
          <a:p>
            <a:pPr indent="0" marL="0">
              <a:buNone/>
            </a:pPr>
            <a:r>
              <a:rPr lang="en-US" sz="1100" dirty="0">
                <a:solidFill>
                  <a:srgbClr val="8F8D86"/>
                </a:solidFill>
                <a:latin typeface="Avenir Next" pitchFamily="34" charset="0"/>
                <a:ea typeface="Avenir Next" pitchFamily="34" charset="-122"/>
                <a:cs typeface="Avenir Next" pitchFamily="34" charset="-120"/>
              </a:rPr>
              <a:t>Parcel example</a:t>
            </a:r>
            <a:endParaRPr lang="en-US" sz="1100" dirty="0"/>
          </a:p>
        </p:txBody>
      </p:sp>
      <p:sp>
        <p:nvSpPr>
          <p:cNvPr id="9" name="Text 7"/>
          <p:cNvSpPr/>
          <p:nvPr/>
        </p:nvSpPr>
        <p:spPr>
          <a:xfrm>
            <a:off x="7406640" y="1783080"/>
            <a:ext cx="3657600" cy="274320"/>
          </a:xfrm>
          <a:prstGeom prst="rect">
            <a:avLst/>
          </a:prstGeom>
          <a:noFill/>
          <a:ln/>
        </p:spPr>
        <p:txBody>
          <a:bodyPr wrap="square" lIns="0" tIns="0" rIns="0" bIns="0" rtlCol="0" anchor="t"/>
          <a:lstStyle/>
          <a:p>
            <a:pPr indent="0" marL="0">
              <a:buNone/>
            </a:pPr>
            <a:r>
              <a:rPr lang="en-US" sz="1100" dirty="0">
                <a:solidFill>
                  <a:srgbClr val="8F8D86"/>
                </a:solidFill>
                <a:latin typeface="Avenir Next" pitchFamily="34" charset="0"/>
                <a:ea typeface="Avenir Next" pitchFamily="34" charset="-122"/>
                <a:cs typeface="Avenir Next" pitchFamily="34" charset="-120"/>
              </a:rPr>
              <a:t>What it means</a:t>
            </a:r>
            <a:endParaRPr lang="en-US" sz="1100" dirty="0"/>
          </a:p>
        </p:txBody>
      </p:sp>
      <p:sp>
        <p:nvSpPr>
          <p:cNvPr id="10" name="Shape 8"/>
          <p:cNvSpPr/>
          <p:nvPr/>
        </p:nvSpPr>
        <p:spPr>
          <a:xfrm>
            <a:off x="640080" y="2148840"/>
            <a:ext cx="10911535" cy="749808"/>
          </a:xfrm>
          <a:prstGeom prst="rect">
            <a:avLst/>
          </a:prstGeom>
          <a:solidFill>
            <a:srgbClr val="262624"/>
          </a:solidFill>
          <a:ln w="9525">
            <a:solidFill>
              <a:srgbClr val="3A3936"/>
            </a:solidFill>
            <a:prstDash val="solid"/>
          </a:ln>
        </p:spPr>
      </p:sp>
      <p:sp>
        <p:nvSpPr>
          <p:cNvPr id="11" name="Text 9"/>
          <p:cNvSpPr/>
          <p:nvPr/>
        </p:nvSpPr>
        <p:spPr>
          <a:xfrm>
            <a:off x="914400" y="2148840"/>
            <a:ext cx="1737360" cy="749808"/>
          </a:xfrm>
          <a:prstGeom prst="rect">
            <a:avLst/>
          </a:prstGeom>
          <a:noFill/>
          <a:ln/>
        </p:spPr>
        <p:txBody>
          <a:bodyPr wrap="square" lIns="0" tIns="0" rIns="0" bIns="0" rtlCol="0" anchor="ctr"/>
          <a:lstStyle/>
          <a:p>
            <a:pPr indent="0" marL="0">
              <a:buNone/>
            </a:pPr>
            <a:r>
              <a:rPr lang="en-US" sz="2000" b="1" dirty="0">
                <a:solidFill>
                  <a:srgbClr val="788C5D"/>
                </a:solidFill>
                <a:latin typeface="Avenir Next" pitchFamily="34" charset="0"/>
                <a:ea typeface="Avenir Next" pitchFamily="34" charset="-122"/>
                <a:cs typeface="Avenir Next" pitchFamily="34" charset="-120"/>
              </a:rPr>
              <a:t>Log</a:t>
            </a:r>
            <a:endParaRPr lang="en-US" sz="2000" dirty="0"/>
          </a:p>
        </p:txBody>
      </p:sp>
      <p:sp>
        <p:nvSpPr>
          <p:cNvPr id="12" name="Text 10"/>
          <p:cNvSpPr/>
          <p:nvPr/>
        </p:nvSpPr>
        <p:spPr>
          <a:xfrm>
            <a:off x="2651760" y="2148840"/>
            <a:ext cx="4572000" cy="749808"/>
          </a:xfrm>
          <a:prstGeom prst="rect">
            <a:avLst/>
          </a:prstGeom>
          <a:noFill/>
          <a:ln/>
        </p:spPr>
        <p:txBody>
          <a:bodyPr wrap="square" lIns="0" tIns="0" rIns="0" bIns="0" rtlCol="0" anchor="ctr"/>
          <a:lstStyle/>
          <a:p>
            <a:pPr indent="0" marL="0">
              <a:buNone/>
            </a:pPr>
            <a:r>
              <a:rPr lang="en-US" sz="1600" dirty="0">
                <a:solidFill>
                  <a:srgbClr val="F0EEE6"/>
                </a:solidFill>
                <a:latin typeface="Avenir Next" pitchFamily="34" charset="0"/>
                <a:ea typeface="Avenir Next" pitchFamily="34" charset="-122"/>
                <a:cs typeface="Avenir Next" pitchFamily="34" charset="-120"/>
              </a:rPr>
              <a:t>“Door locked, will retry tomorrow”</a:t>
            </a:r>
            <a:endParaRPr lang="en-US" sz="1600" dirty="0"/>
          </a:p>
        </p:txBody>
      </p:sp>
      <p:sp>
        <p:nvSpPr>
          <p:cNvPr id="13" name="Text 11"/>
          <p:cNvSpPr/>
          <p:nvPr/>
        </p:nvSpPr>
        <p:spPr>
          <a:xfrm>
            <a:off x="7406640" y="2148840"/>
            <a:ext cx="4114800" cy="749808"/>
          </a:xfrm>
          <a:prstGeom prst="rect">
            <a:avLst/>
          </a:prstGeom>
          <a:noFill/>
          <a:ln/>
        </p:spPr>
        <p:txBody>
          <a:bodyPr wrap="square" lIns="0" tIns="0" rIns="0" bIns="0" rtlCol="0" anchor="ctr"/>
          <a:lstStyle/>
          <a:p>
            <a:pPr indent="0" marL="0">
              <a:buNone/>
            </a:pPr>
            <a:r>
              <a:rPr lang="en-US" sz="1500" dirty="0">
                <a:solidFill>
                  <a:srgbClr val="C9C6BC"/>
                </a:solidFill>
                <a:latin typeface="Avenir Next" pitchFamily="34" charset="0"/>
                <a:ea typeface="Avenir Next" pitchFamily="34" charset="-122"/>
                <a:cs typeface="Avenir Next" pitchFamily="34" charset="-120"/>
              </a:rPr>
              <a:t>A short message about one moment</a:t>
            </a:r>
            <a:endParaRPr lang="en-US" sz="1500" dirty="0"/>
          </a:p>
        </p:txBody>
      </p:sp>
      <p:sp>
        <p:nvSpPr>
          <p:cNvPr id="14" name="Shape 12"/>
          <p:cNvSpPr/>
          <p:nvPr/>
        </p:nvSpPr>
        <p:spPr>
          <a:xfrm>
            <a:off x="640080" y="3063240"/>
            <a:ext cx="10911535" cy="749808"/>
          </a:xfrm>
          <a:prstGeom prst="rect">
            <a:avLst/>
          </a:prstGeom>
          <a:solidFill>
            <a:srgbClr val="262624"/>
          </a:solidFill>
          <a:ln w="9525">
            <a:solidFill>
              <a:srgbClr val="3A3936"/>
            </a:solidFill>
            <a:prstDash val="solid"/>
          </a:ln>
        </p:spPr>
      </p:sp>
      <p:sp>
        <p:nvSpPr>
          <p:cNvPr id="15" name="Text 13"/>
          <p:cNvSpPr/>
          <p:nvPr/>
        </p:nvSpPr>
        <p:spPr>
          <a:xfrm>
            <a:off x="914400" y="3063240"/>
            <a:ext cx="1737360" cy="749808"/>
          </a:xfrm>
          <a:prstGeom prst="rect">
            <a:avLst/>
          </a:prstGeom>
          <a:noFill/>
          <a:ln/>
        </p:spPr>
        <p:txBody>
          <a:bodyPr wrap="square" lIns="0" tIns="0" rIns="0" bIns="0" rtlCol="0" anchor="ctr"/>
          <a:lstStyle/>
          <a:p>
            <a:pPr indent="0" marL="0">
              <a:buNone/>
            </a:pPr>
            <a:r>
              <a:rPr lang="en-US" sz="2000" b="1" dirty="0">
                <a:solidFill>
                  <a:srgbClr val="D97757"/>
                </a:solidFill>
                <a:latin typeface="Avenir Next" pitchFamily="34" charset="0"/>
                <a:ea typeface="Avenir Next" pitchFamily="34" charset="-122"/>
                <a:cs typeface="Avenir Next" pitchFamily="34" charset="-120"/>
              </a:rPr>
              <a:t>Metric</a:t>
            </a:r>
            <a:endParaRPr lang="en-US" sz="2000" dirty="0"/>
          </a:p>
        </p:txBody>
      </p:sp>
      <p:sp>
        <p:nvSpPr>
          <p:cNvPr id="16" name="Text 14"/>
          <p:cNvSpPr/>
          <p:nvPr/>
        </p:nvSpPr>
        <p:spPr>
          <a:xfrm>
            <a:off x="2651760" y="3063240"/>
            <a:ext cx="4572000" cy="749808"/>
          </a:xfrm>
          <a:prstGeom prst="rect">
            <a:avLst/>
          </a:prstGeom>
          <a:noFill/>
          <a:ln/>
        </p:spPr>
        <p:txBody>
          <a:bodyPr wrap="square" lIns="0" tIns="0" rIns="0" bIns="0" rtlCol="0" anchor="ctr"/>
          <a:lstStyle/>
          <a:p>
            <a:pPr indent="0" marL="0">
              <a:buNone/>
            </a:pPr>
            <a:r>
              <a:rPr lang="en-US" sz="1600" dirty="0">
                <a:solidFill>
                  <a:srgbClr val="F0EEE6"/>
                </a:solidFill>
                <a:latin typeface="Avenir Next" pitchFamily="34" charset="0"/>
                <a:ea typeface="Avenir Next" pitchFamily="34" charset="-122"/>
                <a:cs typeface="Avenir Next" pitchFamily="34" charset="-120"/>
              </a:rPr>
              <a:t>“12,400 parcels delivered today”</a:t>
            </a:r>
            <a:endParaRPr lang="en-US" sz="1600" dirty="0"/>
          </a:p>
        </p:txBody>
      </p:sp>
      <p:sp>
        <p:nvSpPr>
          <p:cNvPr id="17" name="Text 15"/>
          <p:cNvSpPr/>
          <p:nvPr/>
        </p:nvSpPr>
        <p:spPr>
          <a:xfrm>
            <a:off x="7406640" y="3063240"/>
            <a:ext cx="4114800" cy="749808"/>
          </a:xfrm>
          <a:prstGeom prst="rect">
            <a:avLst/>
          </a:prstGeom>
          <a:noFill/>
          <a:ln/>
        </p:spPr>
        <p:txBody>
          <a:bodyPr wrap="square" lIns="0" tIns="0" rIns="0" bIns="0" rtlCol="0" anchor="ctr"/>
          <a:lstStyle/>
          <a:p>
            <a:pPr indent="0" marL="0">
              <a:buNone/>
            </a:pPr>
            <a:r>
              <a:rPr lang="en-US" sz="1500" dirty="0">
                <a:solidFill>
                  <a:srgbClr val="C9C6BC"/>
                </a:solidFill>
                <a:latin typeface="Avenir Next" pitchFamily="34" charset="0"/>
                <a:ea typeface="Avenir Next" pitchFamily="34" charset="-122"/>
                <a:cs typeface="Avenir Next" pitchFamily="34" charset="-120"/>
              </a:rPr>
              <a:t>A number that summarizes many things</a:t>
            </a:r>
            <a:endParaRPr lang="en-US" sz="1500" dirty="0"/>
          </a:p>
        </p:txBody>
      </p:sp>
      <p:sp>
        <p:nvSpPr>
          <p:cNvPr id="18" name="Shape 16"/>
          <p:cNvSpPr/>
          <p:nvPr/>
        </p:nvSpPr>
        <p:spPr>
          <a:xfrm>
            <a:off x="640080" y="3977640"/>
            <a:ext cx="10911535" cy="749808"/>
          </a:xfrm>
          <a:prstGeom prst="rect">
            <a:avLst/>
          </a:prstGeom>
          <a:solidFill>
            <a:srgbClr val="262624"/>
          </a:solidFill>
          <a:ln w="9525">
            <a:solidFill>
              <a:srgbClr val="3A3936"/>
            </a:solidFill>
            <a:prstDash val="solid"/>
          </a:ln>
        </p:spPr>
      </p:sp>
      <p:sp>
        <p:nvSpPr>
          <p:cNvPr id="19" name="Text 17"/>
          <p:cNvSpPr/>
          <p:nvPr/>
        </p:nvSpPr>
        <p:spPr>
          <a:xfrm>
            <a:off x="914400" y="3977640"/>
            <a:ext cx="1737360" cy="749808"/>
          </a:xfrm>
          <a:prstGeom prst="rect">
            <a:avLst/>
          </a:prstGeom>
          <a:noFill/>
          <a:ln/>
        </p:spPr>
        <p:txBody>
          <a:bodyPr wrap="square" lIns="0" tIns="0" rIns="0" bIns="0" rtlCol="0" anchor="ctr"/>
          <a:lstStyle/>
          <a:p>
            <a:pPr indent="0" marL="0">
              <a:buNone/>
            </a:pPr>
            <a:r>
              <a:rPr lang="en-US" sz="2000" b="1" dirty="0">
                <a:solidFill>
                  <a:srgbClr val="D4A27F"/>
                </a:solidFill>
                <a:latin typeface="Avenir Next" pitchFamily="34" charset="0"/>
                <a:ea typeface="Avenir Next" pitchFamily="34" charset="-122"/>
                <a:cs typeface="Avenir Next" pitchFamily="34" charset="-120"/>
              </a:rPr>
              <a:t>Trace</a:t>
            </a:r>
            <a:endParaRPr lang="en-US" sz="2000" dirty="0"/>
          </a:p>
        </p:txBody>
      </p:sp>
      <p:sp>
        <p:nvSpPr>
          <p:cNvPr id="20" name="Text 18"/>
          <p:cNvSpPr/>
          <p:nvPr/>
        </p:nvSpPr>
        <p:spPr>
          <a:xfrm>
            <a:off x="2651760" y="3977640"/>
            <a:ext cx="4572000" cy="749808"/>
          </a:xfrm>
          <a:prstGeom prst="rect">
            <a:avLst/>
          </a:prstGeom>
          <a:noFill/>
          <a:ln/>
        </p:spPr>
        <p:txBody>
          <a:bodyPr wrap="square" lIns="0" tIns="0" rIns="0" bIns="0" rtlCol="0" anchor="ctr"/>
          <a:lstStyle/>
          <a:p>
            <a:pPr indent="0" marL="0">
              <a:buNone/>
            </a:pPr>
            <a:r>
              <a:rPr lang="en-US" sz="1600" dirty="0">
                <a:solidFill>
                  <a:srgbClr val="F0EEE6"/>
                </a:solidFill>
                <a:latin typeface="Avenir Next" pitchFamily="34" charset="0"/>
                <a:ea typeface="Avenir Next" pitchFamily="34" charset="-122"/>
                <a:cs typeface="Avenir Next" pitchFamily="34" charset="-120"/>
              </a:rPr>
              <a:t>The full tracking history of your parcel</a:t>
            </a:r>
            <a:endParaRPr lang="en-US" sz="1600" dirty="0"/>
          </a:p>
        </p:txBody>
      </p:sp>
      <p:sp>
        <p:nvSpPr>
          <p:cNvPr id="21" name="Text 19"/>
          <p:cNvSpPr/>
          <p:nvPr/>
        </p:nvSpPr>
        <p:spPr>
          <a:xfrm>
            <a:off x="7406640" y="3977640"/>
            <a:ext cx="4114800" cy="749808"/>
          </a:xfrm>
          <a:prstGeom prst="rect">
            <a:avLst/>
          </a:prstGeom>
          <a:noFill/>
          <a:ln/>
        </p:spPr>
        <p:txBody>
          <a:bodyPr wrap="square" lIns="0" tIns="0" rIns="0" bIns="0" rtlCol="0" anchor="ctr"/>
          <a:lstStyle/>
          <a:p>
            <a:pPr indent="0" marL="0">
              <a:buNone/>
            </a:pPr>
            <a:r>
              <a:rPr lang="en-US" sz="1500" dirty="0">
                <a:solidFill>
                  <a:srgbClr val="C9C6BC"/>
                </a:solidFill>
                <a:latin typeface="Avenir Next" pitchFamily="34" charset="0"/>
                <a:ea typeface="Avenir Next" pitchFamily="34" charset="-122"/>
                <a:cs typeface="Avenir Next" pitchFamily="34" charset="-120"/>
              </a:rPr>
              <a:t>Everything that happened to one request</a:t>
            </a:r>
            <a:endParaRPr lang="en-US" sz="1500" dirty="0"/>
          </a:p>
        </p:txBody>
      </p:sp>
      <p:sp>
        <p:nvSpPr>
          <p:cNvPr id="22" name="Shape 20"/>
          <p:cNvSpPr/>
          <p:nvPr/>
        </p:nvSpPr>
        <p:spPr>
          <a:xfrm>
            <a:off x="640080" y="4892040"/>
            <a:ext cx="10911535" cy="749808"/>
          </a:xfrm>
          <a:prstGeom prst="rect">
            <a:avLst/>
          </a:prstGeom>
          <a:solidFill>
            <a:srgbClr val="262624"/>
          </a:solidFill>
          <a:ln w="9525">
            <a:solidFill>
              <a:srgbClr val="3A3936"/>
            </a:solidFill>
            <a:prstDash val="solid"/>
          </a:ln>
        </p:spPr>
      </p:sp>
      <p:sp>
        <p:nvSpPr>
          <p:cNvPr id="23" name="Text 21"/>
          <p:cNvSpPr/>
          <p:nvPr/>
        </p:nvSpPr>
        <p:spPr>
          <a:xfrm>
            <a:off x="914400" y="4892040"/>
            <a:ext cx="1737360" cy="749808"/>
          </a:xfrm>
          <a:prstGeom prst="rect">
            <a:avLst/>
          </a:prstGeom>
          <a:noFill/>
          <a:ln/>
        </p:spPr>
        <p:txBody>
          <a:bodyPr wrap="square" lIns="0" tIns="0" rIns="0" bIns="0" rtlCol="0" anchor="ctr"/>
          <a:lstStyle/>
          <a:p>
            <a:pPr indent="0" marL="0">
              <a:buNone/>
            </a:pPr>
            <a:r>
              <a:rPr lang="en-US" sz="2000" b="1" dirty="0">
                <a:solidFill>
                  <a:srgbClr val="6A9BCC"/>
                </a:solidFill>
                <a:latin typeface="Avenir Next" pitchFamily="34" charset="0"/>
                <a:ea typeface="Avenir Next" pitchFamily="34" charset="-122"/>
                <a:cs typeface="Avenir Next" pitchFamily="34" charset="-120"/>
              </a:rPr>
              <a:t>Span</a:t>
            </a:r>
            <a:endParaRPr lang="en-US" sz="2000" dirty="0"/>
          </a:p>
        </p:txBody>
      </p:sp>
      <p:sp>
        <p:nvSpPr>
          <p:cNvPr id="24" name="Text 22"/>
          <p:cNvSpPr/>
          <p:nvPr/>
        </p:nvSpPr>
        <p:spPr>
          <a:xfrm>
            <a:off x="2651760" y="4892040"/>
            <a:ext cx="4572000" cy="749808"/>
          </a:xfrm>
          <a:prstGeom prst="rect">
            <a:avLst/>
          </a:prstGeom>
          <a:noFill/>
          <a:ln/>
        </p:spPr>
        <p:txBody>
          <a:bodyPr wrap="square" lIns="0" tIns="0" rIns="0" bIns="0" rtlCol="0" anchor="ctr"/>
          <a:lstStyle/>
          <a:p>
            <a:pPr indent="0" marL="0">
              <a:buNone/>
            </a:pPr>
            <a:r>
              <a:rPr lang="en-US" sz="1600" dirty="0">
                <a:solidFill>
                  <a:srgbClr val="F0EEE6"/>
                </a:solidFill>
                <a:latin typeface="Avenir Next" pitchFamily="34" charset="0"/>
                <a:ea typeface="Avenir Next" pitchFamily="34" charset="-122"/>
                <a:cs typeface="Avenir Next" pitchFamily="34" charset="-120"/>
              </a:rPr>
              <a:t>“Left warehouse, took 3 hours”</a:t>
            </a:r>
            <a:endParaRPr lang="en-US" sz="1600" dirty="0"/>
          </a:p>
        </p:txBody>
      </p:sp>
      <p:sp>
        <p:nvSpPr>
          <p:cNvPr id="25" name="Text 23"/>
          <p:cNvSpPr/>
          <p:nvPr/>
        </p:nvSpPr>
        <p:spPr>
          <a:xfrm>
            <a:off x="7406640" y="4892040"/>
            <a:ext cx="4114800" cy="749808"/>
          </a:xfrm>
          <a:prstGeom prst="rect">
            <a:avLst/>
          </a:prstGeom>
          <a:noFill/>
          <a:ln/>
        </p:spPr>
        <p:txBody>
          <a:bodyPr wrap="square" lIns="0" tIns="0" rIns="0" bIns="0" rtlCol="0" anchor="ctr"/>
          <a:lstStyle/>
          <a:p>
            <a:pPr indent="0" marL="0">
              <a:buNone/>
            </a:pPr>
            <a:r>
              <a:rPr lang="en-US" sz="1500" dirty="0">
                <a:solidFill>
                  <a:srgbClr val="C9C6BC"/>
                </a:solidFill>
                <a:latin typeface="Avenir Next" pitchFamily="34" charset="0"/>
                <a:ea typeface="Avenir Next" pitchFamily="34" charset="-122"/>
                <a:cs typeface="Avenir Next" pitchFamily="34" charset="-120"/>
              </a:rPr>
              <a:t>One step inside a trace, with its duration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9</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Our example is a </a:t>
            </a:r>
            <a:pPr indent="0" marL="0">
              <a:buNone/>
            </a:pPr>
            <a:r>
              <a:rPr lang="en-US" sz="2800" i="1" dirty="0">
                <a:solidFill>
                  <a:srgbClr val="D97757"/>
                </a:solidFill>
                <a:latin typeface="Charter" pitchFamily="34" charset="0"/>
                <a:ea typeface="Charter" pitchFamily="34" charset="-122"/>
                <a:cs typeface="Charter" pitchFamily="34" charset="-120"/>
              </a:rPr>
              <a:t>two-step weather assistant</a:t>
            </a:r>
            <a:pPr indent="0" marL="0">
              <a:buNone/>
            </a:pPr>
            <a:r>
              <a:rPr lang="en-US" sz="2800" dirty="0">
                <a:solidFill>
                  <a:srgbClr val="141413"/>
                </a:solidFill>
                <a:latin typeface="Charter" pitchFamily="34" charset="0"/>
                <a:ea typeface="Charter" pitchFamily="34" charset="-122"/>
                <a:cs typeface="Charter" pitchFamily="34" charset="-120"/>
              </a:rPr>
              <a:t>, used in every notebook</a:t>
            </a:r>
            <a:endParaRPr lang="en-US" sz="2800" dirty="0"/>
          </a:p>
        </p:txBody>
      </p:sp>
      <p:sp>
        <p:nvSpPr>
          <p:cNvPr id="7" name="Shape 5"/>
          <p:cNvSpPr/>
          <p:nvPr/>
        </p:nvSpPr>
        <p:spPr>
          <a:xfrm>
            <a:off x="640080" y="1783080"/>
            <a:ext cx="6766560" cy="3931920"/>
          </a:xfrm>
          <a:prstGeom prst="rect">
            <a:avLst/>
          </a:prstGeom>
          <a:solidFill>
            <a:srgbClr val="1A1918"/>
          </a:solidFill>
          <a:ln w="12700">
            <a:solidFill>
              <a:srgbClr val="1A1918"/>
            </a:solidFill>
            <a:prstDash val="solid"/>
          </a:ln>
        </p:spPr>
      </p:sp>
      <p:sp>
        <p:nvSpPr>
          <p:cNvPr id="8" name="Shape 6"/>
          <p:cNvSpPr/>
          <p:nvPr/>
        </p:nvSpPr>
        <p:spPr>
          <a:xfrm>
            <a:off x="640080" y="1783080"/>
            <a:ext cx="54864" cy="3931920"/>
          </a:xfrm>
          <a:prstGeom prst="rect">
            <a:avLst/>
          </a:prstGeom>
          <a:solidFill>
            <a:srgbClr val="D97757"/>
          </a:solidFill>
          <a:ln w="12700">
            <a:solidFill>
              <a:srgbClr val="D97757"/>
            </a:solidFill>
            <a:prstDash val="solid"/>
          </a:ln>
        </p:spPr>
      </p:sp>
      <p:sp>
        <p:nvSpPr>
          <p:cNvPr id="9" name="Text 7"/>
          <p:cNvSpPr/>
          <p:nvPr/>
        </p:nvSpPr>
        <p:spPr>
          <a:xfrm>
            <a:off x="914400" y="2011680"/>
            <a:ext cx="6217920" cy="3474720"/>
          </a:xfrm>
          <a:prstGeom prst="rect">
            <a:avLst/>
          </a:prstGeom>
          <a:noFill/>
          <a:ln/>
        </p:spPr>
        <p:txBody>
          <a:bodyPr wrap="square" lIns="0" tIns="0" rIns="0" bIns="0" rtlCol="0" anchor="t"/>
          <a:lstStyle/>
          <a:p>
            <a:pPr indent="0" marL="0">
              <a:spcAft>
                <a:spcPts val="300"/>
              </a:spcAft>
              <a:buNone/>
            </a:pPr>
            <a:r>
              <a:rPr lang="en-US" sz="1400" dirty="0">
                <a:solidFill>
                  <a:srgbClr val="E08C6B"/>
                </a:solidFill>
                <a:latin typeface="Menlo" pitchFamily="34" charset="0"/>
                <a:ea typeface="Menlo" pitchFamily="34" charset="-122"/>
                <a:cs typeface="Menlo" pitchFamily="34" charset="-120"/>
              </a:rPr>
              <a:t>def </a:t>
            </a:r>
            <a:pPr indent="0" marL="0">
              <a:spcAft>
                <a:spcPts val="300"/>
              </a:spcAft>
              <a:buNone/>
            </a:pPr>
            <a:r>
              <a:rPr lang="en-US" sz="1400" dirty="0">
                <a:solidFill>
                  <a:srgbClr val="8DB4DC"/>
                </a:solidFill>
                <a:latin typeface="Menlo" pitchFamily="34" charset="0"/>
                <a:ea typeface="Menlo" pitchFamily="34" charset="-122"/>
                <a:cs typeface="Menlo" pitchFamily="34" charset="-120"/>
              </a:rPr>
              <a:t>get_weather</a:t>
            </a:r>
            <a:pPr indent="0" marL="0">
              <a:spcAft>
                <a:spcPts val="300"/>
              </a:spcAft>
              <a:buNone/>
            </a:pPr>
            <a:r>
              <a:rPr lang="en-US" sz="1400" dirty="0">
                <a:solidFill>
                  <a:srgbClr val="E8E6DC"/>
                </a:solidFill>
                <a:latin typeface="Menlo" pitchFamily="34" charset="0"/>
                <a:ea typeface="Menlo" pitchFamily="34" charset="-122"/>
                <a:cs typeface="Menlo" pitchFamily="34" charset="-120"/>
              </a:rPr>
              <a:t>(city):</a:t>
            </a:r>
            <a:endParaRPr lang="en-US" sz="1400" dirty="0"/>
          </a:p>
          <a:p>
            <a:pPr indent="0" marL="0">
              <a:spcAft>
                <a:spcPts val="300"/>
              </a:spcAft>
              <a:buNone/>
            </a:pPr>
            <a:r>
              <a:rPr lang="en-US" sz="1400" dirty="0">
                <a:solidFill>
                  <a:srgbClr val="E8E6DC"/>
                </a:solidFill>
                <a:latin typeface="Menlo" pitchFamily="34" charset="0"/>
                <a:ea typeface="Menlo" pitchFamily="34" charset="-122"/>
                <a:cs typeface="Menlo" pitchFamily="34" charset="-120"/>
              </a:rPr>
              <a:t>    time.sleep(0.5)           </a:t>
            </a:r>
            <a:pPr indent="0" marL="0">
              <a:spcAft>
                <a:spcPts val="300"/>
              </a:spcAft>
              <a:buNone/>
            </a:pPr>
            <a:r>
              <a:rPr lang="en-US" sz="1400" dirty="0">
                <a:solidFill>
                  <a:srgbClr val="85837C"/>
                </a:solidFill>
                <a:latin typeface="Menlo" pitchFamily="34" charset="0"/>
                <a:ea typeface="Menlo" pitchFamily="34" charset="-122"/>
                <a:cs typeface="Menlo" pitchFamily="34" charset="-120"/>
              </a:rPr>
              <a:t># pretend: slow website</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    return </a:t>
            </a:r>
            <a:pPr indent="0" marL="0">
              <a:spcAft>
                <a:spcPts val="300"/>
              </a:spcAft>
              <a:buNone/>
            </a:pPr>
            <a:r>
              <a:rPr lang="en-US" sz="1400" dirty="0">
                <a:solidFill>
                  <a:srgbClr val="E8E6DC"/>
                </a:solidFill>
                <a:latin typeface="Menlo" pitchFamily="34" charset="0"/>
                <a:ea typeface="Menlo" pitchFamily="34" charset="-122"/>
                <a:cs typeface="Menlo" pitchFamily="34" charset="-120"/>
              </a:rPr>
              <a:t>FAKE_WEATHER[city]</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def </a:t>
            </a:r>
            <a:pPr indent="0" marL="0">
              <a:spcAft>
                <a:spcPts val="300"/>
              </a:spcAft>
              <a:buNone/>
            </a:pPr>
            <a:r>
              <a:rPr lang="en-US" sz="1400" dirty="0">
                <a:solidFill>
                  <a:srgbClr val="8DB4DC"/>
                </a:solidFill>
                <a:latin typeface="Menlo" pitchFamily="34" charset="0"/>
                <a:ea typeface="Menlo" pitchFamily="34" charset="-122"/>
                <a:cs typeface="Menlo" pitchFamily="34" charset="-120"/>
              </a:rPr>
              <a:t>ask_ai</a:t>
            </a:r>
            <a:pPr indent="0" marL="0">
              <a:spcAft>
                <a:spcPts val="300"/>
              </a:spcAft>
              <a:buNone/>
            </a:pPr>
            <a:r>
              <a:rPr lang="en-US" sz="1400" dirty="0">
                <a:solidFill>
                  <a:srgbClr val="E8E6DC"/>
                </a:solidFill>
                <a:latin typeface="Menlo" pitchFamily="34" charset="0"/>
                <a:ea typeface="Menlo" pitchFamily="34" charset="-122"/>
                <a:cs typeface="Menlo" pitchFamily="34" charset="-120"/>
              </a:rPr>
              <a:t>(question):</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    return </a:t>
            </a:r>
            <a:pPr indent="0" marL="0">
              <a:spcAft>
                <a:spcPts val="300"/>
              </a:spcAft>
              <a:buNone/>
            </a:pPr>
            <a:r>
              <a:rPr lang="en-US" sz="1400" dirty="0">
                <a:solidFill>
                  <a:srgbClr val="E8E6DC"/>
                </a:solidFill>
                <a:latin typeface="Menlo" pitchFamily="34" charset="0"/>
                <a:ea typeface="Menlo" pitchFamily="34" charset="-122"/>
                <a:cs typeface="Menlo" pitchFamily="34" charset="-120"/>
              </a:rPr>
              <a:t>...call gpt-4o-mini...</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def </a:t>
            </a:r>
            <a:pPr indent="0" marL="0">
              <a:spcAft>
                <a:spcPts val="300"/>
              </a:spcAft>
              <a:buNone/>
            </a:pPr>
            <a:r>
              <a:rPr lang="en-US" sz="1400" dirty="0">
                <a:solidFill>
                  <a:srgbClr val="8DB4DC"/>
                </a:solidFill>
                <a:latin typeface="Menlo" pitchFamily="34" charset="0"/>
                <a:ea typeface="Menlo" pitchFamily="34" charset="-122"/>
                <a:cs typeface="Menlo" pitchFamily="34" charset="-120"/>
              </a:rPr>
              <a:t>weather_assistant</a:t>
            </a:r>
            <a:pPr indent="0" marL="0">
              <a:spcAft>
                <a:spcPts val="300"/>
              </a:spcAft>
              <a:buNone/>
            </a:pPr>
            <a:r>
              <a:rPr lang="en-US" sz="1400" dirty="0">
                <a:solidFill>
                  <a:srgbClr val="E8E6DC"/>
                </a:solidFill>
                <a:latin typeface="Menlo" pitchFamily="34" charset="0"/>
                <a:ea typeface="Menlo" pitchFamily="34" charset="-122"/>
                <a:cs typeface="Menlo" pitchFamily="34" charset="-120"/>
              </a:rPr>
              <a:t>(city):</a:t>
            </a:r>
            <a:endParaRPr lang="en-US" sz="1400" dirty="0"/>
          </a:p>
          <a:p>
            <a:pPr indent="0" marL="0">
              <a:spcAft>
                <a:spcPts val="300"/>
              </a:spcAft>
              <a:buNone/>
            </a:pPr>
            <a:r>
              <a:rPr lang="en-US" sz="1400" dirty="0">
                <a:solidFill>
                  <a:srgbClr val="E8E6DC"/>
                </a:solidFill>
                <a:latin typeface="Menlo" pitchFamily="34" charset="0"/>
                <a:ea typeface="Menlo" pitchFamily="34" charset="-122"/>
                <a:cs typeface="Menlo" pitchFamily="34" charset="-120"/>
              </a:rPr>
              <a:t>    weather = get_weather(city)</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    return </a:t>
            </a:r>
            <a:pPr indent="0" marL="0">
              <a:spcAft>
                <a:spcPts val="300"/>
              </a:spcAft>
              <a:buNone/>
            </a:pPr>
            <a:r>
              <a:rPr lang="en-US" sz="1400" dirty="0">
                <a:solidFill>
                  <a:srgbClr val="E8E6DC"/>
                </a:solidFill>
                <a:latin typeface="Menlo" pitchFamily="34" charset="0"/>
                <a:ea typeface="Menlo" pitchFamily="34" charset="-122"/>
                <a:cs typeface="Menlo" pitchFamily="34" charset="-120"/>
              </a:rPr>
              <a:t>ask_ai(</a:t>
            </a:r>
            <a:pPr indent="0" marL="0">
              <a:spcAft>
                <a:spcPts val="300"/>
              </a:spcAft>
              <a:buNone/>
            </a:pPr>
            <a:r>
              <a:rPr lang="en-US" sz="1400" dirty="0">
                <a:solidFill>
                  <a:srgbClr val="A7BC86"/>
                </a:solidFill>
                <a:latin typeface="Menlo" pitchFamily="34" charset="0"/>
                <a:ea typeface="Menlo" pitchFamily="34" charset="-122"/>
                <a:cs typeface="Menlo" pitchFamily="34" charset="-120"/>
              </a:rPr>
              <a:t>f"It is {weather}. Umbrella?"</a:t>
            </a:r>
            <a:pPr indent="0" marL="0">
              <a:spcAft>
                <a:spcPts val="300"/>
              </a:spcAft>
              <a:buNone/>
            </a:pPr>
            <a:r>
              <a:rPr lang="en-US" sz="1400" dirty="0">
                <a:solidFill>
                  <a:srgbClr val="E8E6DC"/>
                </a:solidFill>
                <a:latin typeface="Menlo" pitchFamily="34" charset="0"/>
                <a:ea typeface="Menlo" pitchFamily="34" charset="-122"/>
                <a:cs typeface="Menlo" pitchFamily="34" charset="-120"/>
              </a:rPr>
              <a:t>)</a:t>
            </a:r>
            <a:endParaRPr lang="en-US" sz="1400" dirty="0"/>
          </a:p>
        </p:txBody>
      </p:sp>
      <p:sp>
        <p:nvSpPr>
          <p:cNvPr id="10" name="Text 8"/>
          <p:cNvSpPr/>
          <p:nvPr/>
        </p:nvSpPr>
        <p:spPr>
          <a:xfrm>
            <a:off x="7863840" y="1828800"/>
            <a:ext cx="365760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Step 1</a:t>
            </a:r>
            <a:endParaRPr lang="en-US" sz="1200" dirty="0"/>
          </a:p>
        </p:txBody>
      </p:sp>
      <p:sp>
        <p:nvSpPr>
          <p:cNvPr id="11" name="Text 9"/>
          <p:cNvSpPr/>
          <p:nvPr/>
        </p:nvSpPr>
        <p:spPr>
          <a:xfrm>
            <a:off x="7863840" y="2103120"/>
            <a:ext cx="3657600" cy="365760"/>
          </a:xfrm>
          <a:prstGeom prst="rect">
            <a:avLst/>
          </a:prstGeom>
          <a:noFill/>
          <a:ln/>
        </p:spPr>
        <p:txBody>
          <a:bodyPr wrap="square" lIns="0" tIns="0" rIns="0" bIns="0" rtlCol="0" anchor="t"/>
          <a:lstStyle/>
          <a:p>
            <a:pPr indent="0" marL="0">
              <a:buNone/>
            </a:pPr>
            <a:r>
              <a:rPr lang="en-US" sz="1700" dirty="0">
                <a:solidFill>
                  <a:srgbClr val="141413"/>
                </a:solidFill>
                <a:latin typeface="Avenir Next" pitchFamily="34" charset="0"/>
                <a:ea typeface="Avenir Next" pitchFamily="34" charset="-122"/>
                <a:cs typeface="Avenir Next" pitchFamily="34" charset="-120"/>
              </a:rPr>
              <a:t>Look up the weather for a city</a:t>
            </a:r>
            <a:endParaRPr lang="en-US" sz="1700" dirty="0"/>
          </a:p>
        </p:txBody>
      </p:sp>
      <p:sp>
        <p:nvSpPr>
          <p:cNvPr id="12" name="Text 10"/>
          <p:cNvSpPr/>
          <p:nvPr/>
        </p:nvSpPr>
        <p:spPr>
          <a:xfrm>
            <a:off x="7863840" y="2743200"/>
            <a:ext cx="365760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Step 2</a:t>
            </a:r>
            <a:endParaRPr lang="en-US" sz="1200" dirty="0"/>
          </a:p>
        </p:txBody>
      </p:sp>
      <p:sp>
        <p:nvSpPr>
          <p:cNvPr id="13" name="Text 11"/>
          <p:cNvSpPr/>
          <p:nvPr/>
        </p:nvSpPr>
        <p:spPr>
          <a:xfrm>
            <a:off x="7863840" y="3017520"/>
            <a:ext cx="3657600" cy="640080"/>
          </a:xfrm>
          <a:prstGeom prst="rect">
            <a:avLst/>
          </a:prstGeom>
          <a:noFill/>
          <a:ln/>
        </p:spPr>
        <p:txBody>
          <a:bodyPr wrap="square" lIns="0" tIns="0" rIns="0" bIns="0" rtlCol="0" anchor="t"/>
          <a:lstStyle/>
          <a:p>
            <a:pPr indent="0" marL="0">
              <a:buNone/>
            </a:pPr>
            <a:r>
              <a:rPr lang="en-US" sz="1700" dirty="0">
                <a:solidFill>
                  <a:srgbClr val="141413"/>
                </a:solidFill>
                <a:latin typeface="Avenir Next" pitchFamily="34" charset="0"/>
                <a:ea typeface="Avenir Next" pitchFamily="34" charset="-122"/>
                <a:cs typeface="Avenir Next" pitchFamily="34" charset="-120"/>
              </a:rPr>
              <a:t>Ask an AI model: should I carry an umbrella?</a:t>
            </a:r>
            <a:endParaRPr lang="en-US" sz="1700" dirty="0"/>
          </a:p>
        </p:txBody>
      </p:sp>
      <p:sp>
        <p:nvSpPr>
          <p:cNvPr id="14" name="Text 12"/>
          <p:cNvSpPr/>
          <p:nvPr/>
        </p:nvSpPr>
        <p:spPr>
          <a:xfrm>
            <a:off x="7863840" y="4206240"/>
            <a:ext cx="3657600" cy="731520"/>
          </a:xfrm>
          <a:prstGeom prst="rect">
            <a:avLst/>
          </a:prstGeom>
          <a:noFill/>
          <a:ln/>
        </p:spPr>
        <p:txBody>
          <a:bodyPr wrap="square" lIns="0" tIns="0" rIns="0" bIns="0" rtlCol="0" anchor="t"/>
          <a:lstStyle/>
          <a:p>
            <a:pPr indent="0" marL="0">
              <a:buNone/>
            </a:pPr>
            <a:r>
              <a:rPr lang="en-US" sz="1400" i="1" dirty="0">
                <a:solidFill>
                  <a:srgbClr val="87867F"/>
                </a:solidFill>
                <a:latin typeface="Avenir Next" pitchFamily="34" charset="0"/>
                <a:ea typeface="Avenir Next" pitchFamily="34" charset="-122"/>
                <a:cs typeface="Avenir Next" pitchFamily="34" charset="-120"/>
              </a:rPr>
              <a:t>Plain Python. The rest of tonight only adds a few lines to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10</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i="1" dirty="0">
                <a:solidFill>
                  <a:srgbClr val="D97757"/>
                </a:solidFill>
                <a:latin typeface="Charter" pitchFamily="34" charset="0"/>
                <a:ea typeface="Charter" pitchFamily="34" charset="-122"/>
                <a:cs typeface="Charter" pitchFamily="34" charset="-120"/>
              </a:rPr>
              <a:t>Logs</a:t>
            </a:r>
            <a:pPr indent="0" marL="0">
              <a:buNone/>
            </a:pPr>
            <a:r>
              <a:rPr lang="en-US" sz="2800" dirty="0">
                <a:solidFill>
                  <a:srgbClr val="141413"/>
                </a:solidFill>
                <a:latin typeface="Charter" pitchFamily="34" charset="0"/>
                <a:ea typeface="Charter" pitchFamily="34" charset="-122"/>
                <a:cs typeface="Charter" pitchFamily="34" charset="-120"/>
              </a:rPr>
              <a:t> record what happened, but get hard to follow with many users</a:t>
            </a:r>
            <a:endParaRPr lang="en-US" sz="2800" dirty="0"/>
          </a:p>
        </p:txBody>
      </p:sp>
      <p:sp>
        <p:nvSpPr>
          <p:cNvPr id="7" name="Shape 5"/>
          <p:cNvSpPr/>
          <p:nvPr/>
        </p:nvSpPr>
        <p:spPr>
          <a:xfrm>
            <a:off x="640080" y="1783080"/>
            <a:ext cx="6766560" cy="1828800"/>
          </a:xfrm>
          <a:prstGeom prst="rect">
            <a:avLst/>
          </a:prstGeom>
          <a:solidFill>
            <a:srgbClr val="1A1918"/>
          </a:solidFill>
          <a:ln w="12700">
            <a:solidFill>
              <a:srgbClr val="1A1918"/>
            </a:solidFill>
            <a:prstDash val="solid"/>
          </a:ln>
        </p:spPr>
      </p:sp>
      <p:sp>
        <p:nvSpPr>
          <p:cNvPr id="8" name="Shape 6"/>
          <p:cNvSpPr/>
          <p:nvPr/>
        </p:nvSpPr>
        <p:spPr>
          <a:xfrm>
            <a:off x="640080" y="1783080"/>
            <a:ext cx="54864" cy="1828800"/>
          </a:xfrm>
          <a:prstGeom prst="rect">
            <a:avLst/>
          </a:prstGeom>
          <a:solidFill>
            <a:srgbClr val="D97757"/>
          </a:solidFill>
          <a:ln w="12700">
            <a:solidFill>
              <a:srgbClr val="D97757"/>
            </a:solidFill>
            <a:prstDash val="solid"/>
          </a:ln>
        </p:spPr>
      </p:sp>
      <p:sp>
        <p:nvSpPr>
          <p:cNvPr id="9" name="Text 7"/>
          <p:cNvSpPr/>
          <p:nvPr/>
        </p:nvSpPr>
        <p:spPr>
          <a:xfrm>
            <a:off x="914400" y="2011680"/>
            <a:ext cx="6217920" cy="1371600"/>
          </a:xfrm>
          <a:prstGeom prst="rect">
            <a:avLst/>
          </a:prstGeom>
          <a:noFill/>
          <a:ln/>
        </p:spPr>
        <p:txBody>
          <a:bodyPr wrap="square" lIns="0" tIns="0" rIns="0" bIns="0" rtlCol="0" anchor="t"/>
          <a:lstStyle/>
          <a:p>
            <a:pPr indent="0" marL="0">
              <a:spcAft>
                <a:spcPts val="300"/>
              </a:spcAft>
              <a:buNone/>
            </a:pPr>
            <a:r>
              <a:rPr lang="en-US" sz="1300" dirty="0">
                <a:solidFill>
                  <a:srgbClr val="85837C"/>
                </a:solidFill>
                <a:latin typeface="Menlo" pitchFamily="34" charset="0"/>
                <a:ea typeface="Menlo" pitchFamily="34" charset="-122"/>
                <a:cs typeface="Menlo" pitchFamily="34" charset="-120"/>
              </a:rPr>
              <a:t>17:54:28  INFO  </a:t>
            </a:r>
            <a:pPr indent="0" marL="0">
              <a:spcAft>
                <a:spcPts val="300"/>
              </a:spcAft>
              <a:buNone/>
            </a:pPr>
            <a:r>
              <a:rPr lang="en-US" sz="1300" dirty="0">
                <a:solidFill>
                  <a:srgbClr val="E8E6DC"/>
                </a:solidFill>
                <a:latin typeface="Menlo" pitchFamily="34" charset="0"/>
                <a:ea typeface="Menlo" pitchFamily="34" charset="-122"/>
                <a:cs typeface="Menlo" pitchFamily="34" charset="-120"/>
              </a:rPr>
              <a:t>request started for London</a:t>
            </a:r>
            <a:endParaRPr lang="en-US" sz="1300" dirty="0"/>
          </a:p>
          <a:p>
            <a:pPr indent="0" marL="0">
              <a:spcAft>
                <a:spcPts val="300"/>
              </a:spcAft>
              <a:buNone/>
            </a:pPr>
            <a:r>
              <a:rPr lang="en-US" sz="1300" dirty="0">
                <a:solidFill>
                  <a:srgbClr val="85837C"/>
                </a:solidFill>
                <a:latin typeface="Menlo" pitchFamily="34" charset="0"/>
                <a:ea typeface="Menlo" pitchFamily="34" charset="-122"/>
                <a:cs typeface="Menlo" pitchFamily="34" charset="-120"/>
              </a:rPr>
              <a:t>17:54:29  INFO  </a:t>
            </a:r>
            <a:pPr indent="0" marL="0">
              <a:spcAft>
                <a:spcPts val="300"/>
              </a:spcAft>
              <a:buNone/>
            </a:pPr>
            <a:r>
              <a:rPr lang="en-US" sz="1300" dirty="0">
                <a:solidFill>
                  <a:srgbClr val="E8E6DC"/>
                </a:solidFill>
                <a:latin typeface="Menlo" pitchFamily="34" charset="0"/>
                <a:ea typeface="Menlo" pitchFamily="34" charset="-122"/>
                <a:cs typeface="Menlo" pitchFamily="34" charset="-120"/>
              </a:rPr>
              <a:t>weather is stormy, 11°C</a:t>
            </a:r>
            <a:endParaRPr lang="en-US" sz="1300" dirty="0"/>
          </a:p>
          <a:p>
            <a:pPr indent="0" marL="0">
              <a:spcAft>
                <a:spcPts val="300"/>
              </a:spcAft>
              <a:buNone/>
            </a:pPr>
            <a:r>
              <a:rPr lang="en-US" sz="1300" dirty="0">
                <a:solidFill>
                  <a:srgbClr val="85837C"/>
                </a:solidFill>
                <a:latin typeface="Menlo" pitchFamily="34" charset="0"/>
                <a:ea typeface="Menlo" pitchFamily="34" charset="-122"/>
                <a:cs typeface="Menlo" pitchFamily="34" charset="-120"/>
              </a:rPr>
              <a:t>17:54:30  INFO  </a:t>
            </a:r>
            <a:pPr indent="0" marL="0">
              <a:spcAft>
                <a:spcPts val="300"/>
              </a:spcAft>
              <a:buNone/>
            </a:pPr>
            <a:r>
              <a:rPr lang="en-US" sz="1300" dirty="0">
                <a:solidFill>
                  <a:srgbClr val="E8E6DC"/>
                </a:solidFill>
                <a:latin typeface="Menlo" pitchFamily="34" charset="0"/>
                <a:ea typeface="Menlo" pitchFamily="34" charset="-122"/>
                <a:cs typeface="Menlo" pitchFamily="34" charset="-120"/>
              </a:rPr>
              <a:t>AI answered: Yes, you should carry an umbrella.</a:t>
            </a:r>
            <a:endParaRPr lang="en-US" sz="1300" dirty="0"/>
          </a:p>
        </p:txBody>
      </p:sp>
      <p:sp>
        <p:nvSpPr>
          <p:cNvPr id="10" name="Text 8"/>
          <p:cNvSpPr/>
          <p:nvPr/>
        </p:nvSpPr>
        <p:spPr>
          <a:xfrm>
            <a:off x="640080" y="3703320"/>
            <a:ext cx="6766560" cy="274320"/>
          </a:xfrm>
          <a:prstGeom prst="rect">
            <a:avLst/>
          </a:prstGeom>
          <a:noFill/>
          <a:ln/>
        </p:spPr>
        <p:txBody>
          <a:bodyPr wrap="square" lIns="0" tIns="0" rIns="0" bIns="0" rtlCol="0" anchor="t"/>
          <a:lstStyle/>
          <a:p>
            <a:pPr indent="0" marL="0">
              <a:buNone/>
            </a:pPr>
            <a:r>
              <a:rPr lang="en-US" sz="1100" i="1" dirty="0">
                <a:solidFill>
                  <a:srgbClr val="87867F"/>
                </a:solidFill>
                <a:latin typeface="Avenir Next" pitchFamily="34" charset="0"/>
                <a:ea typeface="Avenir Next" pitchFamily="34" charset="-122"/>
                <a:cs typeface="Avenir Next" pitchFamily="34" charset="-120"/>
              </a:rPr>
              <a:t>Output from notebook 01: three log lines for one request.</a:t>
            </a:r>
            <a:endParaRPr lang="en-US" sz="1100" dirty="0"/>
          </a:p>
        </p:txBody>
      </p:sp>
      <p:sp>
        <p:nvSpPr>
          <p:cNvPr id="11" name="Text 9"/>
          <p:cNvSpPr/>
          <p:nvPr/>
        </p:nvSpPr>
        <p:spPr>
          <a:xfrm>
            <a:off x="7863840" y="1783080"/>
            <a:ext cx="3657600" cy="274320"/>
          </a:xfrm>
          <a:prstGeom prst="rect">
            <a:avLst/>
          </a:prstGeom>
          <a:noFill/>
          <a:ln/>
        </p:spPr>
        <p:txBody>
          <a:bodyPr wrap="square" lIns="0" tIns="0" rIns="0" bIns="0" rtlCol="0" anchor="t"/>
          <a:lstStyle/>
          <a:p>
            <a:pPr indent="0" marL="0">
              <a:buNone/>
            </a:pPr>
            <a:r>
              <a:rPr lang="en-US" sz="1500" b="1" dirty="0">
                <a:solidFill>
                  <a:srgbClr val="788C5D"/>
                </a:solidFill>
                <a:latin typeface="Avenir Next" pitchFamily="34" charset="0"/>
                <a:ea typeface="Avenir Next" pitchFamily="34" charset="-122"/>
                <a:cs typeface="Avenir Next" pitchFamily="34" charset="-120"/>
              </a:rPr>
              <a:t>Good at</a:t>
            </a:r>
            <a:endParaRPr lang="en-US" sz="1500" dirty="0"/>
          </a:p>
        </p:txBody>
      </p:sp>
      <p:sp>
        <p:nvSpPr>
          <p:cNvPr id="12" name="Text 10"/>
          <p:cNvSpPr/>
          <p:nvPr/>
        </p:nvSpPr>
        <p:spPr>
          <a:xfrm>
            <a:off x="7863840" y="2103120"/>
            <a:ext cx="3657600" cy="731520"/>
          </a:xfrm>
          <a:prstGeom prst="rect">
            <a:avLst/>
          </a:prstGeom>
          <a:noFill/>
          <a:ln/>
        </p:spPr>
        <p:txBody>
          <a:bodyPr wrap="square" lIns="0" tIns="0" rIns="0" bIns="0" rtlCol="0" anchor="t"/>
          <a:lstStyle/>
          <a:p>
            <a:pPr indent="0" marL="0">
              <a:buNone/>
            </a:pPr>
            <a:r>
              <a:rPr lang="en-US" sz="1500" dirty="0">
                <a:solidFill>
                  <a:srgbClr val="3D3D3A"/>
                </a:solidFill>
                <a:latin typeface="Avenir Next" pitchFamily="34" charset="0"/>
                <a:ea typeface="Avenir Next" pitchFamily="34" charset="-122"/>
                <a:cs typeface="Avenir Next" pitchFamily="34" charset="-120"/>
              </a:rPr>
              <a:t>Details: error messages, values, what the code decided.</a:t>
            </a:r>
            <a:endParaRPr lang="en-US" sz="1500" dirty="0"/>
          </a:p>
        </p:txBody>
      </p:sp>
      <p:sp>
        <p:nvSpPr>
          <p:cNvPr id="13" name="Text 11"/>
          <p:cNvSpPr/>
          <p:nvPr/>
        </p:nvSpPr>
        <p:spPr>
          <a:xfrm>
            <a:off x="7863840" y="3017520"/>
            <a:ext cx="3657600" cy="274320"/>
          </a:xfrm>
          <a:prstGeom prst="rect">
            <a:avLst/>
          </a:prstGeom>
          <a:noFill/>
          <a:ln/>
        </p:spPr>
        <p:txBody>
          <a:bodyPr wrap="square" lIns="0" tIns="0" rIns="0" bIns="0" rtlCol="0" anchor="t"/>
          <a:lstStyle/>
          <a:p>
            <a:pPr indent="0" marL="0">
              <a:buNone/>
            </a:pPr>
            <a:r>
              <a:rPr lang="en-US" sz="1500" b="1" dirty="0">
                <a:solidFill>
                  <a:srgbClr val="BF4D43"/>
                </a:solidFill>
                <a:latin typeface="Avenir Next" pitchFamily="34" charset="0"/>
                <a:ea typeface="Avenir Next" pitchFamily="34" charset="-122"/>
                <a:cs typeface="Avenir Next" pitchFamily="34" charset="-120"/>
              </a:rPr>
              <a:t>Weak at</a:t>
            </a:r>
            <a:endParaRPr lang="en-US" sz="1500" dirty="0"/>
          </a:p>
        </p:txBody>
      </p:sp>
      <p:sp>
        <p:nvSpPr>
          <p:cNvPr id="14" name="Text 12"/>
          <p:cNvSpPr/>
          <p:nvPr/>
        </p:nvSpPr>
        <p:spPr>
          <a:xfrm>
            <a:off x="7863840" y="3337560"/>
            <a:ext cx="3657600" cy="914400"/>
          </a:xfrm>
          <a:prstGeom prst="rect">
            <a:avLst/>
          </a:prstGeom>
          <a:noFill/>
          <a:ln/>
        </p:spPr>
        <p:txBody>
          <a:bodyPr wrap="square" lIns="0" tIns="0" rIns="0" bIns="0" rtlCol="0" anchor="t"/>
          <a:lstStyle/>
          <a:p>
            <a:pPr indent="0" marL="0">
              <a:buNone/>
            </a:pPr>
            <a:r>
              <a:rPr lang="en-US" sz="1500" dirty="0">
                <a:solidFill>
                  <a:srgbClr val="3D3D3A"/>
                </a:solidFill>
                <a:latin typeface="Avenir Next" pitchFamily="34" charset="0"/>
                <a:ea typeface="Avenir Next" pitchFamily="34" charset="-122"/>
                <a:cs typeface="Avenir Next" pitchFamily="34" charset="-120"/>
              </a:rPr>
              <a:t>With a thousand users at once, lines from different people are mixed together.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11</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i="1" dirty="0">
                <a:solidFill>
                  <a:srgbClr val="D97757"/>
                </a:solidFill>
                <a:latin typeface="Charter" pitchFamily="34" charset="0"/>
                <a:ea typeface="Charter" pitchFamily="34" charset="-122"/>
                <a:cs typeface="Charter" pitchFamily="34" charset="-120"/>
              </a:rPr>
              <a:t>Metrics</a:t>
            </a:r>
            <a:pPr indent="0" marL="0">
              <a:buNone/>
            </a:pPr>
            <a:r>
              <a:rPr lang="en-US" sz="2800" dirty="0">
                <a:solidFill>
                  <a:srgbClr val="141413"/>
                </a:solidFill>
                <a:latin typeface="Charter" pitchFamily="34" charset="0"/>
                <a:ea typeface="Charter" pitchFamily="34" charset="-122"/>
                <a:cs typeface="Charter" pitchFamily="34" charset="-120"/>
              </a:rPr>
              <a:t> summarize many requests, but not which step was slow</a:t>
            </a:r>
            <a:endParaRPr lang="en-US" sz="2800" dirty="0"/>
          </a:p>
        </p:txBody>
      </p:sp>
      <p:sp>
        <p:nvSpPr>
          <p:cNvPr id="7" name="Shape 5"/>
          <p:cNvSpPr/>
          <p:nvPr/>
        </p:nvSpPr>
        <p:spPr>
          <a:xfrm>
            <a:off x="640080" y="1828800"/>
            <a:ext cx="3474720" cy="1828800"/>
          </a:xfrm>
          <a:prstGeom prst="rect">
            <a:avLst/>
          </a:prstGeom>
          <a:solidFill>
            <a:srgbClr val="FAF9F5"/>
          </a:solidFill>
          <a:ln w="9525">
            <a:solidFill>
              <a:srgbClr val="D9D5C8"/>
            </a:solidFill>
            <a:prstDash val="solid"/>
          </a:ln>
        </p:spPr>
      </p:sp>
      <p:sp>
        <p:nvSpPr>
          <p:cNvPr id="8" name="Text 6"/>
          <p:cNvSpPr/>
          <p:nvPr/>
        </p:nvSpPr>
        <p:spPr>
          <a:xfrm>
            <a:off x="1005840" y="2011680"/>
            <a:ext cx="2926080" cy="868680"/>
          </a:xfrm>
          <a:prstGeom prst="rect">
            <a:avLst/>
          </a:prstGeom>
          <a:noFill/>
          <a:ln/>
        </p:spPr>
        <p:txBody>
          <a:bodyPr wrap="square" lIns="0" tIns="0" rIns="0" bIns="0" rtlCol="0" anchor="t"/>
          <a:lstStyle/>
          <a:p>
            <a:pPr indent="0" marL="0">
              <a:buNone/>
            </a:pPr>
            <a:r>
              <a:rPr lang="en-US" sz="5000" dirty="0">
                <a:solidFill>
                  <a:srgbClr val="D97757"/>
                </a:solidFill>
                <a:latin typeface="Charter" pitchFamily="34" charset="0"/>
                <a:ea typeface="Charter" pitchFamily="34" charset="-122"/>
                <a:cs typeface="Charter" pitchFamily="34" charset="-120"/>
              </a:rPr>
              <a:t>4</a:t>
            </a:r>
            <a:endParaRPr lang="en-US" sz="5000" dirty="0"/>
          </a:p>
        </p:txBody>
      </p:sp>
      <p:sp>
        <p:nvSpPr>
          <p:cNvPr id="9" name="Text 7"/>
          <p:cNvSpPr/>
          <p:nvPr/>
        </p:nvSpPr>
        <p:spPr>
          <a:xfrm>
            <a:off x="1005840" y="2971800"/>
            <a:ext cx="2926080" cy="365760"/>
          </a:xfrm>
          <a:prstGeom prst="rect">
            <a:avLst/>
          </a:prstGeom>
          <a:noFill/>
          <a:ln/>
        </p:spPr>
        <p:txBody>
          <a:bodyPr wrap="square" lIns="0" tIns="0" rIns="0" bIns="0" rtlCol="0" anchor="t"/>
          <a:lstStyle/>
          <a:p>
            <a:pPr indent="0" marL="0">
              <a:buNone/>
            </a:pPr>
            <a:r>
              <a:rPr lang="en-US" sz="1500" dirty="0">
                <a:solidFill>
                  <a:srgbClr val="3D3D3A"/>
                </a:solidFill>
                <a:latin typeface="Avenir Next" pitchFamily="34" charset="0"/>
                <a:ea typeface="Avenir Next" pitchFamily="34" charset="-122"/>
                <a:cs typeface="Avenir Next" pitchFamily="34" charset="-120"/>
              </a:rPr>
              <a:t>requests served</a:t>
            </a:r>
            <a:endParaRPr lang="en-US" sz="1500" dirty="0"/>
          </a:p>
        </p:txBody>
      </p:sp>
      <p:sp>
        <p:nvSpPr>
          <p:cNvPr id="10" name="Shape 8"/>
          <p:cNvSpPr/>
          <p:nvPr/>
        </p:nvSpPr>
        <p:spPr>
          <a:xfrm>
            <a:off x="4343400" y="1828800"/>
            <a:ext cx="3474720" cy="1828800"/>
          </a:xfrm>
          <a:prstGeom prst="rect">
            <a:avLst/>
          </a:prstGeom>
          <a:solidFill>
            <a:srgbClr val="FAF9F5"/>
          </a:solidFill>
          <a:ln w="9525">
            <a:solidFill>
              <a:srgbClr val="D9D5C8"/>
            </a:solidFill>
            <a:prstDash val="solid"/>
          </a:ln>
        </p:spPr>
      </p:sp>
      <p:sp>
        <p:nvSpPr>
          <p:cNvPr id="11" name="Text 9"/>
          <p:cNvSpPr/>
          <p:nvPr/>
        </p:nvSpPr>
        <p:spPr>
          <a:xfrm>
            <a:off x="4709160" y="2011680"/>
            <a:ext cx="2926080" cy="868680"/>
          </a:xfrm>
          <a:prstGeom prst="rect">
            <a:avLst/>
          </a:prstGeom>
          <a:noFill/>
          <a:ln/>
        </p:spPr>
        <p:txBody>
          <a:bodyPr wrap="square" lIns="0" tIns="0" rIns="0" bIns="0" rtlCol="0" anchor="t"/>
          <a:lstStyle/>
          <a:p>
            <a:pPr indent="0" marL="0">
              <a:buNone/>
            </a:pPr>
            <a:r>
              <a:rPr lang="en-US" sz="5000" dirty="0">
                <a:solidFill>
                  <a:srgbClr val="D97757"/>
                </a:solidFill>
                <a:latin typeface="Charter" pitchFamily="34" charset="0"/>
                <a:ea typeface="Charter" pitchFamily="34" charset="-122"/>
                <a:cs typeface="Charter" pitchFamily="34" charset="-120"/>
              </a:rPr>
              <a:t>1.20 s</a:t>
            </a:r>
            <a:endParaRPr lang="en-US" sz="5000" dirty="0"/>
          </a:p>
        </p:txBody>
      </p:sp>
      <p:sp>
        <p:nvSpPr>
          <p:cNvPr id="12" name="Text 10"/>
          <p:cNvSpPr/>
          <p:nvPr/>
        </p:nvSpPr>
        <p:spPr>
          <a:xfrm>
            <a:off x="4709160" y="2971800"/>
            <a:ext cx="2926080" cy="365760"/>
          </a:xfrm>
          <a:prstGeom prst="rect">
            <a:avLst/>
          </a:prstGeom>
          <a:noFill/>
          <a:ln/>
        </p:spPr>
        <p:txBody>
          <a:bodyPr wrap="square" lIns="0" tIns="0" rIns="0" bIns="0" rtlCol="0" anchor="t"/>
          <a:lstStyle/>
          <a:p>
            <a:pPr indent="0" marL="0">
              <a:buNone/>
            </a:pPr>
            <a:r>
              <a:rPr lang="en-US" sz="1500" dirty="0">
                <a:solidFill>
                  <a:srgbClr val="3D3D3A"/>
                </a:solidFill>
                <a:latin typeface="Avenir Next" pitchFamily="34" charset="0"/>
                <a:ea typeface="Avenir Next" pitchFamily="34" charset="-122"/>
                <a:cs typeface="Avenir Next" pitchFamily="34" charset="-120"/>
              </a:rPr>
              <a:t>average time</a:t>
            </a:r>
            <a:endParaRPr lang="en-US" sz="1500" dirty="0"/>
          </a:p>
        </p:txBody>
      </p:sp>
      <p:sp>
        <p:nvSpPr>
          <p:cNvPr id="13" name="Shape 11"/>
          <p:cNvSpPr/>
          <p:nvPr/>
        </p:nvSpPr>
        <p:spPr>
          <a:xfrm>
            <a:off x="8046720" y="1828800"/>
            <a:ext cx="3474720" cy="1828800"/>
          </a:xfrm>
          <a:prstGeom prst="rect">
            <a:avLst/>
          </a:prstGeom>
          <a:solidFill>
            <a:srgbClr val="FAF9F5"/>
          </a:solidFill>
          <a:ln w="9525">
            <a:solidFill>
              <a:srgbClr val="D9D5C8"/>
            </a:solidFill>
            <a:prstDash val="solid"/>
          </a:ln>
        </p:spPr>
      </p:sp>
      <p:sp>
        <p:nvSpPr>
          <p:cNvPr id="14" name="Text 12"/>
          <p:cNvSpPr/>
          <p:nvPr/>
        </p:nvSpPr>
        <p:spPr>
          <a:xfrm>
            <a:off x="8412480" y="2011680"/>
            <a:ext cx="2926080" cy="868680"/>
          </a:xfrm>
          <a:prstGeom prst="rect">
            <a:avLst/>
          </a:prstGeom>
          <a:noFill/>
          <a:ln/>
        </p:spPr>
        <p:txBody>
          <a:bodyPr wrap="square" lIns="0" tIns="0" rIns="0" bIns="0" rtlCol="0" anchor="t"/>
          <a:lstStyle/>
          <a:p>
            <a:pPr indent="0" marL="0">
              <a:buNone/>
            </a:pPr>
            <a:r>
              <a:rPr lang="en-US" sz="5000" dirty="0">
                <a:solidFill>
                  <a:srgbClr val="D97757"/>
                </a:solidFill>
                <a:latin typeface="Charter" pitchFamily="34" charset="0"/>
                <a:ea typeface="Charter" pitchFamily="34" charset="-122"/>
                <a:cs typeface="Charter" pitchFamily="34" charset="-120"/>
              </a:rPr>
              <a:t>1.29 s</a:t>
            </a:r>
            <a:endParaRPr lang="en-US" sz="5000" dirty="0"/>
          </a:p>
        </p:txBody>
      </p:sp>
      <p:sp>
        <p:nvSpPr>
          <p:cNvPr id="15" name="Text 13"/>
          <p:cNvSpPr/>
          <p:nvPr/>
        </p:nvSpPr>
        <p:spPr>
          <a:xfrm>
            <a:off x="8412480" y="2971800"/>
            <a:ext cx="2926080" cy="365760"/>
          </a:xfrm>
          <a:prstGeom prst="rect">
            <a:avLst/>
          </a:prstGeom>
          <a:noFill/>
          <a:ln/>
        </p:spPr>
        <p:txBody>
          <a:bodyPr wrap="square" lIns="0" tIns="0" rIns="0" bIns="0" rtlCol="0" anchor="t"/>
          <a:lstStyle/>
          <a:p>
            <a:pPr indent="0" marL="0">
              <a:buNone/>
            </a:pPr>
            <a:r>
              <a:rPr lang="en-US" sz="1500" dirty="0">
                <a:solidFill>
                  <a:srgbClr val="3D3D3A"/>
                </a:solidFill>
                <a:latin typeface="Avenir Next" pitchFamily="34" charset="0"/>
                <a:ea typeface="Avenir Next" pitchFamily="34" charset="-122"/>
                <a:cs typeface="Avenir Next" pitchFamily="34" charset="-120"/>
              </a:rPr>
              <a:t>slowest request</a:t>
            </a:r>
            <a:endParaRPr lang="en-US" sz="1500" dirty="0"/>
          </a:p>
        </p:txBody>
      </p:sp>
      <p:sp>
        <p:nvSpPr>
          <p:cNvPr id="16" name="Text 14"/>
          <p:cNvSpPr/>
          <p:nvPr/>
        </p:nvSpPr>
        <p:spPr>
          <a:xfrm>
            <a:off x="640080" y="4023360"/>
            <a:ext cx="10881360" cy="457200"/>
          </a:xfrm>
          <a:prstGeom prst="rect">
            <a:avLst/>
          </a:prstGeom>
          <a:noFill/>
          <a:ln/>
        </p:spPr>
        <p:txBody>
          <a:bodyPr wrap="square" lIns="0" tIns="0" rIns="0" bIns="0" rtlCol="0" anchor="t"/>
          <a:lstStyle/>
          <a:p>
            <a:pPr indent="0" marL="0">
              <a:buNone/>
            </a:pPr>
            <a:r>
              <a:rPr lang="en-US" sz="1600" dirty="0">
                <a:solidFill>
                  <a:srgbClr val="3D3D3A"/>
                </a:solidFill>
                <a:latin typeface="Avenir Next" pitchFamily="34" charset="0"/>
                <a:ea typeface="Avenir Next" pitchFamily="34" charset="-122"/>
                <a:cs typeface="Avenir Next" pitchFamily="34" charset="-120"/>
              </a:rPr>
              <a:t>On a real system these numbers live on a dashboard, with an alert when the average goes above a limit.</a:t>
            </a:r>
            <a:endParaRPr lang="en-US" sz="1600" dirty="0"/>
          </a:p>
        </p:txBody>
      </p:sp>
      <p:sp>
        <p:nvSpPr>
          <p:cNvPr id="17" name="Text 15"/>
          <p:cNvSpPr/>
          <p:nvPr/>
        </p:nvSpPr>
        <p:spPr>
          <a:xfrm>
            <a:off x="640080" y="4572000"/>
            <a:ext cx="10881360" cy="457200"/>
          </a:xfrm>
          <a:prstGeom prst="rect">
            <a:avLst/>
          </a:prstGeom>
          <a:noFill/>
          <a:ln/>
        </p:spPr>
        <p:txBody>
          <a:bodyPr wrap="square" lIns="0" tIns="0" rIns="0" bIns="0" rtlCol="0" anchor="t"/>
          <a:lstStyle/>
          <a:p>
            <a:pPr indent="0" marL="0">
              <a:buNone/>
            </a:pPr>
            <a:r>
              <a:rPr lang="en-US" sz="1600" dirty="0">
                <a:solidFill>
                  <a:srgbClr val="141413"/>
                </a:solidFill>
                <a:latin typeface="Avenir Next" pitchFamily="34" charset="0"/>
                <a:ea typeface="Avenir Next" pitchFamily="34" charset="-122"/>
                <a:cs typeface="Avenir Next" pitchFamily="34" charset="-120"/>
              </a:rPr>
              <a:t>But “the average is 1.2 seconds” does not say whether the weather lookup or the AI model was slow.</a:t>
            </a:r>
            <a:endParaRPr lang="en-US" sz="1600" dirty="0"/>
          </a:p>
        </p:txBody>
      </p:sp>
      <p:sp>
        <p:nvSpPr>
          <p:cNvPr id="18" name="Text 16"/>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87867F"/>
                </a:solidFill>
                <a:latin typeface="Avenir Next" pitchFamily="34" charset="0"/>
                <a:ea typeface="Avenir Next" pitchFamily="34" charset="-122"/>
                <a:cs typeface="Avenir Next" pitchFamily="34" charset="-120"/>
              </a:rPr>
              <a:t>Numbers from notebook 01, four cities.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F8D86"/>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F8D86"/>
                </a:solidFill>
                <a:latin typeface="Avenir Next" pitchFamily="34" charset="0"/>
                <a:ea typeface="Avenir Next" pitchFamily="34" charset="-122"/>
                <a:cs typeface="Avenir Next" pitchFamily="34" charset="-120"/>
              </a:rPr>
              <a:t>12</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i="1" dirty="0">
                <a:solidFill>
                  <a:srgbClr val="D97757"/>
                </a:solidFill>
                <a:latin typeface="Charter" pitchFamily="34" charset="0"/>
                <a:ea typeface="Charter" pitchFamily="34" charset="-122"/>
                <a:cs typeface="Charter" pitchFamily="34" charset="-120"/>
              </a:rPr>
              <a:t>A trace</a:t>
            </a:r>
            <a:pPr indent="0" marL="0">
              <a:buNone/>
            </a:pPr>
            <a:r>
              <a:rPr lang="en-US" sz="2800" dirty="0">
                <a:solidFill>
                  <a:srgbClr val="F0EEE6"/>
                </a:solidFill>
                <a:latin typeface="Charter" pitchFamily="34" charset="0"/>
                <a:ea typeface="Charter" pitchFamily="34" charset="-122"/>
                <a:cs typeface="Charter" pitchFamily="34" charset="-120"/>
              </a:rPr>
              <a:t> shows one request step by step, and where time went</a:t>
            </a:r>
            <a:endParaRPr lang="en-US" sz="2800" dirty="0"/>
          </a:p>
        </p:txBody>
      </p:sp>
      <p:sp>
        <p:nvSpPr>
          <p:cNvPr id="7" name="Shape 5"/>
          <p:cNvSpPr/>
          <p:nvPr/>
        </p:nvSpPr>
        <p:spPr>
          <a:xfrm>
            <a:off x="640080" y="1783080"/>
            <a:ext cx="10911535" cy="2377440"/>
          </a:xfrm>
          <a:prstGeom prst="rect">
            <a:avLst/>
          </a:prstGeom>
          <a:solidFill>
            <a:srgbClr val="262624"/>
          </a:solidFill>
          <a:ln w="9525">
            <a:solidFill>
              <a:srgbClr val="3A3936"/>
            </a:solidFill>
            <a:prstDash val="solid"/>
          </a:ln>
        </p:spPr>
      </p:sp>
      <p:sp>
        <p:nvSpPr>
          <p:cNvPr id="8" name="Shape 6"/>
          <p:cNvSpPr/>
          <p:nvPr/>
        </p:nvSpPr>
        <p:spPr>
          <a:xfrm>
            <a:off x="3383280" y="1965960"/>
            <a:ext cx="0" cy="1563624"/>
          </a:xfrm>
          <a:prstGeom prst="line">
            <a:avLst/>
          </a:prstGeom>
          <a:noFill/>
          <a:ln w="9525">
            <a:solidFill>
              <a:srgbClr val="3A3936"/>
            </a:solidFill>
            <a:prstDash val="solid"/>
          </a:ln>
        </p:spPr>
      </p:sp>
      <p:sp>
        <p:nvSpPr>
          <p:cNvPr id="9" name="Text 7"/>
          <p:cNvSpPr/>
          <p:nvPr/>
        </p:nvSpPr>
        <p:spPr>
          <a:xfrm>
            <a:off x="3017520" y="3575304"/>
            <a:ext cx="731520" cy="228600"/>
          </a:xfrm>
          <a:prstGeom prst="rect">
            <a:avLst/>
          </a:prstGeom>
          <a:noFill/>
          <a:ln/>
        </p:spPr>
        <p:txBody>
          <a:bodyPr wrap="square" lIns="0" tIns="0" rIns="0" bIns="0" rtlCol="0" anchor="t"/>
          <a:lstStyle/>
          <a:p>
            <a:pPr algn="ctr" indent="0" marL="0">
              <a:buNone/>
            </a:pPr>
            <a:r>
              <a:rPr lang="en-US" sz="1000" dirty="0">
                <a:solidFill>
                  <a:srgbClr val="8F8D86"/>
                </a:solidFill>
                <a:latin typeface="Avenir Next" pitchFamily="34" charset="0"/>
                <a:ea typeface="Avenir Next" pitchFamily="34" charset="-122"/>
                <a:cs typeface="Avenir Next" pitchFamily="34" charset="-120"/>
              </a:rPr>
              <a:t>0s</a:t>
            </a:r>
            <a:endParaRPr lang="en-US" sz="1000" dirty="0"/>
          </a:p>
        </p:txBody>
      </p:sp>
      <p:sp>
        <p:nvSpPr>
          <p:cNvPr id="10" name="Shape 8"/>
          <p:cNvSpPr/>
          <p:nvPr/>
        </p:nvSpPr>
        <p:spPr>
          <a:xfrm>
            <a:off x="5222138" y="1965960"/>
            <a:ext cx="0" cy="1563624"/>
          </a:xfrm>
          <a:prstGeom prst="line">
            <a:avLst/>
          </a:prstGeom>
          <a:noFill/>
          <a:ln w="9525">
            <a:solidFill>
              <a:srgbClr val="3A3936"/>
            </a:solidFill>
            <a:prstDash val="solid"/>
          </a:ln>
        </p:spPr>
      </p:sp>
      <p:sp>
        <p:nvSpPr>
          <p:cNvPr id="11" name="Text 9"/>
          <p:cNvSpPr/>
          <p:nvPr/>
        </p:nvSpPr>
        <p:spPr>
          <a:xfrm>
            <a:off x="4856378" y="3575304"/>
            <a:ext cx="731520" cy="228600"/>
          </a:xfrm>
          <a:prstGeom prst="rect">
            <a:avLst/>
          </a:prstGeom>
          <a:noFill/>
          <a:ln/>
        </p:spPr>
        <p:txBody>
          <a:bodyPr wrap="square" lIns="0" tIns="0" rIns="0" bIns="0" rtlCol="0" anchor="t"/>
          <a:lstStyle/>
          <a:p>
            <a:pPr algn="ctr" indent="0" marL="0">
              <a:buNone/>
            </a:pPr>
            <a:r>
              <a:rPr lang="en-US" sz="1000" dirty="0">
                <a:solidFill>
                  <a:srgbClr val="8F8D86"/>
                </a:solidFill>
                <a:latin typeface="Avenir Next" pitchFamily="34" charset="0"/>
                <a:ea typeface="Avenir Next" pitchFamily="34" charset="-122"/>
                <a:cs typeface="Avenir Next" pitchFamily="34" charset="-120"/>
              </a:rPr>
              <a:t>0.5s</a:t>
            </a:r>
            <a:endParaRPr lang="en-US" sz="1000" dirty="0"/>
          </a:p>
        </p:txBody>
      </p:sp>
      <p:sp>
        <p:nvSpPr>
          <p:cNvPr id="12" name="Shape 10"/>
          <p:cNvSpPr/>
          <p:nvPr/>
        </p:nvSpPr>
        <p:spPr>
          <a:xfrm>
            <a:off x="7060997" y="1965960"/>
            <a:ext cx="0" cy="1563624"/>
          </a:xfrm>
          <a:prstGeom prst="line">
            <a:avLst/>
          </a:prstGeom>
          <a:noFill/>
          <a:ln w="9525">
            <a:solidFill>
              <a:srgbClr val="3A3936"/>
            </a:solidFill>
            <a:prstDash val="solid"/>
          </a:ln>
        </p:spPr>
      </p:sp>
      <p:sp>
        <p:nvSpPr>
          <p:cNvPr id="13" name="Text 11"/>
          <p:cNvSpPr/>
          <p:nvPr/>
        </p:nvSpPr>
        <p:spPr>
          <a:xfrm>
            <a:off x="6695237" y="3575304"/>
            <a:ext cx="731520" cy="228600"/>
          </a:xfrm>
          <a:prstGeom prst="rect">
            <a:avLst/>
          </a:prstGeom>
          <a:noFill/>
          <a:ln/>
        </p:spPr>
        <p:txBody>
          <a:bodyPr wrap="square" lIns="0" tIns="0" rIns="0" bIns="0" rtlCol="0" anchor="t"/>
          <a:lstStyle/>
          <a:p>
            <a:pPr algn="ctr" indent="0" marL="0">
              <a:buNone/>
            </a:pPr>
            <a:r>
              <a:rPr lang="en-US" sz="1000" dirty="0">
                <a:solidFill>
                  <a:srgbClr val="8F8D86"/>
                </a:solidFill>
                <a:latin typeface="Avenir Next" pitchFamily="34" charset="0"/>
                <a:ea typeface="Avenir Next" pitchFamily="34" charset="-122"/>
                <a:cs typeface="Avenir Next" pitchFamily="34" charset="-120"/>
              </a:rPr>
              <a:t>1s</a:t>
            </a:r>
            <a:endParaRPr lang="en-US" sz="1000" dirty="0"/>
          </a:p>
        </p:txBody>
      </p:sp>
      <p:sp>
        <p:nvSpPr>
          <p:cNvPr id="14" name="Shape 12"/>
          <p:cNvSpPr/>
          <p:nvPr/>
        </p:nvSpPr>
        <p:spPr>
          <a:xfrm>
            <a:off x="8899855" y="1965960"/>
            <a:ext cx="0" cy="1563624"/>
          </a:xfrm>
          <a:prstGeom prst="line">
            <a:avLst/>
          </a:prstGeom>
          <a:noFill/>
          <a:ln w="9525">
            <a:solidFill>
              <a:srgbClr val="3A3936"/>
            </a:solidFill>
            <a:prstDash val="solid"/>
          </a:ln>
        </p:spPr>
      </p:sp>
      <p:sp>
        <p:nvSpPr>
          <p:cNvPr id="15" name="Text 13"/>
          <p:cNvSpPr/>
          <p:nvPr/>
        </p:nvSpPr>
        <p:spPr>
          <a:xfrm>
            <a:off x="8534095" y="3575304"/>
            <a:ext cx="731520" cy="228600"/>
          </a:xfrm>
          <a:prstGeom prst="rect">
            <a:avLst/>
          </a:prstGeom>
          <a:noFill/>
          <a:ln/>
        </p:spPr>
        <p:txBody>
          <a:bodyPr wrap="square" lIns="0" tIns="0" rIns="0" bIns="0" rtlCol="0" anchor="t"/>
          <a:lstStyle/>
          <a:p>
            <a:pPr algn="ctr" indent="0" marL="0">
              <a:buNone/>
            </a:pPr>
            <a:r>
              <a:rPr lang="en-US" sz="1000" dirty="0">
                <a:solidFill>
                  <a:srgbClr val="8F8D86"/>
                </a:solidFill>
                <a:latin typeface="Avenir Next" pitchFamily="34" charset="0"/>
                <a:ea typeface="Avenir Next" pitchFamily="34" charset="-122"/>
                <a:cs typeface="Avenir Next" pitchFamily="34" charset="-120"/>
              </a:rPr>
              <a:t>1.5s</a:t>
            </a:r>
            <a:endParaRPr lang="en-US" sz="1000" dirty="0"/>
          </a:p>
        </p:txBody>
      </p:sp>
      <p:sp>
        <p:nvSpPr>
          <p:cNvPr id="16" name="Text 14"/>
          <p:cNvSpPr/>
          <p:nvPr/>
        </p:nvSpPr>
        <p:spPr>
          <a:xfrm>
            <a:off x="914400" y="2057400"/>
            <a:ext cx="2468880" cy="329184"/>
          </a:xfrm>
          <a:prstGeom prst="rect">
            <a:avLst/>
          </a:prstGeom>
          <a:noFill/>
          <a:ln/>
        </p:spPr>
        <p:txBody>
          <a:bodyPr wrap="square" lIns="0" tIns="0" rIns="0" bIns="0" rtlCol="0" anchor="ctr"/>
          <a:lstStyle/>
          <a:p>
            <a:pPr indent="0" marL="0">
              <a:buNone/>
            </a:pPr>
            <a:r>
              <a:rPr lang="en-US" sz="1200" dirty="0">
                <a:solidFill>
                  <a:srgbClr val="F0EEE6"/>
                </a:solidFill>
                <a:latin typeface="Menlo" pitchFamily="34" charset="0"/>
                <a:ea typeface="Menlo" pitchFamily="34" charset="-122"/>
                <a:cs typeface="Menlo" pitchFamily="34" charset="-120"/>
              </a:rPr>
              <a:t>weather_assistant</a:t>
            </a:r>
            <a:endParaRPr lang="en-US" sz="1200" dirty="0"/>
          </a:p>
        </p:txBody>
      </p:sp>
      <p:sp>
        <p:nvSpPr>
          <p:cNvPr id="17" name="Shape 15"/>
          <p:cNvSpPr/>
          <p:nvPr/>
        </p:nvSpPr>
        <p:spPr>
          <a:xfrm>
            <a:off x="3383280" y="2093976"/>
            <a:ext cx="4302929" cy="256032"/>
          </a:xfrm>
          <a:prstGeom prst="rect">
            <a:avLst/>
          </a:prstGeom>
          <a:solidFill>
            <a:srgbClr val="D97757"/>
          </a:solidFill>
          <a:ln w="12700">
            <a:solidFill>
              <a:srgbClr val="D97757"/>
            </a:solidFill>
            <a:prstDash val="solid"/>
          </a:ln>
        </p:spPr>
      </p:sp>
      <p:sp>
        <p:nvSpPr>
          <p:cNvPr id="18" name="Text 16"/>
          <p:cNvSpPr/>
          <p:nvPr/>
        </p:nvSpPr>
        <p:spPr>
          <a:xfrm>
            <a:off x="7777649" y="2057400"/>
            <a:ext cx="2377440" cy="329184"/>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1.17 s  (whole request)</a:t>
            </a:r>
            <a:endParaRPr lang="en-US" sz="1100" dirty="0"/>
          </a:p>
        </p:txBody>
      </p:sp>
      <p:sp>
        <p:nvSpPr>
          <p:cNvPr id="19" name="Text 17"/>
          <p:cNvSpPr/>
          <p:nvPr/>
        </p:nvSpPr>
        <p:spPr>
          <a:xfrm>
            <a:off x="1188720" y="2532888"/>
            <a:ext cx="2194560" cy="329184"/>
          </a:xfrm>
          <a:prstGeom prst="rect">
            <a:avLst/>
          </a:prstGeom>
          <a:noFill/>
          <a:ln/>
        </p:spPr>
        <p:txBody>
          <a:bodyPr wrap="square" lIns="0" tIns="0" rIns="0" bIns="0" rtlCol="0" anchor="ctr"/>
          <a:lstStyle/>
          <a:p>
            <a:pPr indent="0" marL="0">
              <a:buNone/>
            </a:pPr>
            <a:r>
              <a:rPr lang="en-US" sz="1200" dirty="0">
                <a:solidFill>
                  <a:srgbClr val="F0EEE6"/>
                </a:solidFill>
                <a:latin typeface="Menlo" pitchFamily="34" charset="0"/>
                <a:ea typeface="Menlo" pitchFamily="34" charset="-122"/>
                <a:cs typeface="Menlo" pitchFamily="34" charset="-120"/>
              </a:rPr>
              <a:t>get_weather</a:t>
            </a:r>
            <a:endParaRPr lang="en-US" sz="1200" dirty="0"/>
          </a:p>
        </p:txBody>
      </p:sp>
      <p:sp>
        <p:nvSpPr>
          <p:cNvPr id="20" name="Shape 18"/>
          <p:cNvSpPr/>
          <p:nvPr/>
        </p:nvSpPr>
        <p:spPr>
          <a:xfrm>
            <a:off x="3383280" y="2569464"/>
            <a:ext cx="1838858" cy="256032"/>
          </a:xfrm>
          <a:prstGeom prst="rect">
            <a:avLst/>
          </a:prstGeom>
          <a:solidFill>
            <a:srgbClr val="D4A27F"/>
          </a:solidFill>
          <a:ln w="12700">
            <a:solidFill>
              <a:srgbClr val="D4A27F"/>
            </a:solidFill>
            <a:prstDash val="solid"/>
          </a:ln>
        </p:spPr>
      </p:sp>
      <p:sp>
        <p:nvSpPr>
          <p:cNvPr id="21" name="Text 19"/>
          <p:cNvSpPr/>
          <p:nvPr/>
        </p:nvSpPr>
        <p:spPr>
          <a:xfrm>
            <a:off x="5313578" y="2532888"/>
            <a:ext cx="2377440" cy="329184"/>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0.50 s</a:t>
            </a:r>
            <a:endParaRPr lang="en-US" sz="1100" dirty="0"/>
          </a:p>
        </p:txBody>
      </p:sp>
      <p:sp>
        <p:nvSpPr>
          <p:cNvPr id="22" name="Text 20"/>
          <p:cNvSpPr/>
          <p:nvPr/>
        </p:nvSpPr>
        <p:spPr>
          <a:xfrm>
            <a:off x="1188720" y="3008376"/>
            <a:ext cx="2194560" cy="329184"/>
          </a:xfrm>
          <a:prstGeom prst="rect">
            <a:avLst/>
          </a:prstGeom>
          <a:noFill/>
          <a:ln/>
        </p:spPr>
        <p:txBody>
          <a:bodyPr wrap="square" lIns="0" tIns="0" rIns="0" bIns="0" rtlCol="0" anchor="ctr"/>
          <a:lstStyle/>
          <a:p>
            <a:pPr indent="0" marL="0">
              <a:buNone/>
            </a:pPr>
            <a:r>
              <a:rPr lang="en-US" sz="1200" dirty="0">
                <a:solidFill>
                  <a:srgbClr val="F0EEE6"/>
                </a:solidFill>
                <a:latin typeface="Menlo" pitchFamily="34" charset="0"/>
                <a:ea typeface="Menlo" pitchFamily="34" charset="-122"/>
                <a:cs typeface="Menlo" pitchFamily="34" charset="-120"/>
              </a:rPr>
              <a:t>ask_ai</a:t>
            </a:r>
            <a:endParaRPr lang="en-US" sz="1200" dirty="0"/>
          </a:p>
        </p:txBody>
      </p:sp>
      <p:sp>
        <p:nvSpPr>
          <p:cNvPr id="23" name="Shape 21"/>
          <p:cNvSpPr/>
          <p:nvPr/>
        </p:nvSpPr>
        <p:spPr>
          <a:xfrm>
            <a:off x="5222138" y="3044952"/>
            <a:ext cx="2427293" cy="256032"/>
          </a:xfrm>
          <a:prstGeom prst="rect">
            <a:avLst/>
          </a:prstGeom>
          <a:solidFill>
            <a:srgbClr val="788C5D"/>
          </a:solidFill>
          <a:ln w="12700">
            <a:solidFill>
              <a:srgbClr val="788C5D"/>
            </a:solidFill>
            <a:prstDash val="solid"/>
          </a:ln>
        </p:spPr>
      </p:sp>
      <p:sp>
        <p:nvSpPr>
          <p:cNvPr id="24" name="Text 22"/>
          <p:cNvSpPr/>
          <p:nvPr/>
        </p:nvSpPr>
        <p:spPr>
          <a:xfrm>
            <a:off x="7740871" y="3008376"/>
            <a:ext cx="2377440" cy="329184"/>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0.66 s</a:t>
            </a:r>
            <a:endParaRPr lang="en-US" sz="1100" dirty="0"/>
          </a:p>
        </p:txBody>
      </p:sp>
      <p:sp>
        <p:nvSpPr>
          <p:cNvPr id="25" name="Text 23"/>
          <p:cNvSpPr/>
          <p:nvPr/>
        </p:nvSpPr>
        <p:spPr>
          <a:xfrm>
            <a:off x="640080" y="4434840"/>
            <a:ext cx="1828800" cy="320040"/>
          </a:xfrm>
          <a:prstGeom prst="rect">
            <a:avLst/>
          </a:prstGeom>
          <a:noFill/>
          <a:ln/>
        </p:spPr>
        <p:txBody>
          <a:bodyPr wrap="square" lIns="0" tIns="0" rIns="0" bIns="0" rtlCol="0" anchor="t"/>
          <a:lstStyle/>
          <a:p>
            <a:pPr indent="0" marL="0">
              <a:buNone/>
            </a:pPr>
            <a:r>
              <a:rPr lang="en-US" sz="1600" b="1" dirty="0">
                <a:solidFill>
                  <a:srgbClr val="D97757"/>
                </a:solidFill>
                <a:latin typeface="Avenir Next" pitchFamily="34" charset="0"/>
                <a:ea typeface="Avenir Next" pitchFamily="34" charset="-122"/>
                <a:cs typeface="Avenir Next" pitchFamily="34" charset="-120"/>
              </a:rPr>
              <a:t>Trace</a:t>
            </a:r>
            <a:endParaRPr lang="en-US" sz="1600" dirty="0"/>
          </a:p>
        </p:txBody>
      </p:sp>
      <p:sp>
        <p:nvSpPr>
          <p:cNvPr id="26" name="Text 24"/>
          <p:cNvSpPr/>
          <p:nvPr/>
        </p:nvSpPr>
        <p:spPr>
          <a:xfrm>
            <a:off x="1920240" y="4434840"/>
            <a:ext cx="9144000" cy="320040"/>
          </a:xfrm>
          <a:prstGeom prst="rect">
            <a:avLst/>
          </a:prstGeom>
          <a:noFill/>
          <a:ln/>
        </p:spPr>
        <p:txBody>
          <a:bodyPr wrap="square" lIns="0" tIns="0" rIns="0" bIns="0" rtlCol="0" anchor="t"/>
          <a:lstStyle/>
          <a:p>
            <a:pPr indent="0" marL="0">
              <a:buNone/>
            </a:pPr>
            <a:r>
              <a:rPr lang="en-US" sz="1500" dirty="0">
                <a:solidFill>
                  <a:srgbClr val="C9C6BC"/>
                </a:solidFill>
                <a:latin typeface="Avenir Next" pitchFamily="34" charset="0"/>
                <a:ea typeface="Avenir Next" pitchFamily="34" charset="-122"/>
                <a:cs typeface="Avenir Next" pitchFamily="34" charset="-120"/>
              </a:rPr>
              <a:t>The whole story of one request (the top bar).</a:t>
            </a:r>
            <a:endParaRPr lang="en-US" sz="1500" dirty="0"/>
          </a:p>
        </p:txBody>
      </p:sp>
      <p:sp>
        <p:nvSpPr>
          <p:cNvPr id="27" name="Text 25"/>
          <p:cNvSpPr/>
          <p:nvPr/>
        </p:nvSpPr>
        <p:spPr>
          <a:xfrm>
            <a:off x="640080" y="4892040"/>
            <a:ext cx="1828800" cy="320040"/>
          </a:xfrm>
          <a:prstGeom prst="rect">
            <a:avLst/>
          </a:prstGeom>
          <a:noFill/>
          <a:ln/>
        </p:spPr>
        <p:txBody>
          <a:bodyPr wrap="square" lIns="0" tIns="0" rIns="0" bIns="0" rtlCol="0" anchor="t"/>
          <a:lstStyle/>
          <a:p>
            <a:pPr indent="0" marL="0">
              <a:buNone/>
            </a:pPr>
            <a:r>
              <a:rPr lang="en-US" sz="1600" b="1" dirty="0">
                <a:solidFill>
                  <a:srgbClr val="6A9BCC"/>
                </a:solidFill>
                <a:latin typeface="Avenir Next" pitchFamily="34" charset="0"/>
                <a:ea typeface="Avenir Next" pitchFamily="34" charset="-122"/>
                <a:cs typeface="Avenir Next" pitchFamily="34" charset="-120"/>
              </a:rPr>
              <a:t>Span</a:t>
            </a:r>
            <a:endParaRPr lang="en-US" sz="1600" dirty="0"/>
          </a:p>
        </p:txBody>
      </p:sp>
      <p:sp>
        <p:nvSpPr>
          <p:cNvPr id="28" name="Text 26"/>
          <p:cNvSpPr/>
          <p:nvPr/>
        </p:nvSpPr>
        <p:spPr>
          <a:xfrm>
            <a:off x="1920240" y="4892040"/>
            <a:ext cx="9144000" cy="320040"/>
          </a:xfrm>
          <a:prstGeom prst="rect">
            <a:avLst/>
          </a:prstGeom>
          <a:noFill/>
          <a:ln/>
        </p:spPr>
        <p:txBody>
          <a:bodyPr wrap="square" lIns="0" tIns="0" rIns="0" bIns="0" rtlCol="0" anchor="t"/>
          <a:lstStyle/>
          <a:p>
            <a:pPr indent="0" marL="0">
              <a:buNone/>
            </a:pPr>
            <a:r>
              <a:rPr lang="en-US" sz="1500" dirty="0">
                <a:solidFill>
                  <a:srgbClr val="C9C6BC"/>
                </a:solidFill>
                <a:latin typeface="Avenir Next" pitchFamily="34" charset="0"/>
                <a:ea typeface="Avenir Next" pitchFamily="34" charset="-122"/>
                <a:cs typeface="Avenir Next" pitchFamily="34" charset="-120"/>
              </a:rPr>
              <a:t>One step, with a start and an end (each bar). Steps sit inside the request.</a:t>
            </a:r>
            <a:endParaRPr lang="en-US" sz="1500" dirty="0"/>
          </a:p>
        </p:txBody>
      </p:sp>
      <p:sp>
        <p:nvSpPr>
          <p:cNvPr id="29" name="Text 27"/>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8F8D86"/>
                </a:solidFill>
                <a:latin typeface="Avenir Next" pitchFamily="34" charset="0"/>
                <a:ea typeface="Avenir Next" pitchFamily="34" charset="-122"/>
                <a:cs typeface="Avenir Next" pitchFamily="34" charset="-120"/>
              </a:rPr>
              <a:t>Real trace of weather_assistant("Tokyo") from notebook 01. Time runs left to right.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13</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Creating spans takes </a:t>
            </a:r>
            <a:pPr indent="0" marL="0">
              <a:buNone/>
            </a:pPr>
            <a:r>
              <a:rPr lang="en-US" sz="2800" i="1" dirty="0">
                <a:solidFill>
                  <a:srgbClr val="D97757"/>
                </a:solidFill>
                <a:latin typeface="Charter" pitchFamily="34" charset="0"/>
                <a:ea typeface="Charter" pitchFamily="34" charset="-122"/>
                <a:cs typeface="Charter" pitchFamily="34" charset="-120"/>
              </a:rPr>
              <a:t>one line per step</a:t>
            </a:r>
            <a:pPr indent="0" marL="0">
              <a:buNone/>
            </a:pPr>
            <a:r>
              <a:rPr lang="en-US" sz="2800" dirty="0">
                <a:solidFill>
                  <a:srgbClr val="141413"/>
                </a:solidFill>
                <a:latin typeface="Charter" pitchFamily="34" charset="0"/>
                <a:ea typeface="Charter" pitchFamily="34" charset="-122"/>
                <a:cs typeface="Charter" pitchFamily="34" charset="-120"/>
              </a:rPr>
              <a:t> with OpenTelemetry</a:t>
            </a:r>
            <a:endParaRPr lang="en-US" sz="2800" dirty="0"/>
          </a:p>
        </p:txBody>
      </p:sp>
      <p:sp>
        <p:nvSpPr>
          <p:cNvPr id="7" name="Shape 5"/>
          <p:cNvSpPr/>
          <p:nvPr/>
        </p:nvSpPr>
        <p:spPr>
          <a:xfrm>
            <a:off x="640080" y="1783080"/>
            <a:ext cx="7223760" cy="3108960"/>
          </a:xfrm>
          <a:prstGeom prst="rect">
            <a:avLst/>
          </a:prstGeom>
          <a:solidFill>
            <a:srgbClr val="1A1918"/>
          </a:solidFill>
          <a:ln w="12700">
            <a:solidFill>
              <a:srgbClr val="1A1918"/>
            </a:solidFill>
            <a:prstDash val="solid"/>
          </a:ln>
        </p:spPr>
      </p:sp>
      <p:sp>
        <p:nvSpPr>
          <p:cNvPr id="8" name="Shape 6"/>
          <p:cNvSpPr/>
          <p:nvPr/>
        </p:nvSpPr>
        <p:spPr>
          <a:xfrm>
            <a:off x="640080" y="1783080"/>
            <a:ext cx="54864" cy="3108960"/>
          </a:xfrm>
          <a:prstGeom prst="rect">
            <a:avLst/>
          </a:prstGeom>
          <a:solidFill>
            <a:srgbClr val="D97757"/>
          </a:solidFill>
          <a:ln w="12700">
            <a:solidFill>
              <a:srgbClr val="D97757"/>
            </a:solidFill>
            <a:prstDash val="solid"/>
          </a:ln>
        </p:spPr>
      </p:sp>
      <p:sp>
        <p:nvSpPr>
          <p:cNvPr id="9" name="Text 7"/>
          <p:cNvSpPr/>
          <p:nvPr/>
        </p:nvSpPr>
        <p:spPr>
          <a:xfrm>
            <a:off x="914400" y="2011680"/>
            <a:ext cx="6675120" cy="2651760"/>
          </a:xfrm>
          <a:prstGeom prst="rect">
            <a:avLst/>
          </a:prstGeom>
          <a:noFill/>
          <a:ln/>
        </p:spPr>
        <p:txBody>
          <a:bodyPr wrap="square" lIns="0" tIns="0" rIns="0" bIns="0" rtlCol="0" anchor="t"/>
          <a:lstStyle/>
          <a:p>
            <a:pPr indent="0" marL="0">
              <a:spcAft>
                <a:spcPts val="300"/>
              </a:spcAft>
              <a:buNone/>
            </a:pPr>
            <a:r>
              <a:rPr lang="en-US" sz="1300" dirty="0">
                <a:solidFill>
                  <a:srgbClr val="E08C6B"/>
                </a:solidFill>
                <a:latin typeface="Menlo" pitchFamily="34" charset="0"/>
                <a:ea typeface="Menlo" pitchFamily="34" charset="-122"/>
                <a:cs typeface="Menlo" pitchFamily="34" charset="-120"/>
              </a:rPr>
              <a:t>def </a:t>
            </a:r>
            <a:pPr indent="0" marL="0">
              <a:spcAft>
                <a:spcPts val="300"/>
              </a:spcAft>
              <a:buNone/>
            </a:pPr>
            <a:r>
              <a:rPr lang="en-US" sz="1300" dirty="0">
                <a:solidFill>
                  <a:srgbClr val="8DB4DC"/>
                </a:solidFill>
                <a:latin typeface="Menlo" pitchFamily="34" charset="0"/>
                <a:ea typeface="Menlo" pitchFamily="34" charset="-122"/>
                <a:cs typeface="Menlo" pitchFamily="34" charset="-120"/>
              </a:rPr>
              <a:t>weather_assistant</a:t>
            </a:r>
            <a:pPr indent="0" marL="0">
              <a:spcAft>
                <a:spcPts val="300"/>
              </a:spcAft>
              <a:buNone/>
            </a:pPr>
            <a:r>
              <a:rPr lang="en-US" sz="1300" dirty="0">
                <a:solidFill>
                  <a:srgbClr val="E8E6DC"/>
                </a:solidFill>
                <a:latin typeface="Menlo" pitchFamily="34" charset="0"/>
                <a:ea typeface="Menlo" pitchFamily="34" charset="-122"/>
                <a:cs typeface="Menlo" pitchFamily="34" charset="-120"/>
              </a:rPr>
              <a:t>(city):</a:t>
            </a:r>
            <a:endParaRPr lang="en-US" sz="1300" dirty="0"/>
          </a:p>
          <a:p>
            <a:pPr indent="0" marL="0">
              <a:spcAft>
                <a:spcPts val="300"/>
              </a:spcAft>
              <a:buNone/>
            </a:pPr>
            <a:r>
              <a:rPr lang="en-US" sz="1300" dirty="0">
                <a:solidFill>
                  <a:srgbClr val="E08C6B"/>
                </a:solidFill>
                <a:latin typeface="Menlo" pitchFamily="34" charset="0"/>
                <a:ea typeface="Menlo" pitchFamily="34" charset="-122"/>
                <a:cs typeface="Menlo" pitchFamily="34" charset="-120"/>
              </a:rPr>
              <a:t>    with </a:t>
            </a:r>
            <a:pPr indent="0" marL="0">
              <a:spcAft>
                <a:spcPts val="300"/>
              </a:spcAft>
              <a:buNone/>
            </a:pPr>
            <a:r>
              <a:rPr lang="en-US" sz="1300" dirty="0">
                <a:solidFill>
                  <a:srgbClr val="E8E6DC"/>
                </a:solidFill>
                <a:latin typeface="Menlo" pitchFamily="34" charset="0"/>
                <a:ea typeface="Menlo" pitchFamily="34" charset="-122"/>
                <a:cs typeface="Menlo" pitchFamily="34" charset="-120"/>
              </a:rPr>
              <a:t>tracer.start_as_current_span(</a:t>
            </a:r>
            <a:pPr indent="0" marL="0">
              <a:spcAft>
                <a:spcPts val="300"/>
              </a:spcAft>
              <a:buNone/>
            </a:pPr>
            <a:r>
              <a:rPr lang="en-US" sz="1300" dirty="0">
                <a:solidFill>
                  <a:srgbClr val="A7BC86"/>
                </a:solidFill>
                <a:latin typeface="Menlo" pitchFamily="34" charset="0"/>
                <a:ea typeface="Menlo" pitchFamily="34" charset="-122"/>
                <a:cs typeface="Menlo" pitchFamily="34" charset="-120"/>
              </a:rPr>
              <a:t>"weather_assistant"</a:t>
            </a:r>
            <a:pPr indent="0" marL="0">
              <a:spcAft>
                <a:spcPts val="300"/>
              </a:spcAft>
              <a:buNone/>
            </a:pPr>
            <a:r>
              <a:rPr lang="en-US" sz="1300" dirty="0">
                <a:solidFill>
                  <a:srgbClr val="E8E6DC"/>
                </a:solidFill>
                <a:latin typeface="Menlo" pitchFamily="34" charset="0"/>
                <a:ea typeface="Menlo" pitchFamily="34" charset="-122"/>
                <a:cs typeface="Menlo" pitchFamily="34" charset="-120"/>
              </a:rPr>
              <a:t>):</a:t>
            </a:r>
            <a:endParaRPr lang="en-US" sz="1300" dirty="0"/>
          </a:p>
          <a:p>
            <a:pPr indent="0" marL="0">
              <a:spcAft>
                <a:spcPts val="300"/>
              </a:spcAft>
              <a:buNone/>
            </a:pPr>
            <a:r>
              <a:rPr lang="en-US" sz="1300" dirty="0">
                <a:solidFill>
                  <a:srgbClr val="E08C6B"/>
                </a:solidFill>
                <a:latin typeface="Menlo" pitchFamily="34" charset="0"/>
                <a:ea typeface="Menlo" pitchFamily="34" charset="-122"/>
                <a:cs typeface="Menlo" pitchFamily="34" charset="-120"/>
              </a:rPr>
              <a:t>        with </a:t>
            </a:r>
            <a:pPr indent="0" marL="0">
              <a:spcAft>
                <a:spcPts val="300"/>
              </a:spcAft>
              <a:buNone/>
            </a:pPr>
            <a:r>
              <a:rPr lang="en-US" sz="1300" dirty="0">
                <a:solidFill>
                  <a:srgbClr val="E8E6DC"/>
                </a:solidFill>
                <a:latin typeface="Menlo" pitchFamily="34" charset="0"/>
                <a:ea typeface="Menlo" pitchFamily="34" charset="-122"/>
                <a:cs typeface="Menlo" pitchFamily="34" charset="-120"/>
              </a:rPr>
              <a:t>tracer.start_as_current_span(</a:t>
            </a:r>
            <a:pPr indent="0" marL="0">
              <a:spcAft>
                <a:spcPts val="300"/>
              </a:spcAft>
              <a:buNone/>
            </a:pPr>
            <a:r>
              <a:rPr lang="en-US" sz="1300" dirty="0">
                <a:solidFill>
                  <a:srgbClr val="A7BC86"/>
                </a:solidFill>
                <a:latin typeface="Menlo" pitchFamily="34" charset="0"/>
                <a:ea typeface="Menlo" pitchFamily="34" charset="-122"/>
                <a:cs typeface="Menlo" pitchFamily="34" charset="-120"/>
              </a:rPr>
              <a:t>"get_weather"</a:t>
            </a:r>
            <a:pPr indent="0" marL="0">
              <a:spcAft>
                <a:spcPts val="300"/>
              </a:spcAft>
              <a:buNone/>
            </a:pPr>
            <a:r>
              <a:rPr lang="en-US" sz="1300" dirty="0">
                <a:solidFill>
                  <a:srgbClr val="E8E6DC"/>
                </a:solidFill>
                <a:latin typeface="Menlo" pitchFamily="34" charset="0"/>
                <a:ea typeface="Menlo" pitchFamily="34" charset="-122"/>
                <a:cs typeface="Menlo" pitchFamily="34" charset="-120"/>
              </a:rPr>
              <a:t>):</a:t>
            </a:r>
            <a:endParaRPr lang="en-US" sz="1300" dirty="0"/>
          </a:p>
          <a:p>
            <a:pPr indent="0" marL="0">
              <a:spcAft>
                <a:spcPts val="300"/>
              </a:spcAft>
              <a:buNone/>
            </a:pPr>
            <a:r>
              <a:rPr lang="en-US" sz="1300" dirty="0">
                <a:solidFill>
                  <a:srgbClr val="E8E6DC"/>
                </a:solidFill>
                <a:latin typeface="Menlo" pitchFamily="34" charset="0"/>
                <a:ea typeface="Menlo" pitchFamily="34" charset="-122"/>
                <a:cs typeface="Menlo" pitchFamily="34" charset="-120"/>
              </a:rPr>
              <a:t>            weather = get_weather(city)</a:t>
            </a:r>
            <a:endParaRPr lang="en-US" sz="1300" dirty="0"/>
          </a:p>
          <a:p>
            <a:pPr indent="0" marL="0">
              <a:spcAft>
                <a:spcPts val="300"/>
              </a:spcAft>
              <a:buNone/>
            </a:pPr>
            <a:r>
              <a:rPr lang="en-US" sz="1300" dirty="0">
                <a:solidFill>
                  <a:srgbClr val="E08C6B"/>
                </a:solidFill>
                <a:latin typeface="Menlo" pitchFamily="34" charset="0"/>
                <a:ea typeface="Menlo" pitchFamily="34" charset="-122"/>
                <a:cs typeface="Menlo" pitchFamily="34" charset="-120"/>
              </a:rPr>
              <a:t>        with </a:t>
            </a:r>
            <a:pPr indent="0" marL="0">
              <a:spcAft>
                <a:spcPts val="300"/>
              </a:spcAft>
              <a:buNone/>
            </a:pPr>
            <a:r>
              <a:rPr lang="en-US" sz="1300" dirty="0">
                <a:solidFill>
                  <a:srgbClr val="E8E6DC"/>
                </a:solidFill>
                <a:latin typeface="Menlo" pitchFamily="34" charset="0"/>
                <a:ea typeface="Menlo" pitchFamily="34" charset="-122"/>
                <a:cs typeface="Menlo" pitchFamily="34" charset="-120"/>
              </a:rPr>
              <a:t>tracer.start_as_current_span(</a:t>
            </a:r>
            <a:pPr indent="0" marL="0">
              <a:spcAft>
                <a:spcPts val="300"/>
              </a:spcAft>
              <a:buNone/>
            </a:pPr>
            <a:r>
              <a:rPr lang="en-US" sz="1300" dirty="0">
                <a:solidFill>
                  <a:srgbClr val="A7BC86"/>
                </a:solidFill>
                <a:latin typeface="Menlo" pitchFamily="34" charset="0"/>
                <a:ea typeface="Menlo" pitchFamily="34" charset="-122"/>
                <a:cs typeface="Menlo" pitchFamily="34" charset="-120"/>
              </a:rPr>
              <a:t>"ask_ai"</a:t>
            </a:r>
            <a:pPr indent="0" marL="0">
              <a:spcAft>
                <a:spcPts val="300"/>
              </a:spcAft>
              <a:buNone/>
            </a:pPr>
            <a:r>
              <a:rPr lang="en-US" sz="1300" dirty="0">
                <a:solidFill>
                  <a:srgbClr val="E8E6DC"/>
                </a:solidFill>
                <a:latin typeface="Menlo" pitchFamily="34" charset="0"/>
                <a:ea typeface="Menlo" pitchFamily="34" charset="-122"/>
                <a:cs typeface="Menlo" pitchFamily="34" charset="-120"/>
              </a:rPr>
              <a:t>):</a:t>
            </a:r>
            <a:endParaRPr lang="en-US" sz="1300" dirty="0"/>
          </a:p>
          <a:p>
            <a:pPr indent="0" marL="0">
              <a:spcAft>
                <a:spcPts val="300"/>
              </a:spcAft>
              <a:buNone/>
            </a:pPr>
            <a:r>
              <a:rPr lang="en-US" sz="1300" dirty="0">
                <a:solidFill>
                  <a:srgbClr val="E08C6B"/>
                </a:solidFill>
                <a:latin typeface="Menlo" pitchFamily="34" charset="0"/>
                <a:ea typeface="Menlo" pitchFamily="34" charset="-122"/>
                <a:cs typeface="Menlo" pitchFamily="34" charset="-120"/>
              </a:rPr>
              <a:t>            return </a:t>
            </a:r>
            <a:pPr indent="0" marL="0">
              <a:spcAft>
                <a:spcPts val="300"/>
              </a:spcAft>
              <a:buNone/>
            </a:pPr>
            <a:r>
              <a:rPr lang="en-US" sz="1300" dirty="0">
                <a:solidFill>
                  <a:srgbClr val="E8E6DC"/>
                </a:solidFill>
                <a:latin typeface="Menlo" pitchFamily="34" charset="0"/>
                <a:ea typeface="Menlo" pitchFamily="34" charset="-122"/>
                <a:cs typeface="Menlo" pitchFamily="34" charset="-120"/>
              </a:rPr>
              <a:t>ask_ai(...)</a:t>
            </a:r>
            <a:endParaRPr lang="en-US" sz="1300" dirty="0"/>
          </a:p>
        </p:txBody>
      </p:sp>
      <p:sp>
        <p:nvSpPr>
          <p:cNvPr id="10" name="Text 8"/>
          <p:cNvSpPr/>
          <p:nvPr/>
        </p:nvSpPr>
        <p:spPr>
          <a:xfrm>
            <a:off x="8321040" y="1828800"/>
            <a:ext cx="3291840" cy="320040"/>
          </a:xfrm>
          <a:prstGeom prst="rect">
            <a:avLst/>
          </a:prstGeom>
          <a:noFill/>
          <a:ln/>
        </p:spPr>
        <p:txBody>
          <a:bodyPr wrap="square" lIns="0" tIns="0" rIns="0" bIns="0" rtlCol="0" anchor="t"/>
          <a:lstStyle/>
          <a:p>
            <a:pPr indent="0" marL="0">
              <a:buNone/>
            </a:pPr>
            <a:r>
              <a:rPr lang="en-US" sz="1400" dirty="0">
                <a:solidFill>
                  <a:srgbClr val="D97757"/>
                </a:solidFill>
                <a:latin typeface="Menlo" pitchFamily="34" charset="0"/>
                <a:ea typeface="Menlo" pitchFamily="34" charset="-122"/>
                <a:cs typeface="Menlo" pitchFamily="34" charset="-120"/>
              </a:rPr>
              <a:t>with ... :</a:t>
            </a:r>
            <a:endParaRPr lang="en-US" sz="1400" dirty="0"/>
          </a:p>
        </p:txBody>
      </p:sp>
      <p:sp>
        <p:nvSpPr>
          <p:cNvPr id="11" name="Text 9"/>
          <p:cNvSpPr/>
          <p:nvPr/>
        </p:nvSpPr>
        <p:spPr>
          <a:xfrm>
            <a:off x="8321040" y="2194560"/>
            <a:ext cx="3291840" cy="731520"/>
          </a:xfrm>
          <a:prstGeom prst="rect">
            <a:avLst/>
          </a:prstGeom>
          <a:noFill/>
          <a:ln/>
        </p:spPr>
        <p:txBody>
          <a:bodyPr wrap="square" lIns="0" tIns="0" rIns="0" bIns="0" rtlCol="0" anchor="t"/>
          <a:lstStyle/>
          <a:p>
            <a:pPr indent="0" marL="0">
              <a:buNone/>
            </a:pPr>
            <a:r>
              <a:rPr lang="en-US" sz="1400" dirty="0">
                <a:solidFill>
                  <a:srgbClr val="3D3D3A"/>
                </a:solidFill>
                <a:latin typeface="Avenir Next" pitchFamily="34" charset="0"/>
                <a:ea typeface="Avenir Next" pitchFamily="34" charset="-122"/>
                <a:cs typeface="Avenir Next" pitchFamily="34" charset="-120"/>
              </a:rPr>
              <a:t>Everything inside the block is timed and saved as one span.</a:t>
            </a:r>
            <a:endParaRPr lang="en-US" sz="1400" dirty="0"/>
          </a:p>
        </p:txBody>
      </p:sp>
      <p:sp>
        <p:nvSpPr>
          <p:cNvPr id="12" name="Text 10"/>
          <p:cNvSpPr/>
          <p:nvPr/>
        </p:nvSpPr>
        <p:spPr>
          <a:xfrm>
            <a:off x="8321040" y="3108960"/>
            <a:ext cx="3291840" cy="320040"/>
          </a:xfrm>
          <a:prstGeom prst="rect">
            <a:avLst/>
          </a:prstGeom>
          <a:noFill/>
          <a:ln/>
        </p:spPr>
        <p:txBody>
          <a:bodyPr wrap="square" lIns="0" tIns="0" rIns="0" bIns="0" rtlCol="0" anchor="t"/>
          <a:lstStyle/>
          <a:p>
            <a:pPr indent="0" marL="0">
              <a:buNone/>
            </a:pPr>
            <a:r>
              <a:rPr lang="en-US" sz="1400" b="1" dirty="0">
                <a:solidFill>
                  <a:srgbClr val="D97757"/>
                </a:solidFill>
                <a:latin typeface="Avenir Next" pitchFamily="34" charset="0"/>
                <a:ea typeface="Avenir Next" pitchFamily="34" charset="-122"/>
                <a:cs typeface="Avenir Next" pitchFamily="34" charset="-120"/>
              </a:rPr>
              <a:t>A block inside a block</a:t>
            </a:r>
            <a:endParaRPr lang="en-US" sz="1400" dirty="0"/>
          </a:p>
        </p:txBody>
      </p:sp>
      <p:sp>
        <p:nvSpPr>
          <p:cNvPr id="13" name="Text 11"/>
          <p:cNvSpPr/>
          <p:nvPr/>
        </p:nvSpPr>
        <p:spPr>
          <a:xfrm>
            <a:off x="8321040" y="3474720"/>
            <a:ext cx="3291840" cy="731520"/>
          </a:xfrm>
          <a:prstGeom prst="rect">
            <a:avLst/>
          </a:prstGeom>
          <a:noFill/>
          <a:ln/>
        </p:spPr>
        <p:txBody>
          <a:bodyPr wrap="square" lIns="0" tIns="0" rIns="0" bIns="0" rtlCol="0" anchor="t"/>
          <a:lstStyle/>
          <a:p>
            <a:pPr indent="0" marL="0">
              <a:buNone/>
            </a:pPr>
            <a:r>
              <a:rPr lang="en-US" sz="1400" dirty="0">
                <a:solidFill>
                  <a:srgbClr val="3D3D3A"/>
                </a:solidFill>
                <a:latin typeface="Avenir Next" pitchFamily="34" charset="0"/>
                <a:ea typeface="Avenir Next" pitchFamily="34" charset="-122"/>
                <a:cs typeface="Avenir Next" pitchFamily="34" charset="-120"/>
              </a:rPr>
              <a:t>becomes a child step, so you get the tree on the previous slide.</a:t>
            </a:r>
            <a:endParaRPr lang="en-US" sz="1400" dirty="0"/>
          </a:p>
        </p:txBody>
      </p:sp>
      <p:sp>
        <p:nvSpPr>
          <p:cNvPr id="14" name="Text 12"/>
          <p:cNvSpPr/>
          <p:nvPr/>
        </p:nvSpPr>
        <p:spPr>
          <a:xfrm>
            <a:off x="640080" y="5166360"/>
            <a:ext cx="10881360" cy="457200"/>
          </a:xfrm>
          <a:prstGeom prst="rect">
            <a:avLst/>
          </a:prstGeom>
          <a:noFill/>
          <a:ln/>
        </p:spPr>
        <p:txBody>
          <a:bodyPr wrap="square" lIns="0" tIns="0" rIns="0" bIns="0" rtlCol="0" anchor="t"/>
          <a:lstStyle/>
          <a:p>
            <a:pPr indent="0" marL="0">
              <a:buNone/>
            </a:pPr>
            <a:r>
              <a:rPr lang="en-US" sz="1500" i="1" dirty="0">
                <a:solidFill>
                  <a:srgbClr val="87867F"/>
                </a:solidFill>
                <a:latin typeface="Avenir Next" pitchFamily="34" charset="0"/>
                <a:ea typeface="Avenir Next" pitchFamily="34" charset="-122"/>
                <a:cs typeface="Avenir Next" pitchFamily="34" charset="-120"/>
              </a:rPr>
              <a:t>OpenTelemetry is a free, standard library. Setting it up is four lines, once per app (notebook 01).</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14</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i="1" dirty="0">
                <a:solidFill>
                  <a:srgbClr val="D97757"/>
                </a:solidFill>
                <a:latin typeface="Charter" pitchFamily="34" charset="0"/>
                <a:ea typeface="Charter" pitchFamily="34" charset="-122"/>
                <a:cs typeface="Charter" pitchFamily="34" charset="-120"/>
              </a:rPr>
              <a:t>Four pieces</a:t>
            </a:r>
            <a:pPr indent="0" marL="0">
              <a:buNone/>
            </a:pPr>
            <a:r>
              <a:rPr lang="en-US" sz="2800" dirty="0">
                <a:solidFill>
                  <a:srgbClr val="141413"/>
                </a:solidFill>
                <a:latin typeface="Charter" pitchFamily="34" charset="0"/>
                <a:ea typeface="Charter" pitchFamily="34" charset="-122"/>
                <a:cs typeface="Charter" pitchFamily="34" charset="-120"/>
              </a:rPr>
              <a:t> move a span from your code to a tool</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1874520"/>
                <a:gridCol w="3108960"/>
                <a:gridCol w="2514600"/>
                <a:gridCol w="3410712"/>
              </a:tblGrid>
              <a:tr h="658368">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Piece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What it does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Parcel comparison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Examples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r>
              <a:tr h="65836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Tracer provider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Holds the settings for your whole app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The courier company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TracerProvider()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65836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Tracer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Creates spans in your code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The clerk writing tracking entries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provider.get_tracer("weather-assistant")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65836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Span processor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Decides when finished spans are handed on: one at a time, or in batches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Mailroom: send each parcel now, or wait and fill a truck</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SimpleSpanProcessor (now), BatchSpanProcessor (in batches, for real apps)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65836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Exporter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Sends spans to a destination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The delivery truck</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ConsoleSpanExporter (print), InMemorySpanExporter (keep), OTLPSpanExporter (to Langfuse, LangSmith, Datadog...)</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65836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Collector (optional)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A separate program that receives spans from many apps, cleans them and forwards them</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A regional sorting hub</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OpenTelemetry Collector, Grafana Alloy, Datadog Agent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bl>
          </a:graphicData>
        </a:graphic>
      </p:graphicFrame>
      <p:sp>
        <p:nvSpPr>
          <p:cNvPr id="8" name="Text 5"/>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87867F"/>
                </a:solidFill>
                <a:latin typeface="Avenir Next" pitchFamily="34" charset="0"/>
                <a:ea typeface="Avenir Next" pitchFamily="34" charset="-122"/>
                <a:cs typeface="Avenir Next" pitchFamily="34" charset="-120"/>
              </a:rPr>
              <a:t>Notebook 01 uses Simple + InMemory so you can see the spans. Notebooks 02 and 04 use batching and OTLP to send them to Langfuse.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15</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For AI steps, a span also records the </a:t>
            </a:r>
            <a:pPr indent="0" marL="0">
              <a:buNone/>
            </a:pPr>
            <a:r>
              <a:rPr lang="en-US" sz="2800" i="1" dirty="0">
                <a:solidFill>
                  <a:srgbClr val="D97757"/>
                </a:solidFill>
                <a:latin typeface="Charter" pitchFamily="34" charset="0"/>
                <a:ea typeface="Charter" pitchFamily="34" charset="-122"/>
                <a:cs typeface="Charter" pitchFamily="34" charset="-120"/>
              </a:rPr>
              <a:t>model, tokens and cost</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498080" cy="914400"/>
        </p:xfrm>
        <a:graphic>
          <a:graphicData uri="http://schemas.openxmlformats.org/drawingml/2006/table">
            <a:tbl>
              <a:tblPr/>
              <a:tblGrid>
                <a:gridCol w="2926080"/>
                <a:gridCol w="4572000"/>
              </a:tblGrid>
              <a:tr h="457200">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What a span stores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Example: the AI call in our assistant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Name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OpenAI-generation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Start and end time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0.50 s to 1.03 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Inside of</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ask_ai, inside weather_assistant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Model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gpt-4o-mini</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Tokens in / out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31 / 8</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Cost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$0.000009</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Input and output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The question sent, the answer received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bl>
          </a:graphicData>
        </a:graphic>
      </p:graphicFrame>
      <p:sp>
        <p:nvSpPr>
          <p:cNvPr id="8" name="Text 5"/>
          <p:cNvSpPr/>
          <p:nvPr/>
        </p:nvSpPr>
        <p:spPr>
          <a:xfrm>
            <a:off x="8595360" y="1828800"/>
            <a:ext cx="3017520" cy="320040"/>
          </a:xfrm>
          <a:prstGeom prst="rect">
            <a:avLst/>
          </a:prstGeom>
          <a:noFill/>
          <a:ln/>
        </p:spPr>
        <p:txBody>
          <a:bodyPr wrap="square" lIns="0" tIns="0" rIns="0" bIns="0" rtlCol="0" anchor="t"/>
          <a:lstStyle/>
          <a:p>
            <a:pPr indent="0" marL="0">
              <a:buNone/>
            </a:pPr>
            <a:r>
              <a:rPr lang="en-US" sz="1600" b="1" dirty="0">
                <a:solidFill>
                  <a:srgbClr val="141413"/>
                </a:solidFill>
                <a:latin typeface="Avenir Next" pitchFamily="34" charset="0"/>
                <a:ea typeface="Avenir Next" pitchFamily="34" charset="-122"/>
                <a:cs typeface="Avenir Next" pitchFamily="34" charset="-120"/>
              </a:rPr>
              <a:t>Tokens</a:t>
            </a:r>
            <a:endParaRPr lang="en-US" sz="1600" dirty="0"/>
          </a:p>
        </p:txBody>
      </p:sp>
      <p:sp>
        <p:nvSpPr>
          <p:cNvPr id="9" name="Text 6"/>
          <p:cNvSpPr/>
          <p:nvPr/>
        </p:nvSpPr>
        <p:spPr>
          <a:xfrm>
            <a:off x="8595360" y="2194560"/>
            <a:ext cx="3017520" cy="1097280"/>
          </a:xfrm>
          <a:prstGeom prst="rect">
            <a:avLst/>
          </a:prstGeom>
          <a:noFill/>
          <a:ln/>
        </p:spPr>
        <p:txBody>
          <a:bodyPr wrap="square" lIns="0" tIns="0" rIns="0" bIns="0" rtlCol="0" anchor="t"/>
          <a:lstStyle/>
          <a:p>
            <a:pPr indent="0" marL="0">
              <a:buNone/>
            </a:pPr>
            <a:r>
              <a:rPr lang="en-US" sz="1400" dirty="0">
                <a:solidFill>
                  <a:srgbClr val="3D3D3A"/>
                </a:solidFill>
                <a:latin typeface="Avenir Next" pitchFamily="34" charset="0"/>
                <a:ea typeface="Avenir Next" pitchFamily="34" charset="-122"/>
                <a:cs typeface="Avenir Next" pitchFamily="34" charset="-120"/>
              </a:rPr>
              <a:t>Pieces of words. AI providers charge per token, so tokens are how you see cost.</a:t>
            </a:r>
            <a:endParaRPr lang="en-US" sz="1400" dirty="0"/>
          </a:p>
        </p:txBody>
      </p:sp>
      <p:sp>
        <p:nvSpPr>
          <p:cNvPr id="10" name="Text 7"/>
          <p:cNvSpPr/>
          <p:nvPr/>
        </p:nvSpPr>
        <p:spPr>
          <a:xfrm>
            <a:off x="8595360" y="3474720"/>
            <a:ext cx="3017520" cy="1097280"/>
          </a:xfrm>
          <a:prstGeom prst="rect">
            <a:avLst/>
          </a:prstGeom>
          <a:noFill/>
          <a:ln/>
        </p:spPr>
        <p:txBody>
          <a:bodyPr wrap="square" lIns="0" tIns="0" rIns="0" bIns="0" rtlCol="0" anchor="t"/>
          <a:lstStyle/>
          <a:p>
            <a:pPr indent="0" marL="0">
              <a:buNone/>
            </a:pPr>
            <a:r>
              <a:rPr lang="en-US" sz="1400" dirty="0">
                <a:solidFill>
                  <a:srgbClr val="3D3D3A"/>
                </a:solidFill>
                <a:latin typeface="Avenir Next" pitchFamily="34" charset="0"/>
                <a:ea typeface="Avenir Next" pitchFamily="34" charset="-122"/>
                <a:cs typeface="Avenir Next" pitchFamily="34" charset="-120"/>
              </a:rPr>
              <a:t>You do not record these by hand. Langfuse and LangSmith fill them in for you.</a:t>
            </a:r>
            <a:endParaRPr lang="en-US" sz="1400" dirty="0"/>
          </a:p>
        </p:txBody>
      </p:sp>
      <p:sp>
        <p:nvSpPr>
          <p:cNvPr id="11" name="Text 8"/>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87867F"/>
                </a:solidFill>
                <a:latin typeface="Avenir Next" pitchFamily="34" charset="0"/>
                <a:ea typeface="Avenir Next" pitchFamily="34" charset="-122"/>
                <a:cs typeface="Avenir Next" pitchFamily="34" charset="-120"/>
              </a:rPr>
              <a:t>Values from a real trace in the local Langfuse (notebook 02).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F8D86"/>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F8D86"/>
                </a:solidFill>
                <a:latin typeface="Avenir Next" pitchFamily="34" charset="0"/>
                <a:ea typeface="Avenir Next" pitchFamily="34" charset="-122"/>
                <a:cs typeface="Avenir Next" pitchFamily="34" charset="-120"/>
              </a:rPr>
              <a:t>16</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F0EEE6"/>
                </a:solidFill>
                <a:latin typeface="Charter" pitchFamily="34" charset="0"/>
                <a:ea typeface="Charter" pitchFamily="34" charset="-122"/>
                <a:cs typeface="Charter" pitchFamily="34" charset="-120"/>
              </a:rPr>
              <a:t>OpenTelemetry is the </a:t>
            </a:r>
            <a:pPr indent="0" marL="0">
              <a:buNone/>
            </a:pPr>
            <a:r>
              <a:rPr lang="en-US" sz="2800" i="1" dirty="0">
                <a:solidFill>
                  <a:srgbClr val="D97757"/>
                </a:solidFill>
                <a:latin typeface="Charter" pitchFamily="34" charset="0"/>
                <a:ea typeface="Charter" pitchFamily="34" charset="-122"/>
                <a:cs typeface="Charter" pitchFamily="34" charset="-120"/>
              </a:rPr>
              <a:t>common language</a:t>
            </a:r>
            <a:pPr indent="0" marL="0">
              <a:buNone/>
            </a:pPr>
            <a:r>
              <a:rPr lang="en-US" sz="2800" dirty="0">
                <a:solidFill>
                  <a:srgbClr val="F0EEE6"/>
                </a:solidFill>
                <a:latin typeface="Charter" pitchFamily="34" charset="0"/>
                <a:ea typeface="Charter" pitchFamily="34" charset="-122"/>
                <a:cs typeface="Charter" pitchFamily="34" charset="-120"/>
              </a:rPr>
              <a:t> all tools understand</a:t>
            </a:r>
            <a:endParaRPr lang="en-US" sz="2800" dirty="0"/>
          </a:p>
        </p:txBody>
      </p:sp>
      <p:sp>
        <p:nvSpPr>
          <p:cNvPr id="7" name="Shape 5"/>
          <p:cNvSpPr/>
          <p:nvPr/>
        </p:nvSpPr>
        <p:spPr>
          <a:xfrm>
            <a:off x="640080" y="2286000"/>
            <a:ext cx="2560320" cy="1280160"/>
          </a:xfrm>
          <a:prstGeom prst="rect">
            <a:avLst/>
          </a:prstGeom>
          <a:solidFill>
            <a:srgbClr val="262624"/>
          </a:solidFill>
          <a:ln w="9525">
            <a:solidFill>
              <a:srgbClr val="3A3936"/>
            </a:solidFill>
            <a:prstDash val="solid"/>
          </a:ln>
        </p:spPr>
      </p:sp>
      <p:sp>
        <p:nvSpPr>
          <p:cNvPr id="8" name="Text 6"/>
          <p:cNvSpPr/>
          <p:nvPr/>
        </p:nvSpPr>
        <p:spPr>
          <a:xfrm>
            <a:off x="640080" y="2468880"/>
            <a:ext cx="2560320" cy="320040"/>
          </a:xfrm>
          <a:prstGeom prst="rect">
            <a:avLst/>
          </a:prstGeom>
          <a:noFill/>
          <a:ln/>
        </p:spPr>
        <p:txBody>
          <a:bodyPr wrap="square" lIns="0" tIns="0" rIns="0" bIns="0" rtlCol="0" anchor="t"/>
          <a:lstStyle/>
          <a:p>
            <a:pPr algn="ctr" indent="0" marL="0">
              <a:buNone/>
            </a:pPr>
            <a:r>
              <a:rPr lang="en-US" sz="1600" b="1" dirty="0">
                <a:solidFill>
                  <a:srgbClr val="F0EEE6"/>
                </a:solidFill>
                <a:latin typeface="Avenir Next" pitchFamily="34" charset="0"/>
                <a:ea typeface="Avenir Next" pitchFamily="34" charset="-122"/>
                <a:cs typeface="Avenir Next" pitchFamily="34" charset="-120"/>
              </a:rPr>
              <a:t>Your app</a:t>
            </a:r>
            <a:endParaRPr lang="en-US" sz="1600" dirty="0"/>
          </a:p>
        </p:txBody>
      </p:sp>
      <p:sp>
        <p:nvSpPr>
          <p:cNvPr id="9" name="Text 7"/>
          <p:cNvSpPr/>
          <p:nvPr/>
        </p:nvSpPr>
        <p:spPr>
          <a:xfrm>
            <a:off x="777240" y="2834640"/>
            <a:ext cx="2286000" cy="640080"/>
          </a:xfrm>
          <a:prstGeom prst="rect">
            <a:avLst/>
          </a:prstGeom>
          <a:noFill/>
          <a:ln/>
        </p:spPr>
        <p:txBody>
          <a:bodyPr wrap="square" lIns="0" tIns="0" rIns="0" bIns="0" rtlCol="0" anchor="t"/>
          <a:lstStyle/>
          <a:p>
            <a:pPr algn="ctr" indent="0" marL="0">
              <a:buNone/>
            </a:pPr>
            <a:r>
              <a:rPr lang="en-US" sz="1200" dirty="0">
                <a:solidFill>
                  <a:srgbClr val="8F8D86"/>
                </a:solidFill>
                <a:latin typeface="Avenir Next" pitchFamily="34" charset="0"/>
                <a:ea typeface="Avenir Next" pitchFamily="34" charset="-122"/>
                <a:cs typeface="Avenir Next" pitchFamily="34" charset="-120"/>
              </a:rPr>
              <a:t>creates spans with OpenTelemetry</a:t>
            </a:r>
            <a:endParaRPr lang="en-US" sz="1200" dirty="0"/>
          </a:p>
        </p:txBody>
      </p:sp>
      <p:sp>
        <p:nvSpPr>
          <p:cNvPr id="10" name="Shape 8"/>
          <p:cNvSpPr/>
          <p:nvPr/>
        </p:nvSpPr>
        <p:spPr>
          <a:xfrm>
            <a:off x="3291840" y="2926080"/>
            <a:ext cx="731520" cy="0"/>
          </a:xfrm>
          <a:prstGeom prst="line">
            <a:avLst/>
          </a:prstGeom>
          <a:noFill/>
          <a:ln w="15875">
            <a:solidFill>
              <a:srgbClr val="8F8D86"/>
            </a:solidFill>
            <a:prstDash val="solid"/>
            <a:tailEnd type="triangle"/>
          </a:ln>
        </p:spPr>
      </p:sp>
      <p:sp>
        <p:nvSpPr>
          <p:cNvPr id="11" name="Shape 9"/>
          <p:cNvSpPr/>
          <p:nvPr/>
        </p:nvSpPr>
        <p:spPr>
          <a:xfrm>
            <a:off x="4114800" y="2286000"/>
            <a:ext cx="2560320" cy="1280160"/>
          </a:xfrm>
          <a:prstGeom prst="rect">
            <a:avLst/>
          </a:prstGeom>
          <a:solidFill>
            <a:srgbClr val="262624"/>
          </a:solidFill>
          <a:ln w="9525">
            <a:solidFill>
              <a:srgbClr val="3A3936"/>
            </a:solidFill>
            <a:prstDash val="solid"/>
          </a:ln>
        </p:spPr>
      </p:sp>
      <p:sp>
        <p:nvSpPr>
          <p:cNvPr id="12" name="Text 10"/>
          <p:cNvSpPr/>
          <p:nvPr/>
        </p:nvSpPr>
        <p:spPr>
          <a:xfrm>
            <a:off x="4114800" y="2468880"/>
            <a:ext cx="2560320" cy="320040"/>
          </a:xfrm>
          <a:prstGeom prst="rect">
            <a:avLst/>
          </a:prstGeom>
          <a:noFill/>
          <a:ln/>
        </p:spPr>
        <p:txBody>
          <a:bodyPr wrap="square" lIns="0" tIns="0" rIns="0" bIns="0" rtlCol="0" anchor="t"/>
          <a:lstStyle/>
          <a:p>
            <a:pPr algn="ctr" indent="0" marL="0">
              <a:buNone/>
            </a:pPr>
            <a:r>
              <a:rPr lang="en-US" sz="1600" b="1" dirty="0">
                <a:solidFill>
                  <a:srgbClr val="F0EEE6"/>
                </a:solidFill>
                <a:latin typeface="Avenir Next" pitchFamily="34" charset="0"/>
                <a:ea typeface="Avenir Next" pitchFamily="34" charset="-122"/>
                <a:cs typeface="Avenir Next" pitchFamily="34" charset="-120"/>
              </a:rPr>
              <a:t>Exporter</a:t>
            </a:r>
            <a:endParaRPr lang="en-US" sz="1600" dirty="0"/>
          </a:p>
        </p:txBody>
      </p:sp>
      <p:sp>
        <p:nvSpPr>
          <p:cNvPr id="13" name="Text 11"/>
          <p:cNvSpPr/>
          <p:nvPr/>
        </p:nvSpPr>
        <p:spPr>
          <a:xfrm>
            <a:off x="4251960" y="2834640"/>
            <a:ext cx="2286000" cy="640080"/>
          </a:xfrm>
          <a:prstGeom prst="rect">
            <a:avLst/>
          </a:prstGeom>
          <a:noFill/>
          <a:ln/>
        </p:spPr>
        <p:txBody>
          <a:bodyPr wrap="square" lIns="0" tIns="0" rIns="0" bIns="0" rtlCol="0" anchor="t"/>
          <a:lstStyle/>
          <a:p>
            <a:pPr algn="ctr" indent="0" marL="0">
              <a:buNone/>
            </a:pPr>
            <a:r>
              <a:rPr lang="en-US" sz="1200" dirty="0">
                <a:solidFill>
                  <a:srgbClr val="8F8D86"/>
                </a:solidFill>
                <a:latin typeface="Avenir Next" pitchFamily="34" charset="0"/>
                <a:ea typeface="Avenir Next" pitchFamily="34" charset="-122"/>
                <a:cs typeface="Avenir Next" pitchFamily="34" charset="-120"/>
              </a:rPr>
              <a:t>sends spans in the background</a:t>
            </a:r>
            <a:endParaRPr lang="en-US" sz="1200" dirty="0"/>
          </a:p>
        </p:txBody>
      </p:sp>
      <p:sp>
        <p:nvSpPr>
          <p:cNvPr id="14" name="Shape 12"/>
          <p:cNvSpPr/>
          <p:nvPr/>
        </p:nvSpPr>
        <p:spPr>
          <a:xfrm>
            <a:off x="6766560" y="2926080"/>
            <a:ext cx="731520" cy="0"/>
          </a:xfrm>
          <a:prstGeom prst="line">
            <a:avLst/>
          </a:prstGeom>
          <a:noFill/>
          <a:ln w="15875">
            <a:solidFill>
              <a:srgbClr val="8F8D86"/>
            </a:solidFill>
            <a:prstDash val="solid"/>
            <a:tailEnd type="triangle"/>
          </a:ln>
        </p:spPr>
      </p:sp>
      <p:sp>
        <p:nvSpPr>
          <p:cNvPr id="15" name="Shape 13"/>
          <p:cNvSpPr/>
          <p:nvPr/>
        </p:nvSpPr>
        <p:spPr>
          <a:xfrm>
            <a:off x="7589520" y="1783080"/>
            <a:ext cx="2103120" cy="502920"/>
          </a:xfrm>
          <a:prstGeom prst="rect">
            <a:avLst/>
          </a:prstGeom>
          <a:solidFill>
            <a:srgbClr val="262624"/>
          </a:solidFill>
          <a:ln w="9525">
            <a:solidFill>
              <a:srgbClr val="3A3936"/>
            </a:solidFill>
            <a:prstDash val="solid"/>
          </a:ln>
        </p:spPr>
      </p:sp>
      <p:sp>
        <p:nvSpPr>
          <p:cNvPr id="16" name="Text 14"/>
          <p:cNvSpPr/>
          <p:nvPr/>
        </p:nvSpPr>
        <p:spPr>
          <a:xfrm>
            <a:off x="7589520" y="1783080"/>
            <a:ext cx="2103120" cy="502920"/>
          </a:xfrm>
          <a:prstGeom prst="rect">
            <a:avLst/>
          </a:prstGeom>
          <a:noFill/>
          <a:ln/>
        </p:spPr>
        <p:txBody>
          <a:bodyPr wrap="square" lIns="0" tIns="0" rIns="0" bIns="0" rtlCol="0" anchor="ctr"/>
          <a:lstStyle/>
          <a:p>
            <a:pPr algn="ctr" indent="0" marL="0">
              <a:buNone/>
            </a:pPr>
            <a:r>
              <a:rPr lang="en-US" sz="1400" b="1" dirty="0">
                <a:solidFill>
                  <a:srgbClr val="F0EEE6"/>
                </a:solidFill>
                <a:latin typeface="Avenir Next" pitchFamily="34" charset="0"/>
                <a:ea typeface="Avenir Next" pitchFamily="34" charset="-122"/>
                <a:cs typeface="Avenir Next" pitchFamily="34" charset="-120"/>
              </a:rPr>
              <a:t>Langfuse</a:t>
            </a:r>
            <a:endParaRPr lang="en-US" sz="1400" dirty="0"/>
          </a:p>
        </p:txBody>
      </p:sp>
      <p:sp>
        <p:nvSpPr>
          <p:cNvPr id="17" name="Shape 15"/>
          <p:cNvSpPr/>
          <p:nvPr/>
        </p:nvSpPr>
        <p:spPr>
          <a:xfrm>
            <a:off x="7589520" y="2404872"/>
            <a:ext cx="2103120" cy="502920"/>
          </a:xfrm>
          <a:prstGeom prst="rect">
            <a:avLst/>
          </a:prstGeom>
          <a:solidFill>
            <a:srgbClr val="262624"/>
          </a:solidFill>
          <a:ln w="9525">
            <a:solidFill>
              <a:srgbClr val="3A3936"/>
            </a:solidFill>
            <a:prstDash val="solid"/>
          </a:ln>
        </p:spPr>
      </p:sp>
      <p:sp>
        <p:nvSpPr>
          <p:cNvPr id="18" name="Text 16"/>
          <p:cNvSpPr/>
          <p:nvPr/>
        </p:nvSpPr>
        <p:spPr>
          <a:xfrm>
            <a:off x="7589520" y="2404872"/>
            <a:ext cx="2103120" cy="502920"/>
          </a:xfrm>
          <a:prstGeom prst="rect">
            <a:avLst/>
          </a:prstGeom>
          <a:noFill/>
          <a:ln/>
        </p:spPr>
        <p:txBody>
          <a:bodyPr wrap="square" lIns="0" tIns="0" rIns="0" bIns="0" rtlCol="0" anchor="ctr"/>
          <a:lstStyle/>
          <a:p>
            <a:pPr algn="ctr" indent="0" marL="0">
              <a:buNone/>
            </a:pPr>
            <a:r>
              <a:rPr lang="en-US" sz="1400" b="1" dirty="0">
                <a:solidFill>
                  <a:srgbClr val="F0EEE6"/>
                </a:solidFill>
                <a:latin typeface="Avenir Next" pitchFamily="34" charset="0"/>
                <a:ea typeface="Avenir Next" pitchFamily="34" charset="-122"/>
                <a:cs typeface="Avenir Next" pitchFamily="34" charset="-120"/>
              </a:rPr>
              <a:t>LangSmith</a:t>
            </a:r>
            <a:endParaRPr lang="en-US" sz="1400" dirty="0"/>
          </a:p>
        </p:txBody>
      </p:sp>
      <p:sp>
        <p:nvSpPr>
          <p:cNvPr id="19" name="Shape 17"/>
          <p:cNvSpPr/>
          <p:nvPr/>
        </p:nvSpPr>
        <p:spPr>
          <a:xfrm>
            <a:off x="7589520" y="3026664"/>
            <a:ext cx="2103120" cy="502920"/>
          </a:xfrm>
          <a:prstGeom prst="rect">
            <a:avLst/>
          </a:prstGeom>
          <a:solidFill>
            <a:srgbClr val="262624"/>
          </a:solidFill>
          <a:ln w="9525">
            <a:solidFill>
              <a:srgbClr val="3A3936"/>
            </a:solidFill>
            <a:prstDash val="solid"/>
          </a:ln>
        </p:spPr>
      </p:sp>
      <p:sp>
        <p:nvSpPr>
          <p:cNvPr id="20" name="Text 18"/>
          <p:cNvSpPr/>
          <p:nvPr/>
        </p:nvSpPr>
        <p:spPr>
          <a:xfrm>
            <a:off x="7589520" y="3026664"/>
            <a:ext cx="2103120" cy="502920"/>
          </a:xfrm>
          <a:prstGeom prst="rect">
            <a:avLst/>
          </a:prstGeom>
          <a:noFill/>
          <a:ln/>
        </p:spPr>
        <p:txBody>
          <a:bodyPr wrap="square" lIns="0" tIns="0" rIns="0" bIns="0" rtlCol="0" anchor="ctr"/>
          <a:lstStyle/>
          <a:p>
            <a:pPr algn="ctr" indent="0" marL="0">
              <a:buNone/>
            </a:pPr>
            <a:r>
              <a:rPr lang="en-US" sz="1400" b="1" dirty="0">
                <a:solidFill>
                  <a:srgbClr val="F0EEE6"/>
                </a:solidFill>
                <a:latin typeface="Avenir Next" pitchFamily="34" charset="0"/>
                <a:ea typeface="Avenir Next" pitchFamily="34" charset="-122"/>
                <a:cs typeface="Avenir Next" pitchFamily="34" charset="-120"/>
              </a:rPr>
              <a:t>Datadog</a:t>
            </a:r>
            <a:endParaRPr lang="en-US" sz="1400" dirty="0"/>
          </a:p>
        </p:txBody>
      </p:sp>
      <p:sp>
        <p:nvSpPr>
          <p:cNvPr id="21" name="Shape 19"/>
          <p:cNvSpPr/>
          <p:nvPr/>
        </p:nvSpPr>
        <p:spPr>
          <a:xfrm>
            <a:off x="7589520" y="3648456"/>
            <a:ext cx="2103120" cy="502920"/>
          </a:xfrm>
          <a:prstGeom prst="rect">
            <a:avLst/>
          </a:prstGeom>
          <a:solidFill>
            <a:srgbClr val="262624"/>
          </a:solidFill>
          <a:ln w="9525">
            <a:solidFill>
              <a:srgbClr val="3A3936"/>
            </a:solidFill>
            <a:prstDash val="solid"/>
          </a:ln>
        </p:spPr>
      </p:sp>
      <p:sp>
        <p:nvSpPr>
          <p:cNvPr id="22" name="Text 20"/>
          <p:cNvSpPr/>
          <p:nvPr/>
        </p:nvSpPr>
        <p:spPr>
          <a:xfrm>
            <a:off x="7589520" y="3648456"/>
            <a:ext cx="2103120" cy="502920"/>
          </a:xfrm>
          <a:prstGeom prst="rect">
            <a:avLst/>
          </a:prstGeom>
          <a:noFill/>
          <a:ln/>
        </p:spPr>
        <p:txBody>
          <a:bodyPr wrap="square" lIns="0" tIns="0" rIns="0" bIns="0" rtlCol="0" anchor="ctr"/>
          <a:lstStyle/>
          <a:p>
            <a:pPr algn="ctr" indent="0" marL="0">
              <a:buNone/>
            </a:pPr>
            <a:r>
              <a:rPr lang="en-US" sz="1400" b="1" dirty="0">
                <a:solidFill>
                  <a:srgbClr val="F0EEE6"/>
                </a:solidFill>
                <a:latin typeface="Avenir Next" pitchFamily="34" charset="0"/>
                <a:ea typeface="Avenir Next" pitchFamily="34" charset="-122"/>
                <a:cs typeface="Avenir Next" pitchFamily="34" charset="-120"/>
              </a:rPr>
              <a:t>Dynatrace</a:t>
            </a:r>
            <a:endParaRPr lang="en-US" sz="1400" dirty="0"/>
          </a:p>
        </p:txBody>
      </p:sp>
      <p:sp>
        <p:nvSpPr>
          <p:cNvPr id="23" name="Text 21"/>
          <p:cNvSpPr/>
          <p:nvPr/>
        </p:nvSpPr>
        <p:spPr>
          <a:xfrm>
            <a:off x="9966960" y="2194560"/>
            <a:ext cx="1600200" cy="1645920"/>
          </a:xfrm>
          <a:prstGeom prst="rect">
            <a:avLst/>
          </a:prstGeom>
          <a:noFill/>
          <a:ln/>
        </p:spPr>
        <p:txBody>
          <a:bodyPr wrap="square" lIns="0" tIns="0" rIns="0" bIns="0" rtlCol="0" anchor="t"/>
          <a:lstStyle/>
          <a:p>
            <a:pPr indent="0" marL="0">
              <a:buNone/>
            </a:pPr>
            <a:r>
              <a:rPr lang="en-US" sz="1300" dirty="0">
                <a:solidFill>
                  <a:srgbClr val="C9C6BC"/>
                </a:solidFill>
                <a:latin typeface="Avenir Next" pitchFamily="34" charset="0"/>
                <a:ea typeface="Avenir Next" pitchFamily="34" charset="-122"/>
                <a:cs typeface="Avenir Next" pitchFamily="34" charset="-120"/>
              </a:rPr>
              <a:t>Each tool stores the spans and shows them on a web page.</a:t>
            </a:r>
            <a:endParaRPr lang="en-US" sz="1300" dirty="0"/>
          </a:p>
        </p:txBody>
      </p:sp>
      <p:sp>
        <p:nvSpPr>
          <p:cNvPr id="24" name="Text 22"/>
          <p:cNvSpPr/>
          <p:nvPr/>
        </p:nvSpPr>
        <p:spPr>
          <a:xfrm>
            <a:off x="640080" y="4572000"/>
            <a:ext cx="10881360" cy="457200"/>
          </a:xfrm>
          <a:prstGeom prst="rect">
            <a:avLst/>
          </a:prstGeom>
          <a:noFill/>
          <a:ln/>
        </p:spPr>
        <p:txBody>
          <a:bodyPr wrap="square" lIns="0" tIns="0" rIns="0" bIns="0" rtlCol="0" anchor="t"/>
          <a:lstStyle/>
          <a:p>
            <a:pPr indent="0" marL="0">
              <a:buNone/>
            </a:pPr>
            <a:r>
              <a:rPr lang="en-US" sz="1600" dirty="0">
                <a:solidFill>
                  <a:srgbClr val="F0EEE6"/>
                </a:solidFill>
                <a:latin typeface="Avenir Next" pitchFamily="34" charset="0"/>
                <a:ea typeface="Avenir Next" pitchFamily="34" charset="-122"/>
                <a:cs typeface="Avenir Next" pitchFamily="34" charset="-120"/>
              </a:rPr>
              <a:t>Switching tools means changing where the exporter sends data. Your functions stay the same.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17</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i="1" dirty="0">
                <a:solidFill>
                  <a:srgbClr val="D97757"/>
                </a:solidFill>
                <a:latin typeface="Charter" pitchFamily="34" charset="0"/>
                <a:ea typeface="Charter" pitchFamily="34" charset="-122"/>
                <a:cs typeface="Charter" pitchFamily="34" charset="-120"/>
              </a:rPr>
              <a:t>Five things</a:t>
            </a:r>
            <a:pPr indent="0" marL="0">
              <a:buNone/>
            </a:pPr>
            <a:r>
              <a:rPr lang="en-US" sz="2800" dirty="0">
                <a:solidFill>
                  <a:srgbClr val="141413"/>
                </a:solidFill>
                <a:latin typeface="Charter" pitchFamily="34" charset="0"/>
                <a:ea typeface="Charter" pitchFamily="34" charset="-122"/>
                <a:cs typeface="Charter" pitchFamily="34" charset="-120"/>
              </a:rPr>
              <a:t> are worth watching in every AI app</a:t>
            </a:r>
            <a:endParaRPr lang="en-US" sz="2800" dirty="0"/>
          </a:p>
        </p:txBody>
      </p:sp>
      <p:sp>
        <p:nvSpPr>
          <p:cNvPr id="7" name="Shape 5"/>
          <p:cNvSpPr/>
          <p:nvPr/>
        </p:nvSpPr>
        <p:spPr>
          <a:xfrm>
            <a:off x="640080" y="1828800"/>
            <a:ext cx="2057400" cy="2377440"/>
          </a:xfrm>
          <a:prstGeom prst="rect">
            <a:avLst/>
          </a:prstGeom>
          <a:solidFill>
            <a:srgbClr val="FAF9F5"/>
          </a:solidFill>
          <a:ln w="9525">
            <a:solidFill>
              <a:srgbClr val="D9D5C8"/>
            </a:solidFill>
            <a:prstDash val="solid"/>
          </a:ln>
        </p:spPr>
      </p:sp>
      <p:sp>
        <p:nvSpPr>
          <p:cNvPr id="8" name="Text 6"/>
          <p:cNvSpPr/>
          <p:nvPr/>
        </p:nvSpPr>
        <p:spPr>
          <a:xfrm>
            <a:off x="868680" y="2011680"/>
            <a:ext cx="914400" cy="457200"/>
          </a:xfrm>
          <a:prstGeom prst="rect">
            <a:avLst/>
          </a:prstGeom>
          <a:noFill/>
          <a:ln/>
        </p:spPr>
        <p:txBody>
          <a:bodyPr wrap="square" lIns="0" tIns="0" rIns="0" bIns="0" rtlCol="0" anchor="t"/>
          <a:lstStyle/>
          <a:p>
            <a:pPr indent="0" marL="0">
              <a:buNone/>
            </a:pPr>
            <a:r>
              <a:rPr lang="en-US" sz="2800" dirty="0">
                <a:solidFill>
                  <a:srgbClr val="D97757"/>
                </a:solidFill>
                <a:latin typeface="Charter" pitchFamily="34" charset="0"/>
                <a:ea typeface="Charter" pitchFamily="34" charset="-122"/>
                <a:cs typeface="Charter" pitchFamily="34" charset="-120"/>
              </a:rPr>
              <a:t>1</a:t>
            </a:r>
            <a:endParaRPr lang="en-US" sz="2800" dirty="0"/>
          </a:p>
        </p:txBody>
      </p:sp>
      <p:sp>
        <p:nvSpPr>
          <p:cNvPr id="9" name="Text 7"/>
          <p:cNvSpPr/>
          <p:nvPr/>
        </p:nvSpPr>
        <p:spPr>
          <a:xfrm>
            <a:off x="868680" y="2514600"/>
            <a:ext cx="1691640" cy="365760"/>
          </a:xfrm>
          <a:prstGeom prst="rect">
            <a:avLst/>
          </a:prstGeom>
          <a:noFill/>
          <a:ln/>
        </p:spPr>
        <p:txBody>
          <a:bodyPr wrap="square" lIns="0" tIns="0" rIns="0" bIns="0" rtlCol="0" anchor="t"/>
          <a:lstStyle/>
          <a:p>
            <a:pPr indent="0" marL="0">
              <a:buNone/>
            </a:pPr>
            <a:r>
              <a:rPr lang="en-US" sz="1800" b="1" dirty="0">
                <a:solidFill>
                  <a:srgbClr val="141413"/>
                </a:solidFill>
                <a:latin typeface="Avenir Next" pitchFamily="34" charset="0"/>
                <a:ea typeface="Avenir Next" pitchFamily="34" charset="-122"/>
                <a:cs typeface="Avenir Next" pitchFamily="34" charset="-120"/>
              </a:rPr>
              <a:t>Speed</a:t>
            </a:r>
            <a:endParaRPr lang="en-US" sz="1800" dirty="0"/>
          </a:p>
        </p:txBody>
      </p:sp>
      <p:sp>
        <p:nvSpPr>
          <p:cNvPr id="10" name="Text 8"/>
          <p:cNvSpPr/>
          <p:nvPr/>
        </p:nvSpPr>
        <p:spPr>
          <a:xfrm>
            <a:off x="868680" y="2971800"/>
            <a:ext cx="1691640" cy="1097280"/>
          </a:xfrm>
          <a:prstGeom prst="rect">
            <a:avLst/>
          </a:prstGeom>
          <a:noFill/>
          <a:ln/>
        </p:spPr>
        <p:txBody>
          <a:bodyPr wrap="square" lIns="0" tIns="0" rIns="0" bIns="0" rtlCol="0" anchor="t"/>
          <a:lstStyle/>
          <a:p>
            <a:pPr indent="0" marL="0">
              <a:buNone/>
            </a:pPr>
            <a:r>
              <a:rPr lang="en-US" sz="1300" dirty="0">
                <a:solidFill>
                  <a:srgbClr val="3D3D3A"/>
                </a:solidFill>
                <a:latin typeface="Avenir Next" pitchFamily="34" charset="0"/>
                <a:ea typeface="Avenir Next" pitchFamily="34" charset="-122"/>
                <a:cs typeface="Avenir Next" pitchFamily="34" charset="-120"/>
              </a:rPr>
              <a:t>How long requests take, especially the slowest ones</a:t>
            </a:r>
            <a:endParaRPr lang="en-US" sz="1300" dirty="0"/>
          </a:p>
        </p:txBody>
      </p:sp>
      <p:sp>
        <p:nvSpPr>
          <p:cNvPr id="11" name="Shape 9"/>
          <p:cNvSpPr/>
          <p:nvPr/>
        </p:nvSpPr>
        <p:spPr>
          <a:xfrm>
            <a:off x="2852928" y="1828800"/>
            <a:ext cx="2057400" cy="2377440"/>
          </a:xfrm>
          <a:prstGeom prst="rect">
            <a:avLst/>
          </a:prstGeom>
          <a:solidFill>
            <a:srgbClr val="FAF9F5"/>
          </a:solidFill>
          <a:ln w="9525">
            <a:solidFill>
              <a:srgbClr val="D9D5C8"/>
            </a:solidFill>
            <a:prstDash val="solid"/>
          </a:ln>
        </p:spPr>
      </p:sp>
      <p:sp>
        <p:nvSpPr>
          <p:cNvPr id="12" name="Text 10"/>
          <p:cNvSpPr/>
          <p:nvPr/>
        </p:nvSpPr>
        <p:spPr>
          <a:xfrm>
            <a:off x="3081528" y="2011680"/>
            <a:ext cx="914400" cy="457200"/>
          </a:xfrm>
          <a:prstGeom prst="rect">
            <a:avLst/>
          </a:prstGeom>
          <a:noFill/>
          <a:ln/>
        </p:spPr>
        <p:txBody>
          <a:bodyPr wrap="square" lIns="0" tIns="0" rIns="0" bIns="0" rtlCol="0" anchor="t"/>
          <a:lstStyle/>
          <a:p>
            <a:pPr indent="0" marL="0">
              <a:buNone/>
            </a:pPr>
            <a:r>
              <a:rPr lang="en-US" sz="2800" dirty="0">
                <a:solidFill>
                  <a:srgbClr val="D97757"/>
                </a:solidFill>
                <a:latin typeface="Charter" pitchFamily="34" charset="0"/>
                <a:ea typeface="Charter" pitchFamily="34" charset="-122"/>
                <a:cs typeface="Charter" pitchFamily="34" charset="-120"/>
              </a:rPr>
              <a:t>2</a:t>
            </a:r>
            <a:endParaRPr lang="en-US" sz="2800" dirty="0"/>
          </a:p>
        </p:txBody>
      </p:sp>
      <p:sp>
        <p:nvSpPr>
          <p:cNvPr id="13" name="Text 11"/>
          <p:cNvSpPr/>
          <p:nvPr/>
        </p:nvSpPr>
        <p:spPr>
          <a:xfrm>
            <a:off x="3081528" y="2514600"/>
            <a:ext cx="1691640" cy="365760"/>
          </a:xfrm>
          <a:prstGeom prst="rect">
            <a:avLst/>
          </a:prstGeom>
          <a:noFill/>
          <a:ln/>
        </p:spPr>
        <p:txBody>
          <a:bodyPr wrap="square" lIns="0" tIns="0" rIns="0" bIns="0" rtlCol="0" anchor="t"/>
          <a:lstStyle/>
          <a:p>
            <a:pPr indent="0" marL="0">
              <a:buNone/>
            </a:pPr>
            <a:r>
              <a:rPr lang="en-US" sz="1800" b="1" dirty="0">
                <a:solidFill>
                  <a:srgbClr val="141413"/>
                </a:solidFill>
                <a:latin typeface="Avenir Next" pitchFamily="34" charset="0"/>
                <a:ea typeface="Avenir Next" pitchFamily="34" charset="-122"/>
                <a:cs typeface="Avenir Next" pitchFamily="34" charset="-120"/>
              </a:rPr>
              <a:t>Errors</a:t>
            </a:r>
            <a:endParaRPr lang="en-US" sz="1800" dirty="0"/>
          </a:p>
        </p:txBody>
      </p:sp>
      <p:sp>
        <p:nvSpPr>
          <p:cNvPr id="14" name="Text 12"/>
          <p:cNvSpPr/>
          <p:nvPr/>
        </p:nvSpPr>
        <p:spPr>
          <a:xfrm>
            <a:off x="3081528" y="2971800"/>
            <a:ext cx="1691640" cy="1097280"/>
          </a:xfrm>
          <a:prstGeom prst="rect">
            <a:avLst/>
          </a:prstGeom>
          <a:noFill/>
          <a:ln/>
        </p:spPr>
        <p:txBody>
          <a:bodyPr wrap="square" lIns="0" tIns="0" rIns="0" bIns="0" rtlCol="0" anchor="t"/>
          <a:lstStyle/>
          <a:p>
            <a:pPr indent="0" marL="0">
              <a:buNone/>
            </a:pPr>
            <a:r>
              <a:rPr lang="en-US" sz="1300" dirty="0">
                <a:solidFill>
                  <a:srgbClr val="3D3D3A"/>
                </a:solidFill>
                <a:latin typeface="Avenir Next" pitchFamily="34" charset="0"/>
                <a:ea typeface="Avenir Next" pitchFamily="34" charset="-122"/>
                <a:cs typeface="Avenir Next" pitchFamily="34" charset="-120"/>
              </a:rPr>
              <a:t>Timeouts, failed tools, rate limits</a:t>
            </a:r>
            <a:endParaRPr lang="en-US" sz="1300" dirty="0"/>
          </a:p>
        </p:txBody>
      </p:sp>
      <p:sp>
        <p:nvSpPr>
          <p:cNvPr id="15" name="Shape 13"/>
          <p:cNvSpPr/>
          <p:nvPr/>
        </p:nvSpPr>
        <p:spPr>
          <a:xfrm>
            <a:off x="5065776" y="1828800"/>
            <a:ext cx="2057400" cy="2377440"/>
          </a:xfrm>
          <a:prstGeom prst="rect">
            <a:avLst/>
          </a:prstGeom>
          <a:solidFill>
            <a:srgbClr val="FAF9F5"/>
          </a:solidFill>
          <a:ln w="9525">
            <a:solidFill>
              <a:srgbClr val="D9D5C8"/>
            </a:solidFill>
            <a:prstDash val="solid"/>
          </a:ln>
        </p:spPr>
      </p:sp>
      <p:sp>
        <p:nvSpPr>
          <p:cNvPr id="16" name="Text 14"/>
          <p:cNvSpPr/>
          <p:nvPr/>
        </p:nvSpPr>
        <p:spPr>
          <a:xfrm>
            <a:off x="5294376" y="2011680"/>
            <a:ext cx="914400" cy="457200"/>
          </a:xfrm>
          <a:prstGeom prst="rect">
            <a:avLst/>
          </a:prstGeom>
          <a:noFill/>
          <a:ln/>
        </p:spPr>
        <p:txBody>
          <a:bodyPr wrap="square" lIns="0" tIns="0" rIns="0" bIns="0" rtlCol="0" anchor="t"/>
          <a:lstStyle/>
          <a:p>
            <a:pPr indent="0" marL="0">
              <a:buNone/>
            </a:pPr>
            <a:r>
              <a:rPr lang="en-US" sz="2800" dirty="0">
                <a:solidFill>
                  <a:srgbClr val="D97757"/>
                </a:solidFill>
                <a:latin typeface="Charter" pitchFamily="34" charset="0"/>
                <a:ea typeface="Charter" pitchFamily="34" charset="-122"/>
                <a:cs typeface="Charter" pitchFamily="34" charset="-120"/>
              </a:rPr>
              <a:t>3</a:t>
            </a:r>
            <a:endParaRPr lang="en-US" sz="2800" dirty="0"/>
          </a:p>
        </p:txBody>
      </p:sp>
      <p:sp>
        <p:nvSpPr>
          <p:cNvPr id="17" name="Text 15"/>
          <p:cNvSpPr/>
          <p:nvPr/>
        </p:nvSpPr>
        <p:spPr>
          <a:xfrm>
            <a:off x="5294376" y="2514600"/>
            <a:ext cx="1691640" cy="365760"/>
          </a:xfrm>
          <a:prstGeom prst="rect">
            <a:avLst/>
          </a:prstGeom>
          <a:noFill/>
          <a:ln/>
        </p:spPr>
        <p:txBody>
          <a:bodyPr wrap="square" lIns="0" tIns="0" rIns="0" bIns="0" rtlCol="0" anchor="t"/>
          <a:lstStyle/>
          <a:p>
            <a:pPr indent="0" marL="0">
              <a:buNone/>
            </a:pPr>
            <a:r>
              <a:rPr lang="en-US" sz="1800" b="1" dirty="0">
                <a:solidFill>
                  <a:srgbClr val="141413"/>
                </a:solidFill>
                <a:latin typeface="Avenir Next" pitchFamily="34" charset="0"/>
                <a:ea typeface="Avenir Next" pitchFamily="34" charset="-122"/>
                <a:cs typeface="Avenir Next" pitchFamily="34" charset="-120"/>
              </a:rPr>
              <a:t>Tokens</a:t>
            </a:r>
            <a:endParaRPr lang="en-US" sz="1800" dirty="0"/>
          </a:p>
        </p:txBody>
      </p:sp>
      <p:sp>
        <p:nvSpPr>
          <p:cNvPr id="18" name="Text 16"/>
          <p:cNvSpPr/>
          <p:nvPr/>
        </p:nvSpPr>
        <p:spPr>
          <a:xfrm>
            <a:off x="5294376" y="2971800"/>
            <a:ext cx="1691640" cy="1097280"/>
          </a:xfrm>
          <a:prstGeom prst="rect">
            <a:avLst/>
          </a:prstGeom>
          <a:noFill/>
          <a:ln/>
        </p:spPr>
        <p:txBody>
          <a:bodyPr wrap="square" lIns="0" tIns="0" rIns="0" bIns="0" rtlCol="0" anchor="t"/>
          <a:lstStyle/>
          <a:p>
            <a:pPr indent="0" marL="0">
              <a:buNone/>
            </a:pPr>
            <a:r>
              <a:rPr lang="en-US" sz="1300" dirty="0">
                <a:solidFill>
                  <a:srgbClr val="3D3D3A"/>
                </a:solidFill>
                <a:latin typeface="Avenir Next" pitchFamily="34" charset="0"/>
                <a:ea typeface="Avenir Next" pitchFamily="34" charset="-122"/>
                <a:cs typeface="Avenir Next" pitchFamily="34" charset="-120"/>
              </a:rPr>
              <a:t>How much text goes in and out of the model</a:t>
            </a:r>
            <a:endParaRPr lang="en-US" sz="1300" dirty="0"/>
          </a:p>
        </p:txBody>
      </p:sp>
      <p:sp>
        <p:nvSpPr>
          <p:cNvPr id="19" name="Shape 17"/>
          <p:cNvSpPr/>
          <p:nvPr/>
        </p:nvSpPr>
        <p:spPr>
          <a:xfrm>
            <a:off x="7278624" y="1828800"/>
            <a:ext cx="2057400" cy="2377440"/>
          </a:xfrm>
          <a:prstGeom prst="rect">
            <a:avLst/>
          </a:prstGeom>
          <a:solidFill>
            <a:srgbClr val="FAF9F5"/>
          </a:solidFill>
          <a:ln w="9525">
            <a:solidFill>
              <a:srgbClr val="D9D5C8"/>
            </a:solidFill>
            <a:prstDash val="solid"/>
          </a:ln>
        </p:spPr>
      </p:sp>
      <p:sp>
        <p:nvSpPr>
          <p:cNvPr id="20" name="Text 18"/>
          <p:cNvSpPr/>
          <p:nvPr/>
        </p:nvSpPr>
        <p:spPr>
          <a:xfrm>
            <a:off x="7507224" y="2011680"/>
            <a:ext cx="914400" cy="457200"/>
          </a:xfrm>
          <a:prstGeom prst="rect">
            <a:avLst/>
          </a:prstGeom>
          <a:noFill/>
          <a:ln/>
        </p:spPr>
        <p:txBody>
          <a:bodyPr wrap="square" lIns="0" tIns="0" rIns="0" bIns="0" rtlCol="0" anchor="t"/>
          <a:lstStyle/>
          <a:p>
            <a:pPr indent="0" marL="0">
              <a:buNone/>
            </a:pPr>
            <a:r>
              <a:rPr lang="en-US" sz="2800" dirty="0">
                <a:solidFill>
                  <a:srgbClr val="D97757"/>
                </a:solidFill>
                <a:latin typeface="Charter" pitchFamily="34" charset="0"/>
                <a:ea typeface="Charter" pitchFamily="34" charset="-122"/>
                <a:cs typeface="Charter" pitchFamily="34" charset="-120"/>
              </a:rPr>
              <a:t>4</a:t>
            </a:r>
            <a:endParaRPr lang="en-US" sz="2800" dirty="0"/>
          </a:p>
        </p:txBody>
      </p:sp>
      <p:sp>
        <p:nvSpPr>
          <p:cNvPr id="21" name="Text 19"/>
          <p:cNvSpPr/>
          <p:nvPr/>
        </p:nvSpPr>
        <p:spPr>
          <a:xfrm>
            <a:off x="7507224" y="2514600"/>
            <a:ext cx="1691640" cy="365760"/>
          </a:xfrm>
          <a:prstGeom prst="rect">
            <a:avLst/>
          </a:prstGeom>
          <a:noFill/>
          <a:ln/>
        </p:spPr>
        <p:txBody>
          <a:bodyPr wrap="square" lIns="0" tIns="0" rIns="0" bIns="0" rtlCol="0" anchor="t"/>
          <a:lstStyle/>
          <a:p>
            <a:pPr indent="0" marL="0">
              <a:buNone/>
            </a:pPr>
            <a:r>
              <a:rPr lang="en-US" sz="1800" b="1" dirty="0">
                <a:solidFill>
                  <a:srgbClr val="141413"/>
                </a:solidFill>
                <a:latin typeface="Avenir Next" pitchFamily="34" charset="0"/>
                <a:ea typeface="Avenir Next" pitchFamily="34" charset="-122"/>
                <a:cs typeface="Avenir Next" pitchFamily="34" charset="-120"/>
              </a:rPr>
              <a:t>Cost</a:t>
            </a:r>
            <a:endParaRPr lang="en-US" sz="1800" dirty="0"/>
          </a:p>
        </p:txBody>
      </p:sp>
      <p:sp>
        <p:nvSpPr>
          <p:cNvPr id="22" name="Text 20"/>
          <p:cNvSpPr/>
          <p:nvPr/>
        </p:nvSpPr>
        <p:spPr>
          <a:xfrm>
            <a:off x="7507224" y="2971800"/>
            <a:ext cx="1691640" cy="1097280"/>
          </a:xfrm>
          <a:prstGeom prst="rect">
            <a:avLst/>
          </a:prstGeom>
          <a:noFill/>
          <a:ln/>
        </p:spPr>
        <p:txBody>
          <a:bodyPr wrap="square" lIns="0" tIns="0" rIns="0" bIns="0" rtlCol="0" anchor="t"/>
          <a:lstStyle/>
          <a:p>
            <a:pPr indent="0" marL="0">
              <a:buNone/>
            </a:pPr>
            <a:r>
              <a:rPr lang="en-US" sz="1300" dirty="0">
                <a:solidFill>
                  <a:srgbClr val="3D3D3A"/>
                </a:solidFill>
                <a:latin typeface="Avenir Next" pitchFamily="34" charset="0"/>
                <a:ea typeface="Avenir Next" pitchFamily="34" charset="-122"/>
                <a:cs typeface="Avenir Next" pitchFamily="34" charset="-120"/>
              </a:rPr>
              <a:t>Money per request, per user, per day</a:t>
            </a:r>
            <a:endParaRPr lang="en-US" sz="1300" dirty="0"/>
          </a:p>
        </p:txBody>
      </p:sp>
      <p:sp>
        <p:nvSpPr>
          <p:cNvPr id="23" name="Shape 21"/>
          <p:cNvSpPr/>
          <p:nvPr/>
        </p:nvSpPr>
        <p:spPr>
          <a:xfrm>
            <a:off x="9491472" y="1828800"/>
            <a:ext cx="2057400" cy="2377440"/>
          </a:xfrm>
          <a:prstGeom prst="rect">
            <a:avLst/>
          </a:prstGeom>
          <a:solidFill>
            <a:srgbClr val="FAF9F5"/>
          </a:solidFill>
          <a:ln w="9525">
            <a:solidFill>
              <a:srgbClr val="D9D5C8"/>
            </a:solidFill>
            <a:prstDash val="solid"/>
          </a:ln>
        </p:spPr>
      </p:sp>
      <p:sp>
        <p:nvSpPr>
          <p:cNvPr id="24" name="Text 22"/>
          <p:cNvSpPr/>
          <p:nvPr/>
        </p:nvSpPr>
        <p:spPr>
          <a:xfrm>
            <a:off x="9720072" y="2011680"/>
            <a:ext cx="914400" cy="457200"/>
          </a:xfrm>
          <a:prstGeom prst="rect">
            <a:avLst/>
          </a:prstGeom>
          <a:noFill/>
          <a:ln/>
        </p:spPr>
        <p:txBody>
          <a:bodyPr wrap="square" lIns="0" tIns="0" rIns="0" bIns="0" rtlCol="0" anchor="t"/>
          <a:lstStyle/>
          <a:p>
            <a:pPr indent="0" marL="0">
              <a:buNone/>
            </a:pPr>
            <a:r>
              <a:rPr lang="en-US" sz="2800" dirty="0">
                <a:solidFill>
                  <a:srgbClr val="D97757"/>
                </a:solidFill>
                <a:latin typeface="Charter" pitchFamily="34" charset="0"/>
                <a:ea typeface="Charter" pitchFamily="34" charset="-122"/>
                <a:cs typeface="Charter" pitchFamily="34" charset="-120"/>
              </a:rPr>
              <a:t>5</a:t>
            </a:r>
            <a:endParaRPr lang="en-US" sz="2800" dirty="0"/>
          </a:p>
        </p:txBody>
      </p:sp>
      <p:sp>
        <p:nvSpPr>
          <p:cNvPr id="25" name="Text 23"/>
          <p:cNvSpPr/>
          <p:nvPr/>
        </p:nvSpPr>
        <p:spPr>
          <a:xfrm>
            <a:off x="9720072" y="2514600"/>
            <a:ext cx="1691640" cy="365760"/>
          </a:xfrm>
          <a:prstGeom prst="rect">
            <a:avLst/>
          </a:prstGeom>
          <a:noFill/>
          <a:ln/>
        </p:spPr>
        <p:txBody>
          <a:bodyPr wrap="square" lIns="0" tIns="0" rIns="0" bIns="0" rtlCol="0" anchor="t"/>
          <a:lstStyle/>
          <a:p>
            <a:pPr indent="0" marL="0">
              <a:buNone/>
            </a:pPr>
            <a:r>
              <a:rPr lang="en-US" sz="1800" b="1" dirty="0">
                <a:solidFill>
                  <a:srgbClr val="141413"/>
                </a:solidFill>
                <a:latin typeface="Avenir Next" pitchFamily="34" charset="0"/>
                <a:ea typeface="Avenir Next" pitchFamily="34" charset="-122"/>
                <a:cs typeface="Avenir Next" pitchFamily="34" charset="-120"/>
              </a:rPr>
              <a:t>Quality</a:t>
            </a:r>
            <a:endParaRPr lang="en-US" sz="1800" dirty="0"/>
          </a:p>
        </p:txBody>
      </p:sp>
      <p:sp>
        <p:nvSpPr>
          <p:cNvPr id="26" name="Text 24"/>
          <p:cNvSpPr/>
          <p:nvPr/>
        </p:nvSpPr>
        <p:spPr>
          <a:xfrm>
            <a:off x="9720072" y="2971800"/>
            <a:ext cx="1691640" cy="1097280"/>
          </a:xfrm>
          <a:prstGeom prst="rect">
            <a:avLst/>
          </a:prstGeom>
          <a:noFill/>
          <a:ln/>
        </p:spPr>
        <p:txBody>
          <a:bodyPr wrap="square" lIns="0" tIns="0" rIns="0" bIns="0" rtlCol="0" anchor="t"/>
          <a:lstStyle/>
          <a:p>
            <a:pPr indent="0" marL="0">
              <a:buNone/>
            </a:pPr>
            <a:r>
              <a:rPr lang="en-US" sz="1300" dirty="0">
                <a:solidFill>
                  <a:srgbClr val="3D3D3A"/>
                </a:solidFill>
                <a:latin typeface="Avenir Next" pitchFamily="34" charset="0"/>
                <a:ea typeface="Avenir Next" pitchFamily="34" charset="-122"/>
                <a:cs typeface="Avenir Next" pitchFamily="34" charset="-120"/>
              </a:rPr>
              <a:t>Thumbs up or down, or another AI grading answers</a:t>
            </a:r>
            <a:endParaRPr lang="en-US" sz="1300" dirty="0"/>
          </a:p>
        </p:txBody>
      </p:sp>
      <p:sp>
        <p:nvSpPr>
          <p:cNvPr id="27" name="Text 25"/>
          <p:cNvSpPr/>
          <p:nvPr/>
        </p:nvSpPr>
        <p:spPr>
          <a:xfrm>
            <a:off x="640080" y="4572000"/>
            <a:ext cx="10881360" cy="457200"/>
          </a:xfrm>
          <a:prstGeom prst="rect">
            <a:avLst/>
          </a:prstGeom>
          <a:noFill/>
          <a:ln/>
        </p:spPr>
        <p:txBody>
          <a:bodyPr wrap="square" lIns="0" tIns="0" rIns="0" bIns="0" rtlCol="0" anchor="t"/>
          <a:lstStyle/>
          <a:p>
            <a:pPr indent="0" marL="0">
              <a:buNone/>
            </a:pPr>
            <a:r>
              <a:rPr lang="en-US" sz="1600" dirty="0">
                <a:solidFill>
                  <a:srgbClr val="141413"/>
                </a:solidFill>
                <a:latin typeface="Avenir Next" pitchFamily="34" charset="0"/>
                <a:ea typeface="Avenir Next" pitchFamily="34" charset="-122"/>
                <a:cs typeface="Avenir Next" pitchFamily="34" charset="-120"/>
              </a:rPr>
              <a:t>Also record who asked (user) and which prompt version you used, so you can compare later.</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1  The basics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18</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A friendlier prompt made answers longer and </a:t>
            </a:r>
            <a:pPr indent="0" marL="0">
              <a:buNone/>
            </a:pPr>
            <a:r>
              <a:rPr lang="en-US" sz="2800" i="1" dirty="0">
                <a:solidFill>
                  <a:srgbClr val="D97757"/>
                </a:solidFill>
                <a:latin typeface="Charter" pitchFamily="34" charset="0"/>
                <a:ea typeface="Charter" pitchFamily="34" charset="-122"/>
                <a:cs typeface="Charter" pitchFamily="34" charset="-120"/>
              </a:rPr>
              <a:t>doubled the monthly bill</a:t>
            </a:r>
            <a:endParaRPr lang="en-US" sz="2800" dirty="0"/>
          </a:p>
        </p:txBody>
      </p:sp>
      <p:graphicFrame>
        <p:nvGraphicFramePr>
          <p:cNvPr id="7" name="Chart 0" descr=""/>
          <p:cNvGraphicFramePr/>
          <p:nvPr/>
        </p:nvGraphicFramePr>
        <p:xfrm>
          <a:off x="640080" y="178308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8046720" y="1828800"/>
            <a:ext cx="3657600" cy="548640"/>
          </a:xfrm>
          <a:prstGeom prst="rect">
            <a:avLst/>
          </a:prstGeom>
          <a:noFill/>
          <a:ln/>
        </p:spPr>
        <p:txBody>
          <a:bodyPr wrap="square" lIns="0" tIns="0" rIns="0" bIns="0" rtlCol="0" anchor="t"/>
          <a:lstStyle/>
          <a:p>
            <a:pPr indent="0" marL="0">
              <a:buNone/>
            </a:pPr>
            <a:r>
              <a:rPr lang="en-US" sz="3200" dirty="0">
                <a:solidFill>
                  <a:srgbClr val="141413"/>
                </a:solidFill>
                <a:latin typeface="Charter" pitchFamily="34" charset="0"/>
                <a:ea typeface="Charter" pitchFamily="34" charset="-122"/>
                <a:cs typeface="Charter" pitchFamily="34" charset="-120"/>
              </a:rPr>
              <a:t>31 tokens</a:t>
            </a:r>
            <a:endParaRPr lang="en-US" sz="3200" dirty="0"/>
          </a:p>
        </p:txBody>
      </p:sp>
      <p:sp>
        <p:nvSpPr>
          <p:cNvPr id="9" name="Text 6"/>
          <p:cNvSpPr/>
          <p:nvPr/>
        </p:nvSpPr>
        <p:spPr>
          <a:xfrm>
            <a:off x="8046720" y="2377440"/>
            <a:ext cx="3657600" cy="320040"/>
          </a:xfrm>
          <a:prstGeom prst="rect">
            <a:avLst/>
          </a:prstGeom>
          <a:noFill/>
          <a:ln/>
        </p:spPr>
        <p:txBody>
          <a:bodyPr wrap="square" lIns="0" tIns="0" rIns="0" bIns="0" rtlCol="0" anchor="t"/>
          <a:lstStyle/>
          <a:p>
            <a:pPr indent="0" marL="0">
              <a:buNone/>
            </a:pPr>
            <a:r>
              <a:rPr lang="en-US" sz="1300" dirty="0">
                <a:solidFill>
                  <a:srgbClr val="87867F"/>
                </a:solidFill>
                <a:latin typeface="Avenir Next" pitchFamily="34" charset="0"/>
                <a:ea typeface="Avenir Next" pitchFamily="34" charset="-122"/>
                <a:cs typeface="Avenir Next" pitchFamily="34" charset="-120"/>
              </a:rPr>
              <a:t>average answer, concise prompt</a:t>
            </a:r>
            <a:endParaRPr lang="en-US" sz="1300" dirty="0"/>
          </a:p>
        </p:txBody>
      </p:sp>
      <p:sp>
        <p:nvSpPr>
          <p:cNvPr id="10" name="Text 7"/>
          <p:cNvSpPr/>
          <p:nvPr/>
        </p:nvSpPr>
        <p:spPr>
          <a:xfrm>
            <a:off x="8046720" y="2926080"/>
            <a:ext cx="3657600" cy="548640"/>
          </a:xfrm>
          <a:prstGeom prst="rect">
            <a:avLst/>
          </a:prstGeom>
          <a:noFill/>
          <a:ln/>
        </p:spPr>
        <p:txBody>
          <a:bodyPr wrap="square" lIns="0" tIns="0" rIns="0" bIns="0" rtlCol="0" anchor="t"/>
          <a:lstStyle/>
          <a:p>
            <a:pPr indent="0" marL="0">
              <a:buNone/>
            </a:pPr>
            <a:r>
              <a:rPr lang="en-US" sz="3200" dirty="0">
                <a:solidFill>
                  <a:srgbClr val="D97757"/>
                </a:solidFill>
                <a:latin typeface="Charter" pitchFamily="34" charset="0"/>
                <a:ea typeface="Charter" pitchFamily="34" charset="-122"/>
                <a:cs typeface="Charter" pitchFamily="34" charset="-120"/>
              </a:rPr>
              <a:t>87 tokens</a:t>
            </a:r>
            <a:endParaRPr lang="en-US" sz="3200" dirty="0"/>
          </a:p>
        </p:txBody>
      </p:sp>
      <p:sp>
        <p:nvSpPr>
          <p:cNvPr id="11" name="Text 8"/>
          <p:cNvSpPr/>
          <p:nvPr/>
        </p:nvSpPr>
        <p:spPr>
          <a:xfrm>
            <a:off x="8046720" y="3474720"/>
            <a:ext cx="3657600" cy="320040"/>
          </a:xfrm>
          <a:prstGeom prst="rect">
            <a:avLst/>
          </a:prstGeom>
          <a:noFill/>
          <a:ln/>
        </p:spPr>
        <p:txBody>
          <a:bodyPr wrap="square" lIns="0" tIns="0" rIns="0" bIns="0" rtlCol="0" anchor="t"/>
          <a:lstStyle/>
          <a:p>
            <a:pPr indent="0" marL="0">
              <a:buNone/>
            </a:pPr>
            <a:r>
              <a:rPr lang="en-US" sz="1300" dirty="0">
                <a:solidFill>
                  <a:srgbClr val="87867F"/>
                </a:solidFill>
                <a:latin typeface="Avenir Next" pitchFamily="34" charset="0"/>
                <a:ea typeface="Avenir Next" pitchFamily="34" charset="-122"/>
                <a:cs typeface="Avenir Next" pitchFamily="34" charset="-120"/>
              </a:rPr>
              <a:t>average answer, friendly prompt</a:t>
            </a:r>
            <a:endParaRPr lang="en-US" sz="1300" dirty="0"/>
          </a:p>
        </p:txBody>
      </p:sp>
      <p:sp>
        <p:nvSpPr>
          <p:cNvPr id="12" name="Text 9"/>
          <p:cNvSpPr/>
          <p:nvPr/>
        </p:nvSpPr>
        <p:spPr>
          <a:xfrm>
            <a:off x="8046720" y="4114800"/>
            <a:ext cx="3566160" cy="1280160"/>
          </a:xfrm>
          <a:prstGeom prst="rect">
            <a:avLst/>
          </a:prstGeom>
          <a:noFill/>
          <a:ln/>
        </p:spPr>
        <p:txBody>
          <a:bodyPr wrap="square" lIns="0" tIns="0" rIns="0" bIns="0" rtlCol="0" anchor="t"/>
          <a:lstStyle/>
          <a:p>
            <a:pPr indent="0" marL="0">
              <a:buNone/>
            </a:pPr>
            <a:r>
              <a:rPr lang="en-US" sz="1400" dirty="0">
                <a:solidFill>
                  <a:srgbClr val="3D3D3A"/>
                </a:solidFill>
                <a:latin typeface="Avenir Next" pitchFamily="34" charset="0"/>
                <a:ea typeface="Avenir Next" pitchFamily="34" charset="-122"/>
                <a:cs typeface="Avenir Next" pitchFamily="34" charset="-120"/>
              </a:rPr>
              <a:t>Longer answers mean more tokens, and more tokens mean more money. You only see this if you measure it.</a:t>
            </a:r>
            <a:endParaRPr lang="en-US" sz="1400" dirty="0"/>
          </a:p>
        </p:txBody>
      </p:sp>
      <p:sp>
        <p:nvSpPr>
          <p:cNvPr id="13" name="Text 10"/>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87867F"/>
                </a:solidFill>
                <a:latin typeface="Avenir Next" pitchFamily="34" charset="0"/>
                <a:ea typeface="Avenir Next" pitchFamily="34" charset="-122"/>
                <a:cs typeface="Avenir Next" pitchFamily="34" charset="-120"/>
              </a:rPr>
              <a:t>Projected cost at 10,000 requests per day, USD per month. Measured on 48 real requests (notebooks/advanced/05).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8168335" y="0"/>
            <a:ext cx="4023360" cy="6858000"/>
          </a:xfrm>
          <a:prstGeom prst="rect">
            <a:avLst/>
          </a:prstGeom>
          <a:solidFill>
            <a:srgbClr val="D97757"/>
          </a:solidFill>
          <a:ln w="12700">
            <a:solidFill>
              <a:srgbClr val="D97757"/>
            </a:solidFill>
            <a:prstDash val="solid"/>
          </a:ln>
        </p:spPr>
      </p:sp>
      <p:sp>
        <p:nvSpPr>
          <p:cNvPr id="3" name="Text 1"/>
          <p:cNvSpPr/>
          <p:nvPr/>
        </p:nvSpPr>
        <p:spPr>
          <a:xfrm>
            <a:off x="8168335" y="1463040"/>
            <a:ext cx="4023360" cy="3840480"/>
          </a:xfrm>
          <a:prstGeom prst="rect">
            <a:avLst/>
          </a:prstGeom>
          <a:noFill/>
          <a:ln/>
        </p:spPr>
        <p:txBody>
          <a:bodyPr wrap="square" lIns="0" tIns="0" rIns="0" bIns="0" rtlCol="0" anchor="ctr"/>
          <a:lstStyle/>
          <a:p>
            <a:pPr algn="ctr" indent="0" marL="0">
              <a:buNone/>
            </a:pPr>
            <a:r>
              <a:rPr lang="en-US" sz="24000" dirty="0">
                <a:solidFill>
                  <a:srgbClr val="141413"/>
                </a:solidFill>
                <a:latin typeface="Charter" pitchFamily="34" charset="0"/>
                <a:ea typeface="Charter" pitchFamily="34" charset="-122"/>
                <a:cs typeface="Charter" pitchFamily="34" charset="-120"/>
              </a:rPr>
              <a:t>2</a:t>
            </a:r>
            <a:endParaRPr lang="en-US" sz="24000" dirty="0"/>
          </a:p>
        </p:txBody>
      </p:sp>
      <p:sp>
        <p:nvSpPr>
          <p:cNvPr id="4" name="Text 2"/>
          <p:cNvSpPr/>
          <p:nvPr/>
        </p:nvSpPr>
        <p:spPr>
          <a:xfrm>
            <a:off x="640080" y="2148840"/>
            <a:ext cx="6400800" cy="365760"/>
          </a:xfrm>
          <a:prstGeom prst="rect">
            <a:avLst/>
          </a:prstGeom>
          <a:noFill/>
          <a:ln/>
        </p:spPr>
        <p:txBody>
          <a:bodyPr wrap="square" lIns="0" tIns="0" rIns="0" bIns="0" rtlCol="0" anchor="ctr"/>
          <a:lstStyle/>
          <a:p>
            <a:pPr indent="0" marL="0">
              <a:buNone/>
            </a:pPr>
            <a:r>
              <a:rPr lang="en-US" sz="1400" b="1" spc="200" kern="0" dirty="0">
                <a:solidFill>
                  <a:srgbClr val="D97757"/>
                </a:solidFill>
                <a:latin typeface="Avenir Next" pitchFamily="34" charset="0"/>
                <a:ea typeface="Avenir Next" pitchFamily="34" charset="-122"/>
                <a:cs typeface="Avenir Next" pitchFamily="34" charset="-120"/>
              </a:rPr>
              <a:t>Part 2</a:t>
            </a:r>
            <a:endParaRPr lang="en-US" sz="1400" dirty="0"/>
          </a:p>
        </p:txBody>
      </p:sp>
      <p:sp>
        <p:nvSpPr>
          <p:cNvPr id="5" name="Text 3"/>
          <p:cNvSpPr/>
          <p:nvPr/>
        </p:nvSpPr>
        <p:spPr>
          <a:xfrm>
            <a:off x="640080" y="2606040"/>
            <a:ext cx="7132320" cy="1005840"/>
          </a:xfrm>
          <a:prstGeom prst="rect">
            <a:avLst/>
          </a:prstGeom>
          <a:noFill/>
          <a:ln/>
        </p:spPr>
        <p:txBody>
          <a:bodyPr wrap="square" lIns="0" tIns="0" rIns="0" bIns="0" rtlCol="0" anchor="ctr"/>
          <a:lstStyle/>
          <a:p>
            <a:pPr indent="0" marL="0">
              <a:buNone/>
            </a:pPr>
            <a:r>
              <a:rPr lang="en-US" sz="5200" dirty="0">
                <a:solidFill>
                  <a:srgbClr val="F0EEE6"/>
                </a:solidFill>
                <a:latin typeface="Charter" pitchFamily="34" charset="0"/>
                <a:ea typeface="Charter" pitchFamily="34" charset="-122"/>
                <a:cs typeface="Charter" pitchFamily="34" charset="-120"/>
              </a:rPr>
              <a:t>Langfuse</a:t>
            </a:r>
            <a:endParaRPr lang="en-US" sz="5200" dirty="0"/>
          </a:p>
        </p:txBody>
      </p:sp>
      <p:sp>
        <p:nvSpPr>
          <p:cNvPr id="6" name="Text 4"/>
          <p:cNvSpPr/>
          <p:nvPr/>
        </p:nvSpPr>
        <p:spPr>
          <a:xfrm>
            <a:off x="640080" y="3749040"/>
            <a:ext cx="6766560" cy="822960"/>
          </a:xfrm>
          <a:prstGeom prst="rect">
            <a:avLst/>
          </a:prstGeom>
          <a:noFill/>
          <a:ln/>
        </p:spPr>
        <p:txBody>
          <a:bodyPr wrap="square" lIns="0" tIns="0" rIns="0" bIns="0" rtlCol="0" anchor="t"/>
          <a:lstStyle/>
          <a:p>
            <a:pPr indent="0" marL="0">
              <a:buNone/>
            </a:pPr>
            <a:r>
              <a:rPr lang="en-US" sz="1800" dirty="0">
                <a:solidFill>
                  <a:srgbClr val="C9C6BC"/>
                </a:solidFill>
                <a:latin typeface="Avenir Next" pitchFamily="34" charset="0"/>
                <a:ea typeface="Avenir Next" pitchFamily="34" charset="-122"/>
                <a:cs typeface="Avenir Next" pitchFamily="34" charset="-120"/>
              </a:rPr>
              <a:t>Send the same assistant to a real dashboard, running on this laptop.</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2  Langfuse</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20</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Langfuse is a </a:t>
            </a:r>
            <a:pPr indent="0" marL="0">
              <a:buNone/>
            </a:pPr>
            <a:r>
              <a:rPr lang="en-US" sz="2800" i="1" dirty="0">
                <a:solidFill>
                  <a:srgbClr val="D97757"/>
                </a:solidFill>
                <a:latin typeface="Charter" pitchFamily="34" charset="0"/>
                <a:ea typeface="Charter" pitchFamily="34" charset="-122"/>
                <a:cs typeface="Charter" pitchFamily="34" charset="-120"/>
              </a:rPr>
              <a:t>free, open source</a:t>
            </a:r>
            <a:pPr indent="0" marL="0">
              <a:buNone/>
            </a:pPr>
            <a:r>
              <a:rPr lang="en-US" sz="2800" dirty="0">
                <a:solidFill>
                  <a:srgbClr val="141413"/>
                </a:solidFill>
                <a:latin typeface="Charter" pitchFamily="34" charset="0"/>
                <a:ea typeface="Charter" pitchFamily="34" charset="-122"/>
                <a:cs typeface="Charter" pitchFamily="34" charset="-120"/>
              </a:rPr>
              <a:t> dashboard for AI traces</a:t>
            </a:r>
            <a:endParaRPr lang="en-US" sz="2800" dirty="0"/>
          </a:p>
        </p:txBody>
      </p:sp>
      <p:pic>
        <p:nvPicPr>
          <p:cNvPr id="7" name="Image 0" descr="/Users/datasense/Desktop/ai-observability/slides/assets/logo-langfuse-color.png">    </p:cNvPr>
          <p:cNvPicPr>
            <a:picLocks noChangeAspect="1"/>
          </p:cNvPicPr>
          <p:nvPr/>
        </p:nvPicPr>
        <p:blipFill>
          <a:blip r:embed="rId1"/>
          <a:stretch>
            <a:fillRect/>
          </a:stretch>
        </p:blipFill>
        <p:spPr>
          <a:xfrm>
            <a:off x="11002975" y="274320"/>
            <a:ext cx="502920" cy="502920"/>
          </a:xfrm>
          <a:prstGeom prst="rect">
            <a:avLst/>
          </a:prstGeom>
        </p:spPr>
      </p:pic>
      <p:sp>
        <p:nvSpPr>
          <p:cNvPr id="8" name="Shape 5"/>
          <p:cNvSpPr/>
          <p:nvPr/>
        </p:nvSpPr>
        <p:spPr>
          <a:xfrm>
            <a:off x="640080" y="1828800"/>
            <a:ext cx="5120640" cy="1371600"/>
          </a:xfrm>
          <a:prstGeom prst="rect">
            <a:avLst/>
          </a:prstGeom>
          <a:solidFill>
            <a:srgbClr val="1A1918"/>
          </a:solidFill>
          <a:ln w="12700">
            <a:solidFill>
              <a:srgbClr val="1A1918"/>
            </a:solidFill>
            <a:prstDash val="solid"/>
          </a:ln>
        </p:spPr>
      </p:sp>
      <p:sp>
        <p:nvSpPr>
          <p:cNvPr id="9" name="Shape 6"/>
          <p:cNvSpPr/>
          <p:nvPr/>
        </p:nvSpPr>
        <p:spPr>
          <a:xfrm>
            <a:off x="640080" y="1828800"/>
            <a:ext cx="54864" cy="1371600"/>
          </a:xfrm>
          <a:prstGeom prst="rect">
            <a:avLst/>
          </a:prstGeom>
          <a:solidFill>
            <a:srgbClr val="D97757"/>
          </a:solidFill>
          <a:ln w="12700">
            <a:solidFill>
              <a:srgbClr val="D97757"/>
            </a:solidFill>
            <a:prstDash val="solid"/>
          </a:ln>
        </p:spPr>
      </p:sp>
      <p:sp>
        <p:nvSpPr>
          <p:cNvPr id="10" name="Text 7"/>
          <p:cNvSpPr/>
          <p:nvPr/>
        </p:nvSpPr>
        <p:spPr>
          <a:xfrm>
            <a:off x="914400" y="2057400"/>
            <a:ext cx="4572000" cy="914400"/>
          </a:xfrm>
          <a:prstGeom prst="rect">
            <a:avLst/>
          </a:prstGeom>
          <a:noFill/>
          <a:ln/>
        </p:spPr>
        <p:txBody>
          <a:bodyPr wrap="square" lIns="0" tIns="0" rIns="0" bIns="0" rtlCol="0" anchor="t"/>
          <a:lstStyle/>
          <a:p>
            <a:pPr indent="0" marL="0">
              <a:spcAft>
                <a:spcPts val="300"/>
              </a:spcAft>
              <a:buNone/>
            </a:pPr>
            <a:r>
              <a:rPr lang="en-US" sz="1500" dirty="0">
                <a:solidFill>
                  <a:srgbClr val="8DB4DC"/>
                </a:solidFill>
                <a:latin typeface="Menlo" pitchFamily="34" charset="0"/>
                <a:ea typeface="Menlo" pitchFamily="34" charset="-122"/>
                <a:cs typeface="Menlo" pitchFamily="34" charset="-120"/>
              </a:rPr>
              <a:t>make </a:t>
            </a:r>
            <a:pPr indent="0" marL="0">
              <a:spcAft>
                <a:spcPts val="300"/>
              </a:spcAft>
              <a:buNone/>
            </a:pPr>
            <a:r>
              <a:rPr lang="en-US" sz="1500" dirty="0">
                <a:solidFill>
                  <a:srgbClr val="E8E6DC"/>
                </a:solidFill>
                <a:latin typeface="Menlo" pitchFamily="34" charset="0"/>
                <a:ea typeface="Menlo" pitchFamily="34" charset="-122"/>
                <a:cs typeface="Menlo" pitchFamily="34" charset="-120"/>
              </a:rPr>
              <a:t>up</a:t>
            </a:r>
            <a:endParaRPr lang="en-US" sz="1500" dirty="0"/>
          </a:p>
          <a:p>
            <a:pPr indent="0" marL="0">
              <a:spcAft>
                <a:spcPts val="300"/>
              </a:spcAft>
              <a:buNone/>
            </a:pPr>
            <a:r>
              <a:rPr lang="en-US" sz="1500" dirty="0">
                <a:solidFill>
                  <a:srgbClr val="8DB4DC"/>
                </a:solidFill>
                <a:latin typeface="Menlo" pitchFamily="34" charset="0"/>
                <a:ea typeface="Menlo" pitchFamily="34" charset="-122"/>
                <a:cs typeface="Menlo" pitchFamily="34" charset="-120"/>
              </a:rPr>
              <a:t>open </a:t>
            </a:r>
            <a:pPr indent="0" marL="0">
              <a:spcAft>
                <a:spcPts val="300"/>
              </a:spcAft>
              <a:buNone/>
            </a:pPr>
            <a:r>
              <a:rPr lang="en-US" sz="1500" dirty="0">
                <a:solidFill>
                  <a:srgbClr val="A7BC86"/>
                </a:solidFill>
                <a:latin typeface="Menlo" pitchFamily="34" charset="0"/>
                <a:ea typeface="Menlo" pitchFamily="34" charset="-122"/>
                <a:cs typeface="Menlo" pitchFamily="34" charset="-120"/>
              </a:rPr>
              <a:t>http://localhost:3000</a:t>
            </a:r>
            <a:endParaRPr lang="en-US" sz="1500" dirty="0"/>
          </a:p>
        </p:txBody>
      </p:sp>
      <p:sp>
        <p:nvSpPr>
          <p:cNvPr id="11" name="Text 8"/>
          <p:cNvSpPr/>
          <p:nvPr/>
        </p:nvSpPr>
        <p:spPr>
          <a:xfrm>
            <a:off x="640080" y="3337560"/>
            <a:ext cx="5120640" cy="320040"/>
          </a:xfrm>
          <a:prstGeom prst="rect">
            <a:avLst/>
          </a:prstGeom>
          <a:noFill/>
          <a:ln/>
        </p:spPr>
        <p:txBody>
          <a:bodyPr wrap="square" lIns="0" tIns="0" rIns="0" bIns="0" rtlCol="0" anchor="t"/>
          <a:lstStyle/>
          <a:p>
            <a:pPr indent="0" marL="0">
              <a:buNone/>
            </a:pPr>
            <a:r>
              <a:rPr lang="en-US" sz="1300" dirty="0">
                <a:solidFill>
                  <a:srgbClr val="87867F"/>
                </a:solidFill>
                <a:latin typeface="Avenir Next" pitchFamily="34" charset="0"/>
                <a:ea typeface="Avenir Next" pitchFamily="34" charset="-122"/>
                <a:cs typeface="Avenir Next" pitchFamily="34" charset="-120"/>
              </a:rPr>
              <a:t>Login: admin@observability.lab  /  observability123</a:t>
            </a:r>
            <a:endParaRPr lang="en-US" sz="1300" dirty="0"/>
          </a:p>
        </p:txBody>
      </p:sp>
      <p:sp>
        <p:nvSpPr>
          <p:cNvPr id="12" name="Text 9"/>
          <p:cNvSpPr/>
          <p:nvPr/>
        </p:nvSpPr>
        <p:spPr>
          <a:xfrm>
            <a:off x="6400800" y="1828800"/>
            <a:ext cx="5120640" cy="320040"/>
          </a:xfrm>
          <a:prstGeom prst="rect">
            <a:avLst/>
          </a:prstGeom>
          <a:noFill/>
          <a:ln/>
        </p:spPr>
        <p:txBody>
          <a:bodyPr wrap="square" lIns="0" tIns="0" rIns="0" bIns="0" rtlCol="0" anchor="t"/>
          <a:lstStyle/>
          <a:p>
            <a:pPr indent="0" marL="0">
              <a:buNone/>
            </a:pPr>
            <a:r>
              <a:rPr lang="en-US" sz="1500" b="1" dirty="0">
                <a:solidFill>
                  <a:srgbClr val="141413"/>
                </a:solidFill>
                <a:latin typeface="Avenir Next" pitchFamily="34" charset="0"/>
                <a:ea typeface="Avenir Next" pitchFamily="34" charset="-122"/>
                <a:cs typeface="Avenir Next" pitchFamily="34" charset="-120"/>
              </a:rPr>
              <a:t>What starts in Docker</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0" y="2240280"/>
          <a:ext cx="5148072" cy="914400"/>
        </p:xfrm>
        <a:graphic>
          <a:graphicData uri="http://schemas.openxmlformats.org/drawingml/2006/table">
            <a:tbl>
              <a:tblPr/>
              <a:tblGrid>
                <a:gridCol w="1463040"/>
                <a:gridCol w="3685032"/>
              </a:tblGrid>
              <a:tr h="457200">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Part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Job</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Web app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The dashboard; receives traces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Worker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Processes traces, works out cost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45720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Databases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Postgres, ClickHouse, Redis and MinIO store everything</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bl>
          </a:graphicData>
        </a:graphic>
      </p:graphicFrame>
      <p:sp>
        <p:nvSpPr>
          <p:cNvPr id="14" name="Text 10"/>
          <p:cNvSpPr/>
          <p:nvPr/>
        </p:nvSpPr>
        <p:spPr>
          <a:xfrm>
            <a:off x="640080" y="4480560"/>
            <a:ext cx="10881360" cy="548640"/>
          </a:xfrm>
          <a:prstGeom prst="rect">
            <a:avLst/>
          </a:prstGeom>
          <a:noFill/>
          <a:ln/>
        </p:spPr>
        <p:txBody>
          <a:bodyPr wrap="square" lIns="0" tIns="0" rIns="0" bIns="0" rtlCol="0" anchor="t"/>
          <a:lstStyle/>
          <a:p>
            <a:pPr indent="0" marL="0">
              <a:buNone/>
            </a:pPr>
            <a:r>
              <a:rPr lang="en-US" sz="1600" dirty="0">
                <a:solidFill>
                  <a:srgbClr val="141413"/>
                </a:solidFill>
                <a:latin typeface="Avenir Next" pitchFamily="34" charset="0"/>
                <a:ea typeface="Avenir Next" pitchFamily="34" charset="-122"/>
                <a:cs typeface="Avenir Next" pitchFamily="34" charset="-120"/>
              </a:rPr>
              <a:t>In short: a website and a database on your own machine. Nothing leaves your laptop except the AI call itself.</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2  Langfuse</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21</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Setting up Langfuse on your laptop takes </a:t>
            </a:r>
            <a:pPr indent="0" marL="0">
              <a:buNone/>
            </a:pPr>
            <a:r>
              <a:rPr lang="en-US" sz="2800" i="1" dirty="0">
                <a:solidFill>
                  <a:srgbClr val="D97757"/>
                </a:solidFill>
                <a:latin typeface="Charter" pitchFamily="34" charset="0"/>
                <a:ea typeface="Charter" pitchFamily="34" charset="-122"/>
                <a:cs typeface="Charter" pitchFamily="34" charset="-120"/>
              </a:rPr>
              <a:t>five steps</a:t>
            </a:r>
            <a:endParaRPr lang="en-US" sz="2800" dirty="0"/>
          </a:p>
        </p:txBody>
      </p:sp>
      <p:sp>
        <p:nvSpPr>
          <p:cNvPr id="7" name="Shape 5"/>
          <p:cNvSpPr/>
          <p:nvPr/>
        </p:nvSpPr>
        <p:spPr>
          <a:xfrm>
            <a:off x="640080" y="1691640"/>
            <a:ext cx="10911535" cy="731520"/>
          </a:xfrm>
          <a:prstGeom prst="rect">
            <a:avLst/>
          </a:prstGeom>
          <a:solidFill>
            <a:srgbClr val="FAF9F5"/>
          </a:solidFill>
          <a:ln w="9525">
            <a:solidFill>
              <a:srgbClr val="D9D5C8"/>
            </a:solidFill>
            <a:prstDash val="solid"/>
          </a:ln>
        </p:spPr>
      </p:sp>
      <p:sp>
        <p:nvSpPr>
          <p:cNvPr id="8" name="Text 6"/>
          <p:cNvSpPr/>
          <p:nvPr/>
        </p:nvSpPr>
        <p:spPr>
          <a:xfrm>
            <a:off x="868680" y="1691640"/>
            <a:ext cx="457200" cy="731520"/>
          </a:xfrm>
          <a:prstGeom prst="rect">
            <a:avLst/>
          </a:prstGeom>
          <a:noFill/>
          <a:ln/>
        </p:spPr>
        <p:txBody>
          <a:bodyPr wrap="square" lIns="0" tIns="0" rIns="0" bIns="0" rtlCol="0" anchor="ctr"/>
          <a:lstStyle/>
          <a:p>
            <a:pPr indent="0" marL="0">
              <a:buNone/>
            </a:pPr>
            <a:r>
              <a:rPr lang="en-US" sz="2800" dirty="0">
                <a:solidFill>
                  <a:srgbClr val="D97757"/>
                </a:solidFill>
                <a:latin typeface="Charter" pitchFamily="34" charset="0"/>
                <a:ea typeface="Charter" pitchFamily="34" charset="-122"/>
                <a:cs typeface="Charter" pitchFamily="34" charset="-120"/>
              </a:rPr>
              <a:t>1</a:t>
            </a:r>
            <a:endParaRPr lang="en-US" sz="2800" dirty="0"/>
          </a:p>
        </p:txBody>
      </p:sp>
      <p:sp>
        <p:nvSpPr>
          <p:cNvPr id="9" name="Text 7"/>
          <p:cNvSpPr/>
          <p:nvPr/>
        </p:nvSpPr>
        <p:spPr>
          <a:xfrm>
            <a:off x="1371600" y="1783080"/>
            <a:ext cx="3108960" cy="320040"/>
          </a:xfrm>
          <a:prstGeom prst="rect">
            <a:avLst/>
          </a:prstGeom>
          <a:noFill/>
          <a:ln/>
        </p:spPr>
        <p:txBody>
          <a:bodyPr wrap="square" lIns="0" tIns="0" rIns="0" bIns="0" rtlCol="0" anchor="t"/>
          <a:lstStyle/>
          <a:p>
            <a:pPr indent="0" marL="0">
              <a:buNone/>
            </a:pPr>
            <a:r>
              <a:rPr lang="en-US" sz="1500" b="1" dirty="0">
                <a:solidFill>
                  <a:srgbClr val="141413"/>
                </a:solidFill>
                <a:latin typeface="Avenir Next" pitchFamily="34" charset="0"/>
                <a:ea typeface="Avenir Next" pitchFamily="34" charset="-122"/>
                <a:cs typeface="Avenir Next" pitchFamily="34" charset="-120"/>
              </a:rPr>
              <a:t>Install Docker Desktop</a:t>
            </a:r>
            <a:endParaRPr lang="en-US" sz="1500" dirty="0"/>
          </a:p>
        </p:txBody>
      </p:sp>
      <p:sp>
        <p:nvSpPr>
          <p:cNvPr id="10" name="Text 8"/>
          <p:cNvSpPr/>
          <p:nvPr/>
        </p:nvSpPr>
        <p:spPr>
          <a:xfrm>
            <a:off x="1371600" y="2075688"/>
            <a:ext cx="429768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From docker.com, install, then open it once</a:t>
            </a:r>
            <a:endParaRPr lang="en-US" sz="1200" dirty="0"/>
          </a:p>
        </p:txBody>
      </p:sp>
      <p:sp>
        <p:nvSpPr>
          <p:cNvPr id="11" name="Text 9"/>
          <p:cNvSpPr/>
          <p:nvPr/>
        </p:nvSpPr>
        <p:spPr>
          <a:xfrm>
            <a:off x="5760720" y="1691640"/>
            <a:ext cx="5669280" cy="731520"/>
          </a:xfrm>
          <a:prstGeom prst="rect">
            <a:avLst/>
          </a:prstGeom>
          <a:noFill/>
          <a:ln/>
        </p:spPr>
        <p:txBody>
          <a:bodyPr wrap="square" lIns="0" tIns="0" rIns="0" bIns="0" rtlCol="0" anchor="ctr"/>
          <a:lstStyle/>
          <a:p>
            <a:pPr indent="0" marL="0">
              <a:buNone/>
            </a:pPr>
            <a:r>
              <a:rPr lang="en-US" sz="1200" dirty="0">
                <a:solidFill>
                  <a:srgbClr val="141413"/>
                </a:solidFill>
                <a:latin typeface="Menlo" pitchFamily="34" charset="0"/>
                <a:ea typeface="Menlo" pitchFamily="34" charset="-122"/>
                <a:cs typeface="Menlo" pitchFamily="34" charset="-120"/>
              </a:rPr>
              <a:t>docker --version</a:t>
            </a:r>
            <a:endParaRPr lang="en-US" sz="1200" dirty="0"/>
          </a:p>
        </p:txBody>
      </p:sp>
      <p:sp>
        <p:nvSpPr>
          <p:cNvPr id="12" name="Shape 10"/>
          <p:cNvSpPr/>
          <p:nvPr/>
        </p:nvSpPr>
        <p:spPr>
          <a:xfrm>
            <a:off x="640080" y="2542032"/>
            <a:ext cx="10911535" cy="731520"/>
          </a:xfrm>
          <a:prstGeom prst="rect">
            <a:avLst/>
          </a:prstGeom>
          <a:solidFill>
            <a:srgbClr val="FAF9F5"/>
          </a:solidFill>
          <a:ln w="9525">
            <a:solidFill>
              <a:srgbClr val="D9D5C8"/>
            </a:solidFill>
            <a:prstDash val="solid"/>
          </a:ln>
        </p:spPr>
      </p:sp>
      <p:sp>
        <p:nvSpPr>
          <p:cNvPr id="13" name="Text 11"/>
          <p:cNvSpPr/>
          <p:nvPr/>
        </p:nvSpPr>
        <p:spPr>
          <a:xfrm>
            <a:off x="868680" y="2542032"/>
            <a:ext cx="457200" cy="731520"/>
          </a:xfrm>
          <a:prstGeom prst="rect">
            <a:avLst/>
          </a:prstGeom>
          <a:noFill/>
          <a:ln/>
        </p:spPr>
        <p:txBody>
          <a:bodyPr wrap="square" lIns="0" tIns="0" rIns="0" bIns="0" rtlCol="0" anchor="ctr"/>
          <a:lstStyle/>
          <a:p>
            <a:pPr indent="0" marL="0">
              <a:buNone/>
            </a:pPr>
            <a:r>
              <a:rPr lang="en-US" sz="2800" dirty="0">
                <a:solidFill>
                  <a:srgbClr val="D97757"/>
                </a:solidFill>
                <a:latin typeface="Charter" pitchFamily="34" charset="0"/>
                <a:ea typeface="Charter" pitchFamily="34" charset="-122"/>
                <a:cs typeface="Charter" pitchFamily="34" charset="-120"/>
              </a:rPr>
              <a:t>2</a:t>
            </a:r>
            <a:endParaRPr lang="en-US" sz="2800" dirty="0"/>
          </a:p>
        </p:txBody>
      </p:sp>
      <p:sp>
        <p:nvSpPr>
          <p:cNvPr id="14" name="Text 12"/>
          <p:cNvSpPr/>
          <p:nvPr/>
        </p:nvSpPr>
        <p:spPr>
          <a:xfrm>
            <a:off x="1371600" y="2633472"/>
            <a:ext cx="3108960" cy="320040"/>
          </a:xfrm>
          <a:prstGeom prst="rect">
            <a:avLst/>
          </a:prstGeom>
          <a:noFill/>
          <a:ln/>
        </p:spPr>
        <p:txBody>
          <a:bodyPr wrap="square" lIns="0" tIns="0" rIns="0" bIns="0" rtlCol="0" anchor="t"/>
          <a:lstStyle/>
          <a:p>
            <a:pPr indent="0" marL="0">
              <a:buNone/>
            </a:pPr>
            <a:r>
              <a:rPr lang="en-US" sz="1500" b="1" dirty="0">
                <a:solidFill>
                  <a:srgbClr val="141413"/>
                </a:solidFill>
                <a:latin typeface="Avenir Next" pitchFamily="34" charset="0"/>
                <a:ea typeface="Avenir Next" pitchFamily="34" charset="-122"/>
                <a:cs typeface="Avenir Next" pitchFamily="34" charset="-120"/>
              </a:rPr>
              <a:t>Download Langfuse</a:t>
            </a:r>
            <a:endParaRPr lang="en-US" sz="1500" dirty="0"/>
          </a:p>
        </p:txBody>
      </p:sp>
      <p:sp>
        <p:nvSpPr>
          <p:cNvPr id="15" name="Text 13"/>
          <p:cNvSpPr/>
          <p:nvPr/>
        </p:nvSpPr>
        <p:spPr>
          <a:xfrm>
            <a:off x="1371600" y="2926080"/>
            <a:ext cx="429768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The official setup files from GitHub</a:t>
            </a:r>
            <a:endParaRPr lang="en-US" sz="1200" dirty="0"/>
          </a:p>
        </p:txBody>
      </p:sp>
      <p:sp>
        <p:nvSpPr>
          <p:cNvPr id="16" name="Text 14"/>
          <p:cNvSpPr/>
          <p:nvPr/>
        </p:nvSpPr>
        <p:spPr>
          <a:xfrm>
            <a:off x="5760720" y="2542032"/>
            <a:ext cx="5669280" cy="731520"/>
          </a:xfrm>
          <a:prstGeom prst="rect">
            <a:avLst/>
          </a:prstGeom>
          <a:noFill/>
          <a:ln/>
        </p:spPr>
        <p:txBody>
          <a:bodyPr wrap="square" lIns="0" tIns="0" rIns="0" bIns="0" rtlCol="0" anchor="ctr"/>
          <a:lstStyle/>
          <a:p>
            <a:pPr indent="0" marL="0">
              <a:buNone/>
            </a:pPr>
            <a:r>
              <a:rPr lang="en-US" sz="1200" dirty="0">
                <a:solidFill>
                  <a:srgbClr val="141413"/>
                </a:solidFill>
                <a:latin typeface="Menlo" pitchFamily="34" charset="0"/>
                <a:ea typeface="Menlo" pitchFamily="34" charset="-122"/>
                <a:cs typeface="Menlo" pitchFamily="34" charset="-120"/>
              </a:rPr>
              <a:t>git clone https://github.com/langfuse/langfuse.git</a:t>
            </a:r>
            <a:endParaRPr lang="en-US" sz="1200" dirty="0"/>
          </a:p>
        </p:txBody>
      </p:sp>
      <p:sp>
        <p:nvSpPr>
          <p:cNvPr id="17" name="Shape 15"/>
          <p:cNvSpPr/>
          <p:nvPr/>
        </p:nvSpPr>
        <p:spPr>
          <a:xfrm>
            <a:off x="640080" y="3392424"/>
            <a:ext cx="10911535" cy="731520"/>
          </a:xfrm>
          <a:prstGeom prst="rect">
            <a:avLst/>
          </a:prstGeom>
          <a:solidFill>
            <a:srgbClr val="FAF9F5"/>
          </a:solidFill>
          <a:ln w="9525">
            <a:solidFill>
              <a:srgbClr val="D9D5C8"/>
            </a:solidFill>
            <a:prstDash val="solid"/>
          </a:ln>
        </p:spPr>
      </p:sp>
      <p:sp>
        <p:nvSpPr>
          <p:cNvPr id="18" name="Text 16"/>
          <p:cNvSpPr/>
          <p:nvPr/>
        </p:nvSpPr>
        <p:spPr>
          <a:xfrm>
            <a:off x="868680" y="3392424"/>
            <a:ext cx="457200" cy="731520"/>
          </a:xfrm>
          <a:prstGeom prst="rect">
            <a:avLst/>
          </a:prstGeom>
          <a:noFill/>
          <a:ln/>
        </p:spPr>
        <p:txBody>
          <a:bodyPr wrap="square" lIns="0" tIns="0" rIns="0" bIns="0" rtlCol="0" anchor="ctr"/>
          <a:lstStyle/>
          <a:p>
            <a:pPr indent="0" marL="0">
              <a:buNone/>
            </a:pPr>
            <a:r>
              <a:rPr lang="en-US" sz="2800" dirty="0">
                <a:solidFill>
                  <a:srgbClr val="D97757"/>
                </a:solidFill>
                <a:latin typeface="Charter" pitchFamily="34" charset="0"/>
                <a:ea typeface="Charter" pitchFamily="34" charset="-122"/>
                <a:cs typeface="Charter" pitchFamily="34" charset="-120"/>
              </a:rPr>
              <a:t>3</a:t>
            </a:r>
            <a:endParaRPr lang="en-US" sz="2800" dirty="0"/>
          </a:p>
        </p:txBody>
      </p:sp>
      <p:sp>
        <p:nvSpPr>
          <p:cNvPr id="19" name="Text 17"/>
          <p:cNvSpPr/>
          <p:nvPr/>
        </p:nvSpPr>
        <p:spPr>
          <a:xfrm>
            <a:off x="1371600" y="3483864"/>
            <a:ext cx="3108960" cy="320040"/>
          </a:xfrm>
          <a:prstGeom prst="rect">
            <a:avLst/>
          </a:prstGeom>
          <a:noFill/>
          <a:ln/>
        </p:spPr>
        <p:txBody>
          <a:bodyPr wrap="square" lIns="0" tIns="0" rIns="0" bIns="0" rtlCol="0" anchor="t"/>
          <a:lstStyle/>
          <a:p>
            <a:pPr indent="0" marL="0">
              <a:buNone/>
            </a:pPr>
            <a:r>
              <a:rPr lang="en-US" sz="1500" b="1" dirty="0">
                <a:solidFill>
                  <a:srgbClr val="141413"/>
                </a:solidFill>
                <a:latin typeface="Avenir Next" pitchFamily="34" charset="0"/>
                <a:ea typeface="Avenir Next" pitchFamily="34" charset="-122"/>
                <a:cs typeface="Avenir Next" pitchFamily="34" charset="-120"/>
              </a:rPr>
              <a:t>Start it</a:t>
            </a:r>
            <a:endParaRPr lang="en-US" sz="1500" dirty="0"/>
          </a:p>
        </p:txBody>
      </p:sp>
      <p:sp>
        <p:nvSpPr>
          <p:cNvPr id="20" name="Text 18"/>
          <p:cNvSpPr/>
          <p:nvPr/>
        </p:nvSpPr>
        <p:spPr>
          <a:xfrm>
            <a:off x="1371600" y="3776472"/>
            <a:ext cx="429768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First start takes 2 to 3 minutes</a:t>
            </a:r>
            <a:endParaRPr lang="en-US" sz="1200" dirty="0"/>
          </a:p>
        </p:txBody>
      </p:sp>
      <p:sp>
        <p:nvSpPr>
          <p:cNvPr id="21" name="Text 19"/>
          <p:cNvSpPr/>
          <p:nvPr/>
        </p:nvSpPr>
        <p:spPr>
          <a:xfrm>
            <a:off x="5760720" y="3392424"/>
            <a:ext cx="5669280" cy="731520"/>
          </a:xfrm>
          <a:prstGeom prst="rect">
            <a:avLst/>
          </a:prstGeom>
          <a:noFill/>
          <a:ln/>
        </p:spPr>
        <p:txBody>
          <a:bodyPr wrap="square" lIns="0" tIns="0" rIns="0" bIns="0" rtlCol="0" anchor="ctr"/>
          <a:lstStyle/>
          <a:p>
            <a:pPr indent="0" marL="0">
              <a:buNone/>
            </a:pPr>
            <a:r>
              <a:rPr lang="en-US" sz="1200" dirty="0">
                <a:solidFill>
                  <a:srgbClr val="141413"/>
                </a:solidFill>
                <a:latin typeface="Menlo" pitchFamily="34" charset="0"/>
                <a:ea typeface="Menlo" pitchFamily="34" charset="-122"/>
                <a:cs typeface="Menlo" pitchFamily="34" charset="-120"/>
              </a:rPr>
              <a:t>cd langfuse &amp;&amp; docker compose up -d</a:t>
            </a:r>
            <a:endParaRPr lang="en-US" sz="1200" dirty="0"/>
          </a:p>
        </p:txBody>
      </p:sp>
      <p:sp>
        <p:nvSpPr>
          <p:cNvPr id="22" name="Shape 20"/>
          <p:cNvSpPr/>
          <p:nvPr/>
        </p:nvSpPr>
        <p:spPr>
          <a:xfrm>
            <a:off x="640080" y="4242816"/>
            <a:ext cx="10911535" cy="731520"/>
          </a:xfrm>
          <a:prstGeom prst="rect">
            <a:avLst/>
          </a:prstGeom>
          <a:solidFill>
            <a:srgbClr val="FAF9F5"/>
          </a:solidFill>
          <a:ln w="9525">
            <a:solidFill>
              <a:srgbClr val="D9D5C8"/>
            </a:solidFill>
            <a:prstDash val="solid"/>
          </a:ln>
        </p:spPr>
      </p:sp>
      <p:sp>
        <p:nvSpPr>
          <p:cNvPr id="23" name="Text 21"/>
          <p:cNvSpPr/>
          <p:nvPr/>
        </p:nvSpPr>
        <p:spPr>
          <a:xfrm>
            <a:off x="868680" y="4242816"/>
            <a:ext cx="457200" cy="731520"/>
          </a:xfrm>
          <a:prstGeom prst="rect">
            <a:avLst/>
          </a:prstGeom>
          <a:noFill/>
          <a:ln/>
        </p:spPr>
        <p:txBody>
          <a:bodyPr wrap="square" lIns="0" tIns="0" rIns="0" bIns="0" rtlCol="0" anchor="ctr"/>
          <a:lstStyle/>
          <a:p>
            <a:pPr indent="0" marL="0">
              <a:buNone/>
            </a:pPr>
            <a:r>
              <a:rPr lang="en-US" sz="2800" dirty="0">
                <a:solidFill>
                  <a:srgbClr val="D97757"/>
                </a:solidFill>
                <a:latin typeface="Charter" pitchFamily="34" charset="0"/>
                <a:ea typeface="Charter" pitchFamily="34" charset="-122"/>
                <a:cs typeface="Charter" pitchFamily="34" charset="-120"/>
              </a:rPr>
              <a:t>4</a:t>
            </a:r>
            <a:endParaRPr lang="en-US" sz="2800" dirty="0"/>
          </a:p>
        </p:txBody>
      </p:sp>
      <p:sp>
        <p:nvSpPr>
          <p:cNvPr id="24" name="Text 22"/>
          <p:cNvSpPr/>
          <p:nvPr/>
        </p:nvSpPr>
        <p:spPr>
          <a:xfrm>
            <a:off x="1371600" y="4334256"/>
            <a:ext cx="3108960" cy="320040"/>
          </a:xfrm>
          <a:prstGeom prst="rect">
            <a:avLst/>
          </a:prstGeom>
          <a:noFill/>
          <a:ln/>
        </p:spPr>
        <p:txBody>
          <a:bodyPr wrap="square" lIns="0" tIns="0" rIns="0" bIns="0" rtlCol="0" anchor="t"/>
          <a:lstStyle/>
          <a:p>
            <a:pPr indent="0" marL="0">
              <a:buNone/>
            </a:pPr>
            <a:r>
              <a:rPr lang="en-US" sz="1500" b="1" dirty="0">
                <a:solidFill>
                  <a:srgbClr val="141413"/>
                </a:solidFill>
                <a:latin typeface="Avenir Next" pitchFamily="34" charset="0"/>
                <a:ea typeface="Avenir Next" pitchFamily="34" charset="-122"/>
                <a:cs typeface="Avenir Next" pitchFamily="34" charset="-120"/>
              </a:rPr>
              <a:t>Create the admin account</a:t>
            </a:r>
            <a:endParaRPr lang="en-US" sz="1500" dirty="0"/>
          </a:p>
        </p:txBody>
      </p:sp>
      <p:sp>
        <p:nvSpPr>
          <p:cNvPr id="25" name="Text 23"/>
          <p:cNvSpPr/>
          <p:nvPr/>
        </p:nvSpPr>
        <p:spPr>
          <a:xfrm>
            <a:off x="1371600" y="4626864"/>
            <a:ext cx="429768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Click Sign up. No default admin: you pick the password</a:t>
            </a:r>
            <a:endParaRPr lang="en-US" sz="1200" dirty="0"/>
          </a:p>
        </p:txBody>
      </p:sp>
      <p:sp>
        <p:nvSpPr>
          <p:cNvPr id="26" name="Text 24"/>
          <p:cNvSpPr/>
          <p:nvPr/>
        </p:nvSpPr>
        <p:spPr>
          <a:xfrm>
            <a:off x="5760720" y="4242816"/>
            <a:ext cx="5669280" cy="731520"/>
          </a:xfrm>
          <a:prstGeom prst="rect">
            <a:avLst/>
          </a:prstGeom>
          <a:noFill/>
          <a:ln/>
        </p:spPr>
        <p:txBody>
          <a:bodyPr wrap="square" lIns="0" tIns="0" rIns="0" bIns="0" rtlCol="0" anchor="ctr"/>
          <a:lstStyle/>
          <a:p>
            <a:pPr indent="0" marL="0">
              <a:buNone/>
            </a:pPr>
            <a:r>
              <a:rPr lang="en-US" sz="1200" dirty="0">
                <a:solidFill>
                  <a:srgbClr val="141413"/>
                </a:solidFill>
                <a:latin typeface="Menlo" pitchFamily="34" charset="0"/>
                <a:ea typeface="Menlo" pitchFamily="34" charset="-122"/>
                <a:cs typeface="Menlo" pitchFamily="34" charset="-120"/>
              </a:rPr>
              <a:t>http://localhost:3000</a:t>
            </a:r>
            <a:endParaRPr lang="en-US" sz="1200" dirty="0"/>
          </a:p>
        </p:txBody>
      </p:sp>
      <p:sp>
        <p:nvSpPr>
          <p:cNvPr id="27" name="Shape 25"/>
          <p:cNvSpPr/>
          <p:nvPr/>
        </p:nvSpPr>
        <p:spPr>
          <a:xfrm>
            <a:off x="640080" y="5093208"/>
            <a:ext cx="10911535" cy="731520"/>
          </a:xfrm>
          <a:prstGeom prst="rect">
            <a:avLst/>
          </a:prstGeom>
          <a:solidFill>
            <a:srgbClr val="FAF9F5"/>
          </a:solidFill>
          <a:ln w="9525">
            <a:solidFill>
              <a:srgbClr val="D9D5C8"/>
            </a:solidFill>
            <a:prstDash val="solid"/>
          </a:ln>
        </p:spPr>
      </p:sp>
      <p:sp>
        <p:nvSpPr>
          <p:cNvPr id="28" name="Text 26"/>
          <p:cNvSpPr/>
          <p:nvPr/>
        </p:nvSpPr>
        <p:spPr>
          <a:xfrm>
            <a:off x="868680" y="5093208"/>
            <a:ext cx="457200" cy="731520"/>
          </a:xfrm>
          <a:prstGeom prst="rect">
            <a:avLst/>
          </a:prstGeom>
          <a:noFill/>
          <a:ln/>
        </p:spPr>
        <p:txBody>
          <a:bodyPr wrap="square" lIns="0" tIns="0" rIns="0" bIns="0" rtlCol="0" anchor="ctr"/>
          <a:lstStyle/>
          <a:p>
            <a:pPr indent="0" marL="0">
              <a:buNone/>
            </a:pPr>
            <a:r>
              <a:rPr lang="en-US" sz="2800" dirty="0">
                <a:solidFill>
                  <a:srgbClr val="D97757"/>
                </a:solidFill>
                <a:latin typeface="Charter" pitchFamily="34" charset="0"/>
                <a:ea typeface="Charter" pitchFamily="34" charset="-122"/>
                <a:cs typeface="Charter" pitchFamily="34" charset="-120"/>
              </a:rPr>
              <a:t>5</a:t>
            </a:r>
            <a:endParaRPr lang="en-US" sz="2800" dirty="0"/>
          </a:p>
        </p:txBody>
      </p:sp>
      <p:sp>
        <p:nvSpPr>
          <p:cNvPr id="29" name="Text 27"/>
          <p:cNvSpPr/>
          <p:nvPr/>
        </p:nvSpPr>
        <p:spPr>
          <a:xfrm>
            <a:off x="1371600" y="5184648"/>
            <a:ext cx="3108960" cy="320040"/>
          </a:xfrm>
          <a:prstGeom prst="rect">
            <a:avLst/>
          </a:prstGeom>
          <a:noFill/>
          <a:ln/>
        </p:spPr>
        <p:txBody>
          <a:bodyPr wrap="square" lIns="0" tIns="0" rIns="0" bIns="0" rtlCol="0" anchor="t"/>
          <a:lstStyle/>
          <a:p>
            <a:pPr indent="0" marL="0">
              <a:buNone/>
            </a:pPr>
            <a:r>
              <a:rPr lang="en-US" sz="1500" b="1" dirty="0">
                <a:solidFill>
                  <a:srgbClr val="141413"/>
                </a:solidFill>
                <a:latin typeface="Avenir Next" pitchFamily="34" charset="0"/>
                <a:ea typeface="Avenir Next" pitchFamily="34" charset="-122"/>
                <a:cs typeface="Avenir Next" pitchFamily="34" charset="-120"/>
              </a:rPr>
              <a:t>Create a project and API keys</a:t>
            </a:r>
            <a:endParaRPr lang="en-US" sz="1500" dirty="0"/>
          </a:p>
        </p:txBody>
      </p:sp>
      <p:sp>
        <p:nvSpPr>
          <p:cNvPr id="30" name="Text 28"/>
          <p:cNvSpPr/>
          <p:nvPr/>
        </p:nvSpPr>
        <p:spPr>
          <a:xfrm>
            <a:off x="1371600" y="5477256"/>
            <a:ext cx="429768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Settings, API Keys. Copy both keys into .env</a:t>
            </a:r>
            <a:endParaRPr lang="en-US" sz="1200" dirty="0"/>
          </a:p>
        </p:txBody>
      </p:sp>
      <p:sp>
        <p:nvSpPr>
          <p:cNvPr id="31" name="Text 29"/>
          <p:cNvSpPr/>
          <p:nvPr/>
        </p:nvSpPr>
        <p:spPr>
          <a:xfrm>
            <a:off x="5760720" y="5093208"/>
            <a:ext cx="5669280" cy="731520"/>
          </a:xfrm>
          <a:prstGeom prst="rect">
            <a:avLst/>
          </a:prstGeom>
          <a:noFill/>
          <a:ln/>
        </p:spPr>
        <p:txBody>
          <a:bodyPr wrap="square" lIns="0" tIns="0" rIns="0" bIns="0" rtlCol="0" anchor="ctr"/>
          <a:lstStyle/>
          <a:p>
            <a:pPr indent="0" marL="0">
              <a:buNone/>
            </a:pPr>
            <a:r>
              <a:rPr lang="en-US" sz="1200" dirty="0">
                <a:solidFill>
                  <a:srgbClr val="141413"/>
                </a:solidFill>
                <a:latin typeface="Menlo" pitchFamily="34" charset="0"/>
                <a:ea typeface="Menlo" pitchFamily="34" charset="-122"/>
                <a:cs typeface="Menlo" pitchFamily="34" charset="-120"/>
              </a:rPr>
              <a:t>LANGFUSE_PUBLIC_KEY=pk-lf-...</a:t>
            </a:r>
            <a:endParaRPr lang="en-US" sz="1200" dirty="0"/>
          </a:p>
        </p:txBody>
      </p:sp>
      <p:sp>
        <p:nvSpPr>
          <p:cNvPr id="32" name="Text 30"/>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87867F"/>
                </a:solidFill>
                <a:latin typeface="Avenir Next" pitchFamily="34" charset="0"/>
                <a:ea typeface="Avenir Next" pitchFamily="34" charset="-122"/>
                <a:cs typeface="Avenir Next" pitchFamily="34" charset="-120"/>
              </a:rPr>
              <a:t>Shortcut used tonight: the repo's make up starts the same stack and creates the admin login and keys automatically.</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2  Langfuse</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22</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Adding Langfuse takes </a:t>
            </a:r>
            <a:pPr indent="0" marL="0">
              <a:buNone/>
            </a:pPr>
            <a:r>
              <a:rPr lang="en-US" sz="2800" i="1" dirty="0">
                <a:solidFill>
                  <a:srgbClr val="D97757"/>
                </a:solidFill>
                <a:latin typeface="Charter" pitchFamily="34" charset="0"/>
                <a:ea typeface="Charter" pitchFamily="34" charset="-122"/>
                <a:cs typeface="Charter" pitchFamily="34" charset="-120"/>
              </a:rPr>
              <a:t>two changes</a:t>
            </a:r>
            <a:pPr indent="0" marL="0">
              <a:buNone/>
            </a:pPr>
            <a:r>
              <a:rPr lang="en-US" sz="2800" dirty="0">
                <a:solidFill>
                  <a:srgbClr val="141413"/>
                </a:solidFill>
                <a:latin typeface="Charter" pitchFamily="34" charset="0"/>
                <a:ea typeface="Charter" pitchFamily="34" charset="-122"/>
                <a:cs typeface="Charter" pitchFamily="34" charset="-120"/>
              </a:rPr>
              <a:t> to the same function</a:t>
            </a:r>
            <a:endParaRPr lang="en-US" sz="2800" dirty="0"/>
          </a:p>
        </p:txBody>
      </p:sp>
      <p:sp>
        <p:nvSpPr>
          <p:cNvPr id="7" name="Shape 5"/>
          <p:cNvSpPr/>
          <p:nvPr/>
        </p:nvSpPr>
        <p:spPr>
          <a:xfrm>
            <a:off x="640080" y="1783080"/>
            <a:ext cx="6949440" cy="4023360"/>
          </a:xfrm>
          <a:prstGeom prst="rect">
            <a:avLst/>
          </a:prstGeom>
          <a:solidFill>
            <a:srgbClr val="1A1918"/>
          </a:solidFill>
          <a:ln w="12700">
            <a:solidFill>
              <a:srgbClr val="1A1918"/>
            </a:solidFill>
            <a:prstDash val="solid"/>
          </a:ln>
        </p:spPr>
      </p:sp>
      <p:sp>
        <p:nvSpPr>
          <p:cNvPr id="8" name="Shape 6"/>
          <p:cNvSpPr/>
          <p:nvPr/>
        </p:nvSpPr>
        <p:spPr>
          <a:xfrm>
            <a:off x="640080" y="1783080"/>
            <a:ext cx="54864" cy="4023360"/>
          </a:xfrm>
          <a:prstGeom prst="rect">
            <a:avLst/>
          </a:prstGeom>
          <a:solidFill>
            <a:srgbClr val="D97757"/>
          </a:solidFill>
          <a:ln w="12700">
            <a:solidFill>
              <a:srgbClr val="D97757"/>
            </a:solidFill>
            <a:prstDash val="solid"/>
          </a:ln>
        </p:spPr>
      </p:sp>
      <p:sp>
        <p:nvSpPr>
          <p:cNvPr id="9" name="Text 7"/>
          <p:cNvSpPr/>
          <p:nvPr/>
        </p:nvSpPr>
        <p:spPr>
          <a:xfrm>
            <a:off x="914400" y="2011680"/>
            <a:ext cx="6400800" cy="3566160"/>
          </a:xfrm>
          <a:prstGeom prst="rect">
            <a:avLst/>
          </a:prstGeom>
          <a:noFill/>
          <a:ln/>
        </p:spPr>
        <p:txBody>
          <a:bodyPr wrap="square" lIns="0" tIns="0" rIns="0" bIns="0" rtlCol="0" anchor="t"/>
          <a:lstStyle/>
          <a:p>
            <a:pPr indent="0" marL="0">
              <a:spcAft>
                <a:spcPts val="300"/>
              </a:spcAft>
              <a:buNone/>
            </a:pPr>
            <a:r>
              <a:rPr lang="en-US" sz="1400" dirty="0">
                <a:solidFill>
                  <a:srgbClr val="E08C6B"/>
                </a:solidFill>
                <a:latin typeface="Menlo" pitchFamily="34" charset="0"/>
                <a:ea typeface="Menlo" pitchFamily="34" charset="-122"/>
                <a:cs typeface="Menlo" pitchFamily="34" charset="-120"/>
              </a:rPr>
              <a:t>from </a:t>
            </a:r>
            <a:pPr indent="0" marL="0">
              <a:spcAft>
                <a:spcPts val="300"/>
              </a:spcAft>
              <a:buNone/>
            </a:pPr>
            <a:r>
              <a:rPr lang="en-US" sz="1400" dirty="0">
                <a:solidFill>
                  <a:srgbClr val="E8E6DC"/>
                </a:solidFill>
                <a:latin typeface="Menlo" pitchFamily="34" charset="0"/>
                <a:ea typeface="Menlo" pitchFamily="34" charset="-122"/>
                <a:cs typeface="Menlo" pitchFamily="34" charset="-120"/>
              </a:rPr>
              <a:t>langfuse </a:t>
            </a:r>
            <a:pPr indent="0" marL="0">
              <a:spcAft>
                <a:spcPts val="300"/>
              </a:spcAft>
              <a:buNone/>
            </a:pPr>
            <a:r>
              <a:rPr lang="en-US" sz="1400" dirty="0">
                <a:solidFill>
                  <a:srgbClr val="E08C6B"/>
                </a:solidFill>
                <a:latin typeface="Menlo" pitchFamily="34" charset="0"/>
                <a:ea typeface="Menlo" pitchFamily="34" charset="-122"/>
                <a:cs typeface="Menlo" pitchFamily="34" charset="-120"/>
              </a:rPr>
              <a:t>import </a:t>
            </a:r>
            <a:pPr indent="0" marL="0">
              <a:spcAft>
                <a:spcPts val="300"/>
              </a:spcAft>
              <a:buNone/>
            </a:pPr>
            <a:r>
              <a:rPr lang="en-US" sz="1400" dirty="0">
                <a:solidFill>
                  <a:srgbClr val="E8E6DC"/>
                </a:solidFill>
                <a:latin typeface="Menlo" pitchFamily="34" charset="0"/>
                <a:ea typeface="Menlo" pitchFamily="34" charset="-122"/>
                <a:cs typeface="Menlo" pitchFamily="34" charset="-120"/>
              </a:rPr>
              <a:t>observe</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from </a:t>
            </a:r>
            <a:pPr indent="0" marL="0">
              <a:spcAft>
                <a:spcPts val="300"/>
              </a:spcAft>
              <a:buNone/>
            </a:pPr>
            <a:r>
              <a:rPr lang="en-US" sz="1400" dirty="0">
                <a:solidFill>
                  <a:srgbClr val="E8E6DC"/>
                </a:solidFill>
                <a:latin typeface="Menlo" pitchFamily="34" charset="0"/>
                <a:ea typeface="Menlo" pitchFamily="34" charset="-122"/>
                <a:cs typeface="Menlo" pitchFamily="34" charset="-120"/>
              </a:rPr>
              <a:t>langfuse.openai </a:t>
            </a:r>
            <a:pPr indent="0" marL="0">
              <a:spcAft>
                <a:spcPts val="300"/>
              </a:spcAft>
              <a:buNone/>
            </a:pPr>
            <a:r>
              <a:rPr lang="en-US" sz="1400" dirty="0">
                <a:solidFill>
                  <a:srgbClr val="E08C6B"/>
                </a:solidFill>
                <a:latin typeface="Menlo" pitchFamily="34" charset="0"/>
                <a:ea typeface="Menlo" pitchFamily="34" charset="-122"/>
                <a:cs typeface="Menlo" pitchFamily="34" charset="-120"/>
              </a:rPr>
              <a:t>import </a:t>
            </a:r>
            <a:pPr indent="0" marL="0">
              <a:spcAft>
                <a:spcPts val="300"/>
              </a:spcAft>
              <a:buNone/>
            </a:pPr>
            <a:r>
              <a:rPr lang="en-US" sz="1400" dirty="0">
                <a:solidFill>
                  <a:srgbClr val="E8E6DC"/>
                </a:solidFill>
                <a:latin typeface="Menlo" pitchFamily="34" charset="0"/>
                <a:ea typeface="Menlo" pitchFamily="34" charset="-122"/>
                <a:cs typeface="Menlo" pitchFamily="34" charset="-120"/>
              </a:rPr>
              <a:t>OpenAI   </a:t>
            </a:r>
            <a:pPr indent="0" marL="0">
              <a:spcAft>
                <a:spcPts val="300"/>
              </a:spcAft>
              <a:buNone/>
            </a:pPr>
            <a:r>
              <a:rPr lang="en-US" sz="1400" dirty="0">
                <a:solidFill>
                  <a:srgbClr val="D97757"/>
                </a:solidFill>
                <a:latin typeface="Menlo" pitchFamily="34" charset="0"/>
                <a:ea typeface="Menlo" pitchFamily="34" charset="-122"/>
                <a:cs typeface="Menlo" pitchFamily="34" charset="-120"/>
              </a:rPr>
              <a:t># change 1</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E8E6DC"/>
                </a:solidFill>
                <a:latin typeface="Menlo" pitchFamily="34" charset="0"/>
                <a:ea typeface="Menlo" pitchFamily="34" charset="-122"/>
                <a:cs typeface="Menlo" pitchFamily="34" charset="-120"/>
              </a:rPr>
              <a:t>@observe()                         </a:t>
            </a:r>
            <a:pPr indent="0" marL="0">
              <a:spcAft>
                <a:spcPts val="300"/>
              </a:spcAft>
              <a:buNone/>
            </a:pPr>
            <a:r>
              <a:rPr lang="en-US" sz="1400" dirty="0">
                <a:solidFill>
                  <a:srgbClr val="D97757"/>
                </a:solidFill>
                <a:latin typeface="Menlo" pitchFamily="34" charset="0"/>
                <a:ea typeface="Menlo" pitchFamily="34" charset="-122"/>
                <a:cs typeface="Menlo" pitchFamily="34" charset="-120"/>
              </a:rPr>
              <a:t># change 2</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def </a:t>
            </a:r>
            <a:pPr indent="0" marL="0">
              <a:spcAft>
                <a:spcPts val="300"/>
              </a:spcAft>
              <a:buNone/>
            </a:pPr>
            <a:r>
              <a:rPr lang="en-US" sz="1400" dirty="0">
                <a:solidFill>
                  <a:srgbClr val="8DB4DC"/>
                </a:solidFill>
                <a:latin typeface="Menlo" pitchFamily="34" charset="0"/>
                <a:ea typeface="Menlo" pitchFamily="34" charset="-122"/>
                <a:cs typeface="Menlo" pitchFamily="34" charset="-120"/>
              </a:rPr>
              <a:t>get_weather</a:t>
            </a:r>
            <a:pPr indent="0" marL="0">
              <a:spcAft>
                <a:spcPts val="300"/>
              </a:spcAft>
              <a:buNone/>
            </a:pPr>
            <a:r>
              <a:rPr lang="en-US" sz="1400" dirty="0">
                <a:solidFill>
                  <a:srgbClr val="E8E6DC"/>
                </a:solidFill>
                <a:latin typeface="Menlo" pitchFamily="34" charset="0"/>
                <a:ea typeface="Menlo" pitchFamily="34" charset="-122"/>
                <a:cs typeface="Menlo" pitchFamily="34" charset="-120"/>
              </a:rPr>
              <a:t>(city): ...</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E8E6DC"/>
                </a:solidFill>
                <a:latin typeface="Menlo" pitchFamily="34" charset="0"/>
                <a:ea typeface="Menlo" pitchFamily="34" charset="-122"/>
                <a:cs typeface="Menlo" pitchFamily="34" charset="-120"/>
              </a:rPr>
              <a:t>@observe()</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def </a:t>
            </a:r>
            <a:pPr indent="0" marL="0">
              <a:spcAft>
                <a:spcPts val="300"/>
              </a:spcAft>
              <a:buNone/>
            </a:pPr>
            <a:r>
              <a:rPr lang="en-US" sz="1400" dirty="0">
                <a:solidFill>
                  <a:srgbClr val="8DB4DC"/>
                </a:solidFill>
                <a:latin typeface="Menlo" pitchFamily="34" charset="0"/>
                <a:ea typeface="Menlo" pitchFamily="34" charset="-122"/>
                <a:cs typeface="Menlo" pitchFamily="34" charset="-120"/>
              </a:rPr>
              <a:t>ask_ai</a:t>
            </a:r>
            <a:pPr indent="0" marL="0">
              <a:spcAft>
                <a:spcPts val="300"/>
              </a:spcAft>
              <a:buNone/>
            </a:pPr>
            <a:r>
              <a:rPr lang="en-US" sz="1400" dirty="0">
                <a:solidFill>
                  <a:srgbClr val="E8E6DC"/>
                </a:solidFill>
                <a:latin typeface="Menlo" pitchFamily="34" charset="0"/>
                <a:ea typeface="Menlo" pitchFamily="34" charset="-122"/>
                <a:cs typeface="Menlo" pitchFamily="34" charset="-120"/>
              </a:rPr>
              <a:t>(question): ...</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E8E6DC"/>
                </a:solidFill>
                <a:latin typeface="Menlo" pitchFamily="34" charset="0"/>
                <a:ea typeface="Menlo" pitchFamily="34" charset="-122"/>
                <a:cs typeface="Menlo" pitchFamily="34" charset="-120"/>
              </a:rPr>
              <a:t>@observe()</a:t>
            </a:r>
            <a:endParaRPr lang="en-US" sz="1400" dirty="0"/>
          </a:p>
          <a:p>
            <a:pPr indent="0" marL="0">
              <a:spcAft>
                <a:spcPts val="300"/>
              </a:spcAft>
              <a:buNone/>
            </a:pPr>
            <a:r>
              <a:rPr lang="en-US" sz="1400" dirty="0">
                <a:solidFill>
                  <a:srgbClr val="E08C6B"/>
                </a:solidFill>
                <a:latin typeface="Menlo" pitchFamily="34" charset="0"/>
                <a:ea typeface="Menlo" pitchFamily="34" charset="-122"/>
                <a:cs typeface="Menlo" pitchFamily="34" charset="-120"/>
              </a:rPr>
              <a:t>def </a:t>
            </a:r>
            <a:pPr indent="0" marL="0">
              <a:spcAft>
                <a:spcPts val="300"/>
              </a:spcAft>
              <a:buNone/>
            </a:pPr>
            <a:r>
              <a:rPr lang="en-US" sz="1400" dirty="0">
                <a:solidFill>
                  <a:srgbClr val="8DB4DC"/>
                </a:solidFill>
                <a:latin typeface="Menlo" pitchFamily="34" charset="0"/>
                <a:ea typeface="Menlo" pitchFamily="34" charset="-122"/>
                <a:cs typeface="Menlo" pitchFamily="34" charset="-120"/>
              </a:rPr>
              <a:t>weather_assistant</a:t>
            </a:r>
            <a:pPr indent="0" marL="0">
              <a:spcAft>
                <a:spcPts val="300"/>
              </a:spcAft>
              <a:buNone/>
            </a:pPr>
            <a:r>
              <a:rPr lang="en-US" sz="1400" dirty="0">
                <a:solidFill>
                  <a:srgbClr val="E8E6DC"/>
                </a:solidFill>
                <a:latin typeface="Menlo" pitchFamily="34" charset="0"/>
                <a:ea typeface="Menlo" pitchFamily="34" charset="-122"/>
                <a:cs typeface="Menlo" pitchFamily="34" charset="-120"/>
              </a:rPr>
              <a:t>(city): ...</a:t>
            </a:r>
            <a:endParaRPr lang="en-US" sz="1400" dirty="0"/>
          </a:p>
        </p:txBody>
      </p:sp>
      <p:sp>
        <p:nvSpPr>
          <p:cNvPr id="10" name="Text 8"/>
          <p:cNvSpPr/>
          <p:nvPr/>
        </p:nvSpPr>
        <p:spPr>
          <a:xfrm>
            <a:off x="8046720" y="1828800"/>
            <a:ext cx="3566160" cy="320040"/>
          </a:xfrm>
          <a:prstGeom prst="rect">
            <a:avLst/>
          </a:prstGeom>
          <a:noFill/>
          <a:ln/>
        </p:spPr>
        <p:txBody>
          <a:bodyPr wrap="square" lIns="0" tIns="0" rIns="0" bIns="0" rtlCol="0" anchor="t"/>
          <a:lstStyle/>
          <a:p>
            <a:pPr indent="0" marL="0">
              <a:buNone/>
            </a:pPr>
            <a:r>
              <a:rPr lang="en-US" sz="1600" b="1" dirty="0">
                <a:solidFill>
                  <a:srgbClr val="D97757"/>
                </a:solidFill>
                <a:latin typeface="Avenir Next" pitchFamily="34" charset="0"/>
                <a:ea typeface="Avenir Next" pitchFamily="34" charset="-122"/>
                <a:cs typeface="Avenir Next" pitchFamily="34" charset="-120"/>
              </a:rPr>
              <a:t>Change 1</a:t>
            </a:r>
            <a:endParaRPr lang="en-US" sz="1600" dirty="0"/>
          </a:p>
        </p:txBody>
      </p:sp>
      <p:sp>
        <p:nvSpPr>
          <p:cNvPr id="11" name="Text 9"/>
          <p:cNvSpPr/>
          <p:nvPr/>
        </p:nvSpPr>
        <p:spPr>
          <a:xfrm>
            <a:off x="8046720" y="2194560"/>
            <a:ext cx="3566160" cy="1097280"/>
          </a:xfrm>
          <a:prstGeom prst="rect">
            <a:avLst/>
          </a:prstGeom>
          <a:noFill/>
          <a:ln/>
        </p:spPr>
        <p:txBody>
          <a:bodyPr wrap="square" lIns="0" tIns="0" rIns="0" bIns="0" rtlCol="0" anchor="t"/>
          <a:lstStyle/>
          <a:p>
            <a:pPr indent="0" marL="0">
              <a:buNone/>
            </a:pPr>
            <a:r>
              <a:rPr lang="en-US" sz="1400" dirty="0">
                <a:solidFill>
                  <a:srgbClr val="3D3D3A"/>
                </a:solidFill>
                <a:latin typeface="Avenir Next" pitchFamily="34" charset="0"/>
                <a:ea typeface="Avenir Next" pitchFamily="34" charset="-122"/>
                <a:cs typeface="Avenir Next" pitchFamily="34" charset="-120"/>
              </a:rPr>
              <a:t>Import OpenAI from Langfuse. Every AI call is recorded: question, answer, model, tokens, cost.</a:t>
            </a:r>
            <a:endParaRPr lang="en-US" sz="1400" dirty="0"/>
          </a:p>
        </p:txBody>
      </p:sp>
      <p:sp>
        <p:nvSpPr>
          <p:cNvPr id="12" name="Text 10"/>
          <p:cNvSpPr/>
          <p:nvPr/>
        </p:nvSpPr>
        <p:spPr>
          <a:xfrm>
            <a:off x="8046720" y="3429000"/>
            <a:ext cx="3566160" cy="320040"/>
          </a:xfrm>
          <a:prstGeom prst="rect">
            <a:avLst/>
          </a:prstGeom>
          <a:noFill/>
          <a:ln/>
        </p:spPr>
        <p:txBody>
          <a:bodyPr wrap="square" lIns="0" tIns="0" rIns="0" bIns="0" rtlCol="0" anchor="t"/>
          <a:lstStyle/>
          <a:p>
            <a:pPr indent="0" marL="0">
              <a:buNone/>
            </a:pPr>
            <a:r>
              <a:rPr lang="en-US" sz="1600" b="1" dirty="0">
                <a:solidFill>
                  <a:srgbClr val="D97757"/>
                </a:solidFill>
                <a:latin typeface="Avenir Next" pitchFamily="34" charset="0"/>
                <a:ea typeface="Avenir Next" pitchFamily="34" charset="-122"/>
                <a:cs typeface="Avenir Next" pitchFamily="34" charset="-120"/>
              </a:rPr>
              <a:t>Change 2</a:t>
            </a:r>
            <a:endParaRPr lang="en-US" sz="1600" dirty="0"/>
          </a:p>
        </p:txBody>
      </p:sp>
      <p:sp>
        <p:nvSpPr>
          <p:cNvPr id="13" name="Text 11"/>
          <p:cNvSpPr/>
          <p:nvPr/>
        </p:nvSpPr>
        <p:spPr>
          <a:xfrm>
            <a:off x="8046720" y="3794760"/>
            <a:ext cx="3566160" cy="914400"/>
          </a:xfrm>
          <a:prstGeom prst="rect">
            <a:avLst/>
          </a:prstGeom>
          <a:noFill/>
          <a:ln/>
        </p:spPr>
        <p:txBody>
          <a:bodyPr wrap="square" lIns="0" tIns="0" rIns="0" bIns="0" rtlCol="0" anchor="t"/>
          <a:lstStyle/>
          <a:p>
            <a:pPr indent="0" marL="0">
              <a:buNone/>
            </a:pPr>
            <a:r>
              <a:rPr lang="en-US" sz="1400" dirty="0">
                <a:solidFill>
                  <a:srgbClr val="3D3D3A"/>
                </a:solidFill>
                <a:latin typeface="Avenir Next" pitchFamily="34" charset="0"/>
                <a:ea typeface="Avenir Next" pitchFamily="34" charset="-122"/>
                <a:cs typeface="Avenir Next" pitchFamily="34" charset="-120"/>
              </a:rPr>
              <a:t>@observe() turns each function into a span, like the with blocks before.</a:t>
            </a:r>
            <a:endParaRPr lang="en-US" sz="1400" dirty="0"/>
          </a:p>
        </p:txBody>
      </p:sp>
      <p:sp>
        <p:nvSpPr>
          <p:cNvPr id="14" name="Text 12"/>
          <p:cNvSpPr/>
          <p:nvPr/>
        </p:nvSpPr>
        <p:spPr>
          <a:xfrm>
            <a:off x="8046720" y="4846320"/>
            <a:ext cx="3566160" cy="457200"/>
          </a:xfrm>
          <a:prstGeom prst="rect">
            <a:avLst/>
          </a:prstGeom>
          <a:noFill/>
          <a:ln/>
        </p:spPr>
        <p:txBody>
          <a:bodyPr wrap="square" lIns="0" tIns="0" rIns="0" bIns="0" rtlCol="0" anchor="t"/>
          <a:lstStyle/>
          <a:p>
            <a:pPr indent="0" marL="0">
              <a:buNone/>
            </a:pPr>
            <a:r>
              <a:rPr lang="en-US" sz="1400" i="1" dirty="0">
                <a:solidFill>
                  <a:srgbClr val="87867F"/>
                </a:solidFill>
                <a:latin typeface="Avenir Next" pitchFamily="34" charset="0"/>
                <a:ea typeface="Avenir Next" pitchFamily="34" charset="-122"/>
                <a:cs typeface="Avenir Next" pitchFamily="34" charset="-120"/>
              </a:rPr>
              <a:t>Then call langfuse.flush() to send.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2  Langfuse</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F8D86"/>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F8D86"/>
                </a:solidFill>
                <a:latin typeface="Avenir Next" pitchFamily="34" charset="0"/>
                <a:ea typeface="Avenir Next" pitchFamily="34" charset="-122"/>
                <a:cs typeface="Avenir Next" pitchFamily="34" charset="-120"/>
              </a:rPr>
              <a:t>23</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F0EEE6"/>
                </a:solidFill>
                <a:latin typeface="Charter" pitchFamily="34" charset="0"/>
                <a:ea typeface="Charter" pitchFamily="34" charset="-122"/>
                <a:cs typeface="Charter" pitchFamily="34" charset="-120"/>
              </a:rPr>
              <a:t>Langfuse adds the AI call details </a:t>
            </a:r>
            <a:pPr indent="0" marL="0">
              <a:buNone/>
            </a:pPr>
            <a:r>
              <a:rPr lang="en-US" sz="2800" i="1" dirty="0">
                <a:solidFill>
                  <a:srgbClr val="D97757"/>
                </a:solidFill>
                <a:latin typeface="Charter" pitchFamily="34" charset="0"/>
                <a:ea typeface="Charter" pitchFamily="34" charset="-122"/>
                <a:cs typeface="Charter" pitchFamily="34" charset="-120"/>
              </a:rPr>
              <a:t>we never wrote</a:t>
            </a:r>
            <a:endParaRPr lang="en-US" sz="2800" dirty="0"/>
          </a:p>
        </p:txBody>
      </p:sp>
      <p:sp>
        <p:nvSpPr>
          <p:cNvPr id="7" name="Shape 5"/>
          <p:cNvSpPr/>
          <p:nvPr/>
        </p:nvSpPr>
        <p:spPr>
          <a:xfrm>
            <a:off x="640080" y="1783080"/>
            <a:ext cx="10911535" cy="2697480"/>
          </a:xfrm>
          <a:prstGeom prst="rect">
            <a:avLst/>
          </a:prstGeom>
          <a:solidFill>
            <a:srgbClr val="262624"/>
          </a:solidFill>
          <a:ln w="9525">
            <a:solidFill>
              <a:srgbClr val="3A3936"/>
            </a:solidFill>
            <a:prstDash val="solid"/>
          </a:ln>
        </p:spPr>
      </p:sp>
      <p:sp>
        <p:nvSpPr>
          <p:cNvPr id="8" name="Shape 6"/>
          <p:cNvSpPr/>
          <p:nvPr/>
        </p:nvSpPr>
        <p:spPr>
          <a:xfrm>
            <a:off x="3383280" y="1965960"/>
            <a:ext cx="0" cy="2039112"/>
          </a:xfrm>
          <a:prstGeom prst="line">
            <a:avLst/>
          </a:prstGeom>
          <a:noFill/>
          <a:ln w="9525">
            <a:solidFill>
              <a:srgbClr val="3A3936"/>
            </a:solidFill>
            <a:prstDash val="solid"/>
          </a:ln>
        </p:spPr>
      </p:sp>
      <p:sp>
        <p:nvSpPr>
          <p:cNvPr id="9" name="Text 7"/>
          <p:cNvSpPr/>
          <p:nvPr/>
        </p:nvSpPr>
        <p:spPr>
          <a:xfrm>
            <a:off x="3017520" y="4050792"/>
            <a:ext cx="731520" cy="228600"/>
          </a:xfrm>
          <a:prstGeom prst="rect">
            <a:avLst/>
          </a:prstGeom>
          <a:noFill/>
          <a:ln/>
        </p:spPr>
        <p:txBody>
          <a:bodyPr wrap="square" lIns="0" tIns="0" rIns="0" bIns="0" rtlCol="0" anchor="t"/>
          <a:lstStyle/>
          <a:p>
            <a:pPr algn="ctr" indent="0" marL="0">
              <a:buNone/>
            </a:pPr>
            <a:r>
              <a:rPr lang="en-US" sz="1000" dirty="0">
                <a:solidFill>
                  <a:srgbClr val="8F8D86"/>
                </a:solidFill>
                <a:latin typeface="Avenir Next" pitchFamily="34" charset="0"/>
                <a:ea typeface="Avenir Next" pitchFamily="34" charset="-122"/>
                <a:cs typeface="Avenir Next" pitchFamily="34" charset="-120"/>
              </a:rPr>
              <a:t>0s</a:t>
            </a:r>
            <a:endParaRPr lang="en-US" sz="1000" dirty="0"/>
          </a:p>
        </p:txBody>
      </p:sp>
      <p:sp>
        <p:nvSpPr>
          <p:cNvPr id="10" name="Shape 8"/>
          <p:cNvSpPr/>
          <p:nvPr/>
        </p:nvSpPr>
        <p:spPr>
          <a:xfrm>
            <a:off x="5222138" y="1965960"/>
            <a:ext cx="0" cy="2039112"/>
          </a:xfrm>
          <a:prstGeom prst="line">
            <a:avLst/>
          </a:prstGeom>
          <a:noFill/>
          <a:ln w="9525">
            <a:solidFill>
              <a:srgbClr val="3A3936"/>
            </a:solidFill>
            <a:prstDash val="solid"/>
          </a:ln>
        </p:spPr>
      </p:sp>
      <p:sp>
        <p:nvSpPr>
          <p:cNvPr id="11" name="Text 9"/>
          <p:cNvSpPr/>
          <p:nvPr/>
        </p:nvSpPr>
        <p:spPr>
          <a:xfrm>
            <a:off x="4856378" y="4050792"/>
            <a:ext cx="731520" cy="228600"/>
          </a:xfrm>
          <a:prstGeom prst="rect">
            <a:avLst/>
          </a:prstGeom>
          <a:noFill/>
          <a:ln/>
        </p:spPr>
        <p:txBody>
          <a:bodyPr wrap="square" lIns="0" tIns="0" rIns="0" bIns="0" rtlCol="0" anchor="t"/>
          <a:lstStyle/>
          <a:p>
            <a:pPr algn="ctr" indent="0" marL="0">
              <a:buNone/>
            </a:pPr>
            <a:r>
              <a:rPr lang="en-US" sz="1000" dirty="0">
                <a:solidFill>
                  <a:srgbClr val="8F8D86"/>
                </a:solidFill>
                <a:latin typeface="Avenir Next" pitchFamily="34" charset="0"/>
                <a:ea typeface="Avenir Next" pitchFamily="34" charset="-122"/>
                <a:cs typeface="Avenir Next" pitchFamily="34" charset="-120"/>
              </a:rPr>
              <a:t>0.5s</a:t>
            </a:r>
            <a:endParaRPr lang="en-US" sz="1000" dirty="0"/>
          </a:p>
        </p:txBody>
      </p:sp>
      <p:sp>
        <p:nvSpPr>
          <p:cNvPr id="12" name="Shape 10"/>
          <p:cNvSpPr/>
          <p:nvPr/>
        </p:nvSpPr>
        <p:spPr>
          <a:xfrm>
            <a:off x="7060997" y="1965960"/>
            <a:ext cx="0" cy="2039112"/>
          </a:xfrm>
          <a:prstGeom prst="line">
            <a:avLst/>
          </a:prstGeom>
          <a:noFill/>
          <a:ln w="9525">
            <a:solidFill>
              <a:srgbClr val="3A3936"/>
            </a:solidFill>
            <a:prstDash val="solid"/>
          </a:ln>
        </p:spPr>
      </p:sp>
      <p:sp>
        <p:nvSpPr>
          <p:cNvPr id="13" name="Text 11"/>
          <p:cNvSpPr/>
          <p:nvPr/>
        </p:nvSpPr>
        <p:spPr>
          <a:xfrm>
            <a:off x="6695237" y="4050792"/>
            <a:ext cx="731520" cy="228600"/>
          </a:xfrm>
          <a:prstGeom prst="rect">
            <a:avLst/>
          </a:prstGeom>
          <a:noFill/>
          <a:ln/>
        </p:spPr>
        <p:txBody>
          <a:bodyPr wrap="square" lIns="0" tIns="0" rIns="0" bIns="0" rtlCol="0" anchor="t"/>
          <a:lstStyle/>
          <a:p>
            <a:pPr algn="ctr" indent="0" marL="0">
              <a:buNone/>
            </a:pPr>
            <a:r>
              <a:rPr lang="en-US" sz="1000" dirty="0">
                <a:solidFill>
                  <a:srgbClr val="8F8D86"/>
                </a:solidFill>
                <a:latin typeface="Avenir Next" pitchFamily="34" charset="0"/>
                <a:ea typeface="Avenir Next" pitchFamily="34" charset="-122"/>
                <a:cs typeface="Avenir Next" pitchFamily="34" charset="-120"/>
              </a:rPr>
              <a:t>1s</a:t>
            </a:r>
            <a:endParaRPr lang="en-US" sz="1000" dirty="0"/>
          </a:p>
        </p:txBody>
      </p:sp>
      <p:sp>
        <p:nvSpPr>
          <p:cNvPr id="14" name="Shape 12"/>
          <p:cNvSpPr/>
          <p:nvPr/>
        </p:nvSpPr>
        <p:spPr>
          <a:xfrm>
            <a:off x="8899855" y="1965960"/>
            <a:ext cx="0" cy="2039112"/>
          </a:xfrm>
          <a:prstGeom prst="line">
            <a:avLst/>
          </a:prstGeom>
          <a:noFill/>
          <a:ln w="9525">
            <a:solidFill>
              <a:srgbClr val="3A3936"/>
            </a:solidFill>
            <a:prstDash val="solid"/>
          </a:ln>
        </p:spPr>
      </p:sp>
      <p:sp>
        <p:nvSpPr>
          <p:cNvPr id="15" name="Text 13"/>
          <p:cNvSpPr/>
          <p:nvPr/>
        </p:nvSpPr>
        <p:spPr>
          <a:xfrm>
            <a:off x="8534095" y="4050792"/>
            <a:ext cx="731520" cy="228600"/>
          </a:xfrm>
          <a:prstGeom prst="rect">
            <a:avLst/>
          </a:prstGeom>
          <a:noFill/>
          <a:ln/>
        </p:spPr>
        <p:txBody>
          <a:bodyPr wrap="square" lIns="0" tIns="0" rIns="0" bIns="0" rtlCol="0" anchor="t"/>
          <a:lstStyle/>
          <a:p>
            <a:pPr algn="ctr" indent="0" marL="0">
              <a:buNone/>
            </a:pPr>
            <a:r>
              <a:rPr lang="en-US" sz="1000" dirty="0">
                <a:solidFill>
                  <a:srgbClr val="8F8D86"/>
                </a:solidFill>
                <a:latin typeface="Avenir Next" pitchFamily="34" charset="0"/>
                <a:ea typeface="Avenir Next" pitchFamily="34" charset="-122"/>
                <a:cs typeface="Avenir Next" pitchFamily="34" charset="-120"/>
              </a:rPr>
              <a:t>1.5s</a:t>
            </a:r>
            <a:endParaRPr lang="en-US" sz="1000" dirty="0"/>
          </a:p>
        </p:txBody>
      </p:sp>
      <p:sp>
        <p:nvSpPr>
          <p:cNvPr id="16" name="Text 14"/>
          <p:cNvSpPr/>
          <p:nvPr/>
        </p:nvSpPr>
        <p:spPr>
          <a:xfrm>
            <a:off x="914400" y="2057400"/>
            <a:ext cx="2468880" cy="329184"/>
          </a:xfrm>
          <a:prstGeom prst="rect">
            <a:avLst/>
          </a:prstGeom>
          <a:noFill/>
          <a:ln/>
        </p:spPr>
        <p:txBody>
          <a:bodyPr wrap="square" lIns="0" tIns="0" rIns="0" bIns="0" rtlCol="0" anchor="ctr"/>
          <a:lstStyle/>
          <a:p>
            <a:pPr indent="0" marL="0">
              <a:buNone/>
            </a:pPr>
            <a:r>
              <a:rPr lang="en-US" sz="1200" dirty="0">
                <a:solidFill>
                  <a:srgbClr val="F0EEE6"/>
                </a:solidFill>
                <a:latin typeface="Menlo" pitchFamily="34" charset="0"/>
                <a:ea typeface="Menlo" pitchFamily="34" charset="-122"/>
                <a:cs typeface="Menlo" pitchFamily="34" charset="-120"/>
              </a:rPr>
              <a:t>weather_assistant</a:t>
            </a:r>
            <a:endParaRPr lang="en-US" sz="1200" dirty="0"/>
          </a:p>
        </p:txBody>
      </p:sp>
      <p:sp>
        <p:nvSpPr>
          <p:cNvPr id="17" name="Shape 15"/>
          <p:cNvSpPr/>
          <p:nvPr/>
        </p:nvSpPr>
        <p:spPr>
          <a:xfrm>
            <a:off x="3383280" y="2093976"/>
            <a:ext cx="3788048" cy="256032"/>
          </a:xfrm>
          <a:prstGeom prst="rect">
            <a:avLst/>
          </a:prstGeom>
          <a:solidFill>
            <a:srgbClr val="D97757"/>
          </a:solidFill>
          <a:ln w="12700">
            <a:solidFill>
              <a:srgbClr val="D97757"/>
            </a:solidFill>
            <a:prstDash val="solid"/>
          </a:ln>
        </p:spPr>
      </p:sp>
      <p:sp>
        <p:nvSpPr>
          <p:cNvPr id="18" name="Text 16"/>
          <p:cNvSpPr/>
          <p:nvPr/>
        </p:nvSpPr>
        <p:spPr>
          <a:xfrm>
            <a:off x="7262768" y="2057400"/>
            <a:ext cx="2377440" cy="329184"/>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1.03 s</a:t>
            </a:r>
            <a:endParaRPr lang="en-US" sz="1100" dirty="0"/>
          </a:p>
        </p:txBody>
      </p:sp>
      <p:sp>
        <p:nvSpPr>
          <p:cNvPr id="19" name="Text 17"/>
          <p:cNvSpPr/>
          <p:nvPr/>
        </p:nvSpPr>
        <p:spPr>
          <a:xfrm>
            <a:off x="1188720" y="2532888"/>
            <a:ext cx="2194560" cy="329184"/>
          </a:xfrm>
          <a:prstGeom prst="rect">
            <a:avLst/>
          </a:prstGeom>
          <a:noFill/>
          <a:ln/>
        </p:spPr>
        <p:txBody>
          <a:bodyPr wrap="square" lIns="0" tIns="0" rIns="0" bIns="0" rtlCol="0" anchor="ctr"/>
          <a:lstStyle/>
          <a:p>
            <a:pPr indent="0" marL="0">
              <a:buNone/>
            </a:pPr>
            <a:r>
              <a:rPr lang="en-US" sz="1200" dirty="0">
                <a:solidFill>
                  <a:srgbClr val="F0EEE6"/>
                </a:solidFill>
                <a:latin typeface="Menlo" pitchFamily="34" charset="0"/>
                <a:ea typeface="Menlo" pitchFamily="34" charset="-122"/>
                <a:cs typeface="Menlo" pitchFamily="34" charset="-120"/>
              </a:rPr>
              <a:t>get_weather</a:t>
            </a:r>
            <a:endParaRPr lang="en-US" sz="1200" dirty="0"/>
          </a:p>
        </p:txBody>
      </p:sp>
      <p:sp>
        <p:nvSpPr>
          <p:cNvPr id="20" name="Shape 18"/>
          <p:cNvSpPr/>
          <p:nvPr/>
        </p:nvSpPr>
        <p:spPr>
          <a:xfrm>
            <a:off x="3383280" y="2569464"/>
            <a:ext cx="1838858" cy="256032"/>
          </a:xfrm>
          <a:prstGeom prst="rect">
            <a:avLst/>
          </a:prstGeom>
          <a:solidFill>
            <a:srgbClr val="D4A27F"/>
          </a:solidFill>
          <a:ln w="12700">
            <a:solidFill>
              <a:srgbClr val="D4A27F"/>
            </a:solidFill>
            <a:prstDash val="solid"/>
          </a:ln>
        </p:spPr>
      </p:sp>
      <p:sp>
        <p:nvSpPr>
          <p:cNvPr id="21" name="Text 19"/>
          <p:cNvSpPr/>
          <p:nvPr/>
        </p:nvSpPr>
        <p:spPr>
          <a:xfrm>
            <a:off x="5313578" y="2532888"/>
            <a:ext cx="2377440" cy="329184"/>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0.50 s</a:t>
            </a:r>
            <a:endParaRPr lang="en-US" sz="1100" dirty="0"/>
          </a:p>
        </p:txBody>
      </p:sp>
      <p:sp>
        <p:nvSpPr>
          <p:cNvPr id="22" name="Text 20"/>
          <p:cNvSpPr/>
          <p:nvPr/>
        </p:nvSpPr>
        <p:spPr>
          <a:xfrm>
            <a:off x="1188720" y="3008376"/>
            <a:ext cx="2194560" cy="329184"/>
          </a:xfrm>
          <a:prstGeom prst="rect">
            <a:avLst/>
          </a:prstGeom>
          <a:noFill/>
          <a:ln/>
        </p:spPr>
        <p:txBody>
          <a:bodyPr wrap="square" lIns="0" tIns="0" rIns="0" bIns="0" rtlCol="0" anchor="ctr"/>
          <a:lstStyle/>
          <a:p>
            <a:pPr indent="0" marL="0">
              <a:buNone/>
            </a:pPr>
            <a:r>
              <a:rPr lang="en-US" sz="1200" dirty="0">
                <a:solidFill>
                  <a:srgbClr val="F0EEE6"/>
                </a:solidFill>
                <a:latin typeface="Menlo" pitchFamily="34" charset="0"/>
                <a:ea typeface="Menlo" pitchFamily="34" charset="-122"/>
                <a:cs typeface="Menlo" pitchFamily="34" charset="-120"/>
              </a:rPr>
              <a:t>ask_ai</a:t>
            </a:r>
            <a:endParaRPr lang="en-US" sz="1200" dirty="0"/>
          </a:p>
        </p:txBody>
      </p:sp>
      <p:sp>
        <p:nvSpPr>
          <p:cNvPr id="23" name="Shape 21"/>
          <p:cNvSpPr/>
          <p:nvPr/>
        </p:nvSpPr>
        <p:spPr>
          <a:xfrm>
            <a:off x="5222138" y="3044952"/>
            <a:ext cx="1949190" cy="256032"/>
          </a:xfrm>
          <a:prstGeom prst="rect">
            <a:avLst/>
          </a:prstGeom>
          <a:solidFill>
            <a:srgbClr val="788C5D"/>
          </a:solidFill>
          <a:ln w="12700">
            <a:solidFill>
              <a:srgbClr val="788C5D"/>
            </a:solidFill>
            <a:prstDash val="solid"/>
          </a:ln>
        </p:spPr>
      </p:sp>
      <p:sp>
        <p:nvSpPr>
          <p:cNvPr id="24" name="Text 22"/>
          <p:cNvSpPr/>
          <p:nvPr/>
        </p:nvSpPr>
        <p:spPr>
          <a:xfrm>
            <a:off x="7262768" y="3008376"/>
            <a:ext cx="2377440" cy="329184"/>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0.53 s</a:t>
            </a:r>
            <a:endParaRPr lang="en-US" sz="1100" dirty="0"/>
          </a:p>
        </p:txBody>
      </p:sp>
      <p:sp>
        <p:nvSpPr>
          <p:cNvPr id="25" name="Text 23"/>
          <p:cNvSpPr/>
          <p:nvPr/>
        </p:nvSpPr>
        <p:spPr>
          <a:xfrm>
            <a:off x="1463040" y="3483864"/>
            <a:ext cx="1920240" cy="329184"/>
          </a:xfrm>
          <a:prstGeom prst="rect">
            <a:avLst/>
          </a:prstGeom>
          <a:noFill/>
          <a:ln/>
        </p:spPr>
        <p:txBody>
          <a:bodyPr wrap="square" lIns="0" tIns="0" rIns="0" bIns="0" rtlCol="0" anchor="ctr"/>
          <a:lstStyle/>
          <a:p>
            <a:pPr indent="0" marL="0">
              <a:buNone/>
            </a:pPr>
            <a:r>
              <a:rPr lang="en-US" sz="1200" dirty="0">
                <a:solidFill>
                  <a:srgbClr val="F0EEE6"/>
                </a:solidFill>
                <a:latin typeface="Menlo" pitchFamily="34" charset="0"/>
                <a:ea typeface="Menlo" pitchFamily="34" charset="-122"/>
                <a:cs typeface="Menlo" pitchFamily="34" charset="-120"/>
              </a:rPr>
              <a:t>OpenAI-generation</a:t>
            </a:r>
            <a:endParaRPr lang="en-US" sz="1200" dirty="0"/>
          </a:p>
        </p:txBody>
      </p:sp>
      <p:sp>
        <p:nvSpPr>
          <p:cNvPr id="26" name="Shape 24"/>
          <p:cNvSpPr/>
          <p:nvPr/>
        </p:nvSpPr>
        <p:spPr>
          <a:xfrm>
            <a:off x="5222138" y="3520440"/>
            <a:ext cx="1949190" cy="256032"/>
          </a:xfrm>
          <a:prstGeom prst="rect">
            <a:avLst/>
          </a:prstGeom>
          <a:solidFill>
            <a:srgbClr val="6A9BCC"/>
          </a:solidFill>
          <a:ln w="12700">
            <a:solidFill>
              <a:srgbClr val="6A9BCC"/>
            </a:solidFill>
            <a:prstDash val="solid"/>
          </a:ln>
        </p:spPr>
      </p:sp>
      <p:sp>
        <p:nvSpPr>
          <p:cNvPr id="27" name="Text 25"/>
          <p:cNvSpPr/>
          <p:nvPr/>
        </p:nvSpPr>
        <p:spPr>
          <a:xfrm>
            <a:off x="7262768" y="3483864"/>
            <a:ext cx="2377440" cy="329184"/>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39 tokens  ·  $0.000009</a:t>
            </a:r>
            <a:endParaRPr lang="en-US" sz="1100" dirty="0"/>
          </a:p>
        </p:txBody>
      </p:sp>
      <p:sp>
        <p:nvSpPr>
          <p:cNvPr id="28" name="Text 26"/>
          <p:cNvSpPr/>
          <p:nvPr/>
        </p:nvSpPr>
        <p:spPr>
          <a:xfrm>
            <a:off x="640080" y="4709160"/>
            <a:ext cx="10881360" cy="731520"/>
          </a:xfrm>
          <a:prstGeom prst="rect">
            <a:avLst/>
          </a:prstGeom>
          <a:noFill/>
          <a:ln/>
        </p:spPr>
        <p:txBody>
          <a:bodyPr wrap="square" lIns="0" tIns="0" rIns="0" bIns="0" rtlCol="0" anchor="t"/>
          <a:lstStyle/>
          <a:p>
            <a:pPr indent="0" marL="0">
              <a:buNone/>
            </a:pPr>
            <a:r>
              <a:rPr lang="en-US" sz="1500" dirty="0">
                <a:solidFill>
                  <a:srgbClr val="C9C6BC"/>
                </a:solidFill>
                <a:latin typeface="Avenir Next" pitchFamily="34" charset="0"/>
                <a:ea typeface="Avenir Next" pitchFamily="34" charset="-122"/>
                <a:cs typeface="Avenir Next" pitchFamily="34" charset="-120"/>
              </a:rPr>
              <a:t>In the Langfuse page: click Tracing, open the newest trace, then click each row. The last row shows the exact question sent, the reply, the model, tokens and cost.</a:t>
            </a:r>
            <a:endParaRPr lang="en-US" sz="1500" dirty="0"/>
          </a:p>
        </p:txBody>
      </p:sp>
      <p:sp>
        <p:nvSpPr>
          <p:cNvPr id="29" name="Text 27"/>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8F8D86"/>
                </a:solidFill>
                <a:latin typeface="Avenir Next" pitchFamily="34" charset="0"/>
                <a:ea typeface="Avenir Next" pitchFamily="34" charset="-122"/>
                <a:cs typeface="Avenir Next" pitchFamily="34" charset="-120"/>
              </a:rPr>
              <a:t>Real trace fetched from the local Langfuse (notebook 02).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8168335" y="0"/>
            <a:ext cx="4023360" cy="6858000"/>
          </a:xfrm>
          <a:prstGeom prst="rect">
            <a:avLst/>
          </a:prstGeom>
          <a:solidFill>
            <a:srgbClr val="D97757"/>
          </a:solidFill>
          <a:ln w="12700">
            <a:solidFill>
              <a:srgbClr val="D97757"/>
            </a:solidFill>
            <a:prstDash val="solid"/>
          </a:ln>
        </p:spPr>
      </p:sp>
      <p:sp>
        <p:nvSpPr>
          <p:cNvPr id="3" name="Text 1"/>
          <p:cNvSpPr/>
          <p:nvPr/>
        </p:nvSpPr>
        <p:spPr>
          <a:xfrm>
            <a:off x="8168335" y="1463040"/>
            <a:ext cx="4023360" cy="3840480"/>
          </a:xfrm>
          <a:prstGeom prst="rect">
            <a:avLst/>
          </a:prstGeom>
          <a:noFill/>
          <a:ln/>
        </p:spPr>
        <p:txBody>
          <a:bodyPr wrap="square" lIns="0" tIns="0" rIns="0" bIns="0" rtlCol="0" anchor="ctr"/>
          <a:lstStyle/>
          <a:p>
            <a:pPr algn="ctr" indent="0" marL="0">
              <a:buNone/>
            </a:pPr>
            <a:r>
              <a:rPr lang="en-US" sz="24000" dirty="0">
                <a:solidFill>
                  <a:srgbClr val="141413"/>
                </a:solidFill>
                <a:latin typeface="Charter" pitchFamily="34" charset="0"/>
                <a:ea typeface="Charter" pitchFamily="34" charset="-122"/>
                <a:cs typeface="Charter" pitchFamily="34" charset="-120"/>
              </a:rPr>
              <a:t>3</a:t>
            </a:r>
            <a:endParaRPr lang="en-US" sz="24000" dirty="0"/>
          </a:p>
        </p:txBody>
      </p:sp>
      <p:sp>
        <p:nvSpPr>
          <p:cNvPr id="4" name="Text 2"/>
          <p:cNvSpPr/>
          <p:nvPr/>
        </p:nvSpPr>
        <p:spPr>
          <a:xfrm>
            <a:off x="640080" y="2148840"/>
            <a:ext cx="6400800" cy="365760"/>
          </a:xfrm>
          <a:prstGeom prst="rect">
            <a:avLst/>
          </a:prstGeom>
          <a:noFill/>
          <a:ln/>
        </p:spPr>
        <p:txBody>
          <a:bodyPr wrap="square" lIns="0" tIns="0" rIns="0" bIns="0" rtlCol="0" anchor="ctr"/>
          <a:lstStyle/>
          <a:p>
            <a:pPr indent="0" marL="0">
              <a:buNone/>
            </a:pPr>
            <a:r>
              <a:rPr lang="en-US" sz="1400" b="1" spc="200" kern="0" dirty="0">
                <a:solidFill>
                  <a:srgbClr val="D97757"/>
                </a:solidFill>
                <a:latin typeface="Avenir Next" pitchFamily="34" charset="0"/>
                <a:ea typeface="Avenir Next" pitchFamily="34" charset="-122"/>
                <a:cs typeface="Avenir Next" pitchFamily="34" charset="-120"/>
              </a:rPr>
              <a:t>Part 3</a:t>
            </a:r>
            <a:endParaRPr lang="en-US" sz="1400" dirty="0"/>
          </a:p>
        </p:txBody>
      </p:sp>
      <p:sp>
        <p:nvSpPr>
          <p:cNvPr id="5" name="Text 3"/>
          <p:cNvSpPr/>
          <p:nvPr/>
        </p:nvSpPr>
        <p:spPr>
          <a:xfrm>
            <a:off x="640080" y="2606040"/>
            <a:ext cx="7132320" cy="1005840"/>
          </a:xfrm>
          <a:prstGeom prst="rect">
            <a:avLst/>
          </a:prstGeom>
          <a:noFill/>
          <a:ln/>
        </p:spPr>
        <p:txBody>
          <a:bodyPr wrap="square" lIns="0" tIns="0" rIns="0" bIns="0" rtlCol="0" anchor="ctr"/>
          <a:lstStyle/>
          <a:p>
            <a:pPr indent="0" marL="0">
              <a:buNone/>
            </a:pPr>
            <a:r>
              <a:rPr lang="en-US" sz="5200" dirty="0">
                <a:solidFill>
                  <a:srgbClr val="F0EEE6"/>
                </a:solidFill>
                <a:latin typeface="Charter" pitchFamily="34" charset="0"/>
                <a:ea typeface="Charter" pitchFamily="34" charset="-122"/>
                <a:cs typeface="Charter" pitchFamily="34" charset="-120"/>
              </a:rPr>
              <a:t>LangSmith</a:t>
            </a:r>
            <a:endParaRPr lang="en-US" sz="5200" dirty="0"/>
          </a:p>
        </p:txBody>
      </p:sp>
      <p:sp>
        <p:nvSpPr>
          <p:cNvPr id="6" name="Text 4"/>
          <p:cNvSpPr/>
          <p:nvPr/>
        </p:nvSpPr>
        <p:spPr>
          <a:xfrm>
            <a:off x="640080" y="3749040"/>
            <a:ext cx="6766560" cy="822960"/>
          </a:xfrm>
          <a:prstGeom prst="rect">
            <a:avLst/>
          </a:prstGeom>
          <a:noFill/>
          <a:ln/>
        </p:spPr>
        <p:txBody>
          <a:bodyPr wrap="square" lIns="0" tIns="0" rIns="0" bIns="0" rtlCol="0" anchor="t"/>
          <a:lstStyle/>
          <a:p>
            <a:pPr indent="0" marL="0">
              <a:buNone/>
            </a:pPr>
            <a:r>
              <a:rPr lang="en-US" sz="1800" dirty="0">
                <a:solidFill>
                  <a:srgbClr val="C9C6BC"/>
                </a:solidFill>
                <a:latin typeface="Avenir Next" pitchFamily="34" charset="0"/>
                <a:ea typeface="Avenir Next" pitchFamily="34" charset="-122"/>
                <a:cs typeface="Avenir Next" pitchFamily="34" charset="-120"/>
              </a:rPr>
              <a:t>The same assistant in a second tool. Notice how little changes.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3  LangSmith</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25</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LangSmith needs the same two changes, with </a:t>
            </a:r>
            <a:pPr indent="0" marL="0">
              <a:buNone/>
            </a:pPr>
            <a:r>
              <a:rPr lang="en-US" sz="2800" i="1" dirty="0">
                <a:solidFill>
                  <a:srgbClr val="D97757"/>
                </a:solidFill>
                <a:latin typeface="Charter" pitchFamily="34" charset="0"/>
                <a:ea typeface="Charter" pitchFamily="34" charset="-122"/>
                <a:cs typeface="Charter" pitchFamily="34" charset="-120"/>
              </a:rPr>
              <a:t>different names</a:t>
            </a:r>
            <a:endParaRPr lang="en-US" sz="2800" dirty="0"/>
          </a:p>
        </p:txBody>
      </p:sp>
      <p:pic>
        <p:nvPicPr>
          <p:cNvPr id="7" name="Image 0" descr="/Users/datasense/Desktop/ai-observability/slides/assets/logo-langchain-color.png">    </p:cNvPr>
          <p:cNvPicPr>
            <a:picLocks noChangeAspect="1"/>
          </p:cNvPicPr>
          <p:nvPr/>
        </p:nvPicPr>
        <p:blipFill>
          <a:blip r:embed="rId1"/>
          <a:stretch>
            <a:fillRect/>
          </a:stretch>
        </p:blipFill>
        <p:spPr>
          <a:xfrm>
            <a:off x="11002975" y="274320"/>
            <a:ext cx="502920" cy="502920"/>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743200"/>
                <a:gridCol w="4069080"/>
                <a:gridCol w="4096512"/>
              </a:tblGrid>
              <a:tr h="566928">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Purpose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Langfuse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LangSmith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Record every AI call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from langfuse.openai import OpenAI</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client = wrap_openai(OpenAI())</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Turn a function into a span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@observe()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@traceable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Settings in .env</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LANGFUSE_PUBLIC_KEY, ..._SECRET_KEY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LANGSMITH_API_KEY, LANGSMITH_TRACING=true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Where it runs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Your laptop or their cloud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Their cloud (smith.langchain.com)</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bl>
          </a:graphicData>
        </a:graphic>
      </p:graphicFrame>
      <p:sp>
        <p:nvSpPr>
          <p:cNvPr id="9" name="Text 5"/>
          <p:cNvSpPr/>
          <p:nvPr/>
        </p:nvSpPr>
        <p:spPr>
          <a:xfrm>
            <a:off x="640080" y="4937760"/>
            <a:ext cx="10881360" cy="457200"/>
          </a:xfrm>
          <a:prstGeom prst="rect">
            <a:avLst/>
          </a:prstGeom>
          <a:noFill/>
          <a:ln/>
        </p:spPr>
        <p:txBody>
          <a:bodyPr wrap="square" lIns="0" tIns="0" rIns="0" bIns="0" rtlCol="0" anchor="t"/>
          <a:lstStyle/>
          <a:p>
            <a:pPr indent="0" marL="0">
              <a:buNone/>
            </a:pPr>
            <a:r>
              <a:rPr lang="en-US" sz="1600" dirty="0">
                <a:solidFill>
                  <a:srgbClr val="141413"/>
                </a:solidFill>
                <a:latin typeface="Avenir Next" pitchFamily="34" charset="0"/>
                <a:ea typeface="Avenir Next" pitchFamily="34" charset="-122"/>
                <a:cs typeface="Avenir Next" pitchFamily="34" charset="-120"/>
              </a:rPr>
              <a:t>Get a free key at smith.langchain.com, add it to .env, and run notebook 03.</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3  LangSmith</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F8D86"/>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F8D86"/>
                </a:solidFill>
                <a:latin typeface="Avenir Next" pitchFamily="34" charset="0"/>
                <a:ea typeface="Avenir Next" pitchFamily="34" charset="-122"/>
                <a:cs typeface="Avenir Next" pitchFamily="34" charset="-120"/>
              </a:rPr>
              <a:t>26</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F0EEE6"/>
                </a:solidFill>
                <a:latin typeface="Charter" pitchFamily="34" charset="0"/>
                <a:ea typeface="Charter" pitchFamily="34" charset="-122"/>
                <a:cs typeface="Charter" pitchFamily="34" charset="-120"/>
              </a:rPr>
              <a:t>Each tool uses its own words for </a:t>
            </a:r>
            <a:pPr indent="0" marL="0">
              <a:buNone/>
            </a:pPr>
            <a:r>
              <a:rPr lang="en-US" sz="2800" i="1" dirty="0">
                <a:solidFill>
                  <a:srgbClr val="D97757"/>
                </a:solidFill>
                <a:latin typeface="Charter" pitchFamily="34" charset="0"/>
                <a:ea typeface="Charter" pitchFamily="34" charset="-122"/>
                <a:cs typeface="Charter" pitchFamily="34" charset="-120"/>
              </a:rPr>
              <a:t>the same few ideas</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200400"/>
                <a:gridCol w="2560320"/>
                <a:gridCol w="2560320"/>
                <a:gridCol w="2587752"/>
              </a:tblGrid>
              <a:tr h="566928">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The idea</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D97757"/>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OpenTelemetry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D97757"/>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Langfuse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D97757"/>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LangSmith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D97757"/>
                    </a:solidFill>
                  </a:tcPr>
                </a:tc>
              </a:tr>
              <a:tr h="566928">
                <a:tc>
                  <a:txBody>
                    <a:bodyPr/>
                    <a:lstStyle/>
                    <a:p>
                      <a:pPr indent="0" marL="0">
                        <a:buNone/>
                      </a:pPr>
                      <a:r>
                        <a:rPr lang="en-US" sz="1300" dirty="0">
                          <a:solidFill>
                            <a:srgbClr val="F0EEE6"/>
                          </a:solidFill>
                          <a:latin typeface="Avenir Next" pitchFamily="34" charset="0"/>
                          <a:ea typeface="Avenir Next" pitchFamily="34" charset="-122"/>
                          <a:cs typeface="Avenir Next" pitchFamily="34" charset="-120"/>
                        </a:rPr>
                        <a:t>One request, start to finish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r>
              <a:tr h="566928">
                <a:tc>
                  <a:txBody>
                    <a:bodyPr/>
                    <a:lstStyle/>
                    <a:p>
                      <a:pPr indent="0" marL="0">
                        <a:buNone/>
                      </a:pPr>
                      <a:r>
                        <a:rPr lang="en-US" sz="1300" dirty="0">
                          <a:solidFill>
                            <a:srgbClr val="F0EEE6"/>
                          </a:solidFill>
                          <a:latin typeface="Avenir Next" pitchFamily="34" charset="0"/>
                          <a:ea typeface="Avenir Next" pitchFamily="34" charset="-122"/>
                          <a:cs typeface="Avenir Next" pitchFamily="34" charset="-120"/>
                        </a:rPr>
                        <a:t>One step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Span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Observation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Run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r>
              <a:tr h="566928">
                <a:tc>
                  <a:txBody>
                    <a:bodyPr/>
                    <a:lstStyle/>
                    <a:p>
                      <a:pPr indent="0" marL="0">
                        <a:buNone/>
                      </a:pPr>
                      <a:r>
                        <a:rPr lang="en-US" sz="1300" dirty="0">
                          <a:solidFill>
                            <a:srgbClr val="F0EEE6"/>
                          </a:solidFill>
                          <a:latin typeface="Avenir Next" pitchFamily="34" charset="0"/>
                          <a:ea typeface="Avenir Next" pitchFamily="34" charset="-122"/>
                          <a:cs typeface="Avenir Next" pitchFamily="34" charset="-120"/>
                        </a:rPr>
                        <a:t>An AI model call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Span with AI details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Generation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LLM run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r>
              <a:tr h="566928">
                <a:tc>
                  <a:txBody>
                    <a:bodyPr/>
                    <a:lstStyle/>
                    <a:p>
                      <a:pPr indent="0" marL="0">
                        <a:buNone/>
                      </a:pPr>
                      <a:r>
                        <a:rPr lang="en-US" sz="1300" dirty="0">
                          <a:solidFill>
                            <a:srgbClr val="F0EEE6"/>
                          </a:solidFill>
                          <a:latin typeface="Avenir Next" pitchFamily="34" charset="0"/>
                          <a:ea typeface="Avenir Next" pitchFamily="34" charset="-122"/>
                          <a:cs typeface="Avenir Next" pitchFamily="34" charset="-120"/>
                        </a:rPr>
                        <a:t>A folder of traces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Service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Project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Project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r>
              <a:tr h="566928">
                <a:tc>
                  <a:txBody>
                    <a:bodyPr/>
                    <a:lstStyle/>
                    <a:p>
                      <a:pPr indent="0" marL="0">
                        <a:buNone/>
                      </a:pPr>
                      <a:r>
                        <a:rPr lang="en-US" sz="1300" dirty="0">
                          <a:solidFill>
                            <a:srgbClr val="F0EEE6"/>
                          </a:solidFill>
                          <a:latin typeface="Avenir Next" pitchFamily="34" charset="0"/>
                          <a:ea typeface="Avenir Next" pitchFamily="34" charset="-122"/>
                          <a:cs typeface="Avenir Next" pitchFamily="34" charset="-120"/>
                        </a:rPr>
                        <a:t>A conversation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Session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c>
                  <a:txBody>
                    <a:bodyPr/>
                    <a:lstStyle/>
                    <a:p>
                      <a:pPr indent="0" marL="0">
                        <a:buNone/>
                      </a:pPr>
                      <a:r>
                        <a:rPr lang="en-US" sz="1300" dirty="0">
                          <a:solidFill>
                            <a:srgbClr val="C9C6BC"/>
                          </a:solidFill>
                          <a:latin typeface="Avenir Next" pitchFamily="34" charset="0"/>
                          <a:ea typeface="Avenir Next" pitchFamily="34" charset="-122"/>
                          <a:cs typeface="Avenir Next" pitchFamily="34" charset="-120"/>
                        </a:rPr>
                        <a:t>Thread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3A3936"/>
                      </a:solidFill>
                      <a:prstDash val="solid"/>
                      <a:round/>
                      <a:headEnd type="none" w="med" len="med"/>
                      <a:tailEnd type="none" w="med" len="med"/>
                    </a:lnL>
                    <a:lnR w="9525" cap="flat" cmpd="sng" algn="ctr">
                      <a:solidFill>
                        <a:srgbClr val="3A3936"/>
                      </a:solidFill>
                      <a:prstDash val="solid"/>
                      <a:round/>
                      <a:headEnd type="none" w="med" len="med"/>
                      <a:tailEnd type="none" w="med" len="med"/>
                    </a:lnR>
                    <a:lnT w="9525" cap="flat" cmpd="sng" algn="ctr">
                      <a:solidFill>
                        <a:srgbClr val="3A3936"/>
                      </a:solidFill>
                      <a:prstDash val="solid"/>
                      <a:round/>
                      <a:headEnd type="none" w="med" len="med"/>
                      <a:tailEnd type="none" w="med" len="med"/>
                    </a:lnT>
                    <a:lnB w="9525" cap="flat" cmpd="sng" algn="ctr">
                      <a:solidFill>
                        <a:srgbClr val="3A3936"/>
                      </a:solidFill>
                      <a:prstDash val="solid"/>
                      <a:round/>
                      <a:headEnd type="none" w="med" len="med"/>
                      <a:tailEnd type="none" w="med" len="med"/>
                    </a:lnB>
                    <a:solidFill>
                      <a:srgbClr val="262624"/>
                    </a:solidFill>
                  </a:tcPr>
                </a:tc>
              </a:tr>
            </a:tbl>
          </a:graphicData>
        </a:graphic>
      </p:graphicFrame>
      <p:sp>
        <p:nvSpPr>
          <p:cNvPr id="8" name="Text 5"/>
          <p:cNvSpPr/>
          <p:nvPr/>
        </p:nvSpPr>
        <p:spPr>
          <a:xfrm>
            <a:off x="640080" y="5440680"/>
            <a:ext cx="10881360" cy="457200"/>
          </a:xfrm>
          <a:prstGeom prst="rect">
            <a:avLst/>
          </a:prstGeom>
          <a:noFill/>
          <a:ln/>
        </p:spPr>
        <p:txBody>
          <a:bodyPr wrap="square" lIns="0" tIns="0" rIns="0" bIns="0" rtlCol="0" anchor="t"/>
          <a:lstStyle/>
          <a:p>
            <a:pPr indent="0" marL="0">
              <a:buNone/>
            </a:pPr>
            <a:r>
              <a:rPr lang="en-US" sz="1600" dirty="0">
                <a:solidFill>
                  <a:srgbClr val="F0EEE6"/>
                </a:solidFill>
                <a:latin typeface="Avenir Next" pitchFamily="34" charset="0"/>
                <a:ea typeface="Avenir Next" pitchFamily="34" charset="-122"/>
                <a:cs typeface="Avenir Next" pitchFamily="34" charset="-120"/>
              </a:rPr>
              <a:t>When a tool says observation, run or generation, read it as “a span”.</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8168335" y="0"/>
            <a:ext cx="4023360" cy="6858000"/>
          </a:xfrm>
          <a:prstGeom prst="rect">
            <a:avLst/>
          </a:prstGeom>
          <a:solidFill>
            <a:srgbClr val="D97757"/>
          </a:solidFill>
          <a:ln w="12700">
            <a:solidFill>
              <a:srgbClr val="D97757"/>
            </a:solidFill>
            <a:prstDash val="solid"/>
          </a:ln>
        </p:spPr>
      </p:sp>
      <p:sp>
        <p:nvSpPr>
          <p:cNvPr id="3" name="Text 1"/>
          <p:cNvSpPr/>
          <p:nvPr/>
        </p:nvSpPr>
        <p:spPr>
          <a:xfrm>
            <a:off x="8168335" y="1463040"/>
            <a:ext cx="4023360" cy="3840480"/>
          </a:xfrm>
          <a:prstGeom prst="rect">
            <a:avLst/>
          </a:prstGeom>
          <a:noFill/>
          <a:ln/>
        </p:spPr>
        <p:txBody>
          <a:bodyPr wrap="square" lIns="0" tIns="0" rIns="0" bIns="0" rtlCol="0" anchor="ctr"/>
          <a:lstStyle/>
          <a:p>
            <a:pPr algn="ctr" indent="0" marL="0">
              <a:buNone/>
            </a:pPr>
            <a:r>
              <a:rPr lang="en-US" sz="24000" dirty="0">
                <a:solidFill>
                  <a:srgbClr val="141413"/>
                </a:solidFill>
                <a:latin typeface="Charter" pitchFamily="34" charset="0"/>
                <a:ea typeface="Charter" pitchFamily="34" charset="-122"/>
                <a:cs typeface="Charter" pitchFamily="34" charset="-120"/>
              </a:rPr>
              <a:t>4</a:t>
            </a:r>
            <a:endParaRPr lang="en-US" sz="24000" dirty="0"/>
          </a:p>
        </p:txBody>
      </p:sp>
      <p:sp>
        <p:nvSpPr>
          <p:cNvPr id="4" name="Text 2"/>
          <p:cNvSpPr/>
          <p:nvPr/>
        </p:nvSpPr>
        <p:spPr>
          <a:xfrm>
            <a:off x="640080" y="2148840"/>
            <a:ext cx="6400800" cy="365760"/>
          </a:xfrm>
          <a:prstGeom prst="rect">
            <a:avLst/>
          </a:prstGeom>
          <a:noFill/>
          <a:ln/>
        </p:spPr>
        <p:txBody>
          <a:bodyPr wrap="square" lIns="0" tIns="0" rIns="0" bIns="0" rtlCol="0" anchor="ctr"/>
          <a:lstStyle/>
          <a:p>
            <a:pPr indent="0" marL="0">
              <a:buNone/>
            </a:pPr>
            <a:r>
              <a:rPr lang="en-US" sz="1400" b="1" spc="200" kern="0" dirty="0">
                <a:solidFill>
                  <a:srgbClr val="D97757"/>
                </a:solidFill>
                <a:latin typeface="Avenir Next" pitchFamily="34" charset="0"/>
                <a:ea typeface="Avenir Next" pitchFamily="34" charset="-122"/>
                <a:cs typeface="Avenir Next" pitchFamily="34" charset="-120"/>
              </a:rPr>
              <a:t>Part 4</a:t>
            </a:r>
            <a:endParaRPr lang="en-US" sz="1400" dirty="0"/>
          </a:p>
        </p:txBody>
      </p:sp>
      <p:sp>
        <p:nvSpPr>
          <p:cNvPr id="5" name="Text 3"/>
          <p:cNvSpPr/>
          <p:nvPr/>
        </p:nvSpPr>
        <p:spPr>
          <a:xfrm>
            <a:off x="640080" y="2606040"/>
            <a:ext cx="7132320" cy="1005840"/>
          </a:xfrm>
          <a:prstGeom prst="rect">
            <a:avLst/>
          </a:prstGeom>
          <a:noFill/>
          <a:ln/>
        </p:spPr>
        <p:txBody>
          <a:bodyPr wrap="square" lIns="0" tIns="0" rIns="0" bIns="0" rtlCol="0" anchor="ctr"/>
          <a:lstStyle/>
          <a:p>
            <a:pPr indent="0" marL="0">
              <a:buNone/>
            </a:pPr>
            <a:r>
              <a:rPr lang="en-US" sz="5200" dirty="0">
                <a:solidFill>
                  <a:srgbClr val="F0EEE6"/>
                </a:solidFill>
                <a:latin typeface="Charter" pitchFamily="34" charset="0"/>
                <a:ea typeface="Charter" pitchFamily="34" charset="-122"/>
                <a:cs typeface="Charter" pitchFamily="34" charset="-120"/>
              </a:rPr>
              <a:t>Other tools</a:t>
            </a:r>
            <a:endParaRPr lang="en-US" sz="5200" dirty="0"/>
          </a:p>
        </p:txBody>
      </p:sp>
      <p:sp>
        <p:nvSpPr>
          <p:cNvPr id="6" name="Text 4"/>
          <p:cNvSpPr/>
          <p:nvPr/>
        </p:nvSpPr>
        <p:spPr>
          <a:xfrm>
            <a:off x="640080" y="3749040"/>
            <a:ext cx="6766560" cy="822960"/>
          </a:xfrm>
          <a:prstGeom prst="rect">
            <a:avLst/>
          </a:prstGeom>
          <a:noFill/>
          <a:ln/>
        </p:spPr>
        <p:txBody>
          <a:bodyPr wrap="square" lIns="0" tIns="0" rIns="0" bIns="0" rtlCol="0" anchor="t"/>
          <a:lstStyle/>
          <a:p>
            <a:pPr indent="0" marL="0">
              <a:buNone/>
            </a:pPr>
            <a:r>
              <a:rPr lang="en-US" sz="1800" dirty="0">
                <a:solidFill>
                  <a:srgbClr val="C9C6BC"/>
                </a:solidFill>
                <a:latin typeface="Avenir Next" pitchFamily="34" charset="0"/>
                <a:ea typeface="Avenir Next" pitchFamily="34" charset="-122"/>
                <a:cs typeface="Avenir Next" pitchFamily="34" charset="-120"/>
              </a:rPr>
              <a:t>Langfuse and LangSmith are not the only options.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4  Other tools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28</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Tools come in </a:t>
            </a:r>
            <a:pPr indent="0" marL="0">
              <a:buNone/>
            </a:pPr>
            <a:r>
              <a:rPr lang="en-US" sz="2800" i="1" dirty="0">
                <a:solidFill>
                  <a:srgbClr val="D97757"/>
                </a:solidFill>
                <a:latin typeface="Charter" pitchFamily="34" charset="0"/>
                <a:ea typeface="Charter" pitchFamily="34" charset="-122"/>
                <a:cs typeface="Charter" pitchFamily="34" charset="-120"/>
              </a:rPr>
              <a:t>two groups</a:t>
            </a:r>
            <a:pPr indent="0" marL="0">
              <a:buNone/>
            </a:pPr>
            <a:r>
              <a:rPr lang="en-US" sz="2800" dirty="0">
                <a:solidFill>
                  <a:srgbClr val="141413"/>
                </a:solidFill>
                <a:latin typeface="Charter" pitchFamily="34" charset="0"/>
                <a:ea typeface="Charter" pitchFamily="34" charset="-122"/>
                <a:cs typeface="Charter" pitchFamily="34" charset="-120"/>
              </a:rPr>
              <a:t>: built for AI apps, or general monitoring</a:t>
            </a:r>
            <a:endParaRPr lang="en-US" sz="2800" dirty="0"/>
          </a:p>
        </p:txBody>
      </p:sp>
      <p:sp>
        <p:nvSpPr>
          <p:cNvPr id="7" name="Text 5"/>
          <p:cNvSpPr/>
          <p:nvPr/>
        </p:nvSpPr>
        <p:spPr>
          <a:xfrm>
            <a:off x="640080" y="1783080"/>
            <a:ext cx="5303520" cy="320040"/>
          </a:xfrm>
          <a:prstGeom prst="rect">
            <a:avLst/>
          </a:prstGeom>
          <a:noFill/>
          <a:ln/>
        </p:spPr>
        <p:txBody>
          <a:bodyPr wrap="square" lIns="0" tIns="0" rIns="0" bIns="0" rtlCol="0" anchor="t"/>
          <a:lstStyle/>
          <a:p>
            <a:pPr indent="0" marL="0">
              <a:buNone/>
            </a:pPr>
            <a:r>
              <a:rPr lang="en-US" sz="1700" b="1" dirty="0">
                <a:solidFill>
                  <a:srgbClr val="141413"/>
                </a:solidFill>
                <a:latin typeface="Avenir Next" pitchFamily="34" charset="0"/>
                <a:ea typeface="Avenir Next" pitchFamily="34" charset="-122"/>
                <a:cs typeface="Avenir Next" pitchFamily="34" charset="-120"/>
              </a:rPr>
              <a:t>Built for AI apps</a:t>
            </a:r>
            <a:endParaRPr lang="en-US" sz="1700" dirty="0"/>
          </a:p>
        </p:txBody>
      </p:sp>
      <p:sp>
        <p:nvSpPr>
          <p:cNvPr id="8" name="Text 6"/>
          <p:cNvSpPr/>
          <p:nvPr/>
        </p:nvSpPr>
        <p:spPr>
          <a:xfrm>
            <a:off x="640080" y="2103120"/>
            <a:ext cx="5303520" cy="320040"/>
          </a:xfrm>
          <a:prstGeom prst="rect">
            <a:avLst/>
          </a:prstGeom>
          <a:noFill/>
          <a:ln/>
        </p:spPr>
        <p:txBody>
          <a:bodyPr wrap="square" lIns="0" tIns="0" rIns="0" bIns="0" rtlCol="0" anchor="t"/>
          <a:lstStyle/>
          <a:p>
            <a:pPr indent="0" marL="0">
              <a:buNone/>
            </a:pPr>
            <a:r>
              <a:rPr lang="en-US" sz="1300" dirty="0">
                <a:solidFill>
                  <a:srgbClr val="87867F"/>
                </a:solidFill>
                <a:latin typeface="Avenir Next" pitchFamily="34" charset="0"/>
                <a:ea typeface="Avenir Next" pitchFamily="34" charset="-122"/>
                <a:cs typeface="Avenir Next" pitchFamily="34" charset="-120"/>
              </a:rPr>
              <a:t>Understand prompts, tokens and cost out of the box</a:t>
            </a:r>
            <a:endParaRPr lang="en-US" sz="1300" dirty="0"/>
          </a:p>
        </p:txBody>
      </p:sp>
      <p:sp>
        <p:nvSpPr>
          <p:cNvPr id="9" name="Shape 7"/>
          <p:cNvSpPr/>
          <p:nvPr/>
        </p:nvSpPr>
        <p:spPr>
          <a:xfrm>
            <a:off x="640080" y="2606040"/>
            <a:ext cx="5303520" cy="804672"/>
          </a:xfrm>
          <a:prstGeom prst="rect">
            <a:avLst/>
          </a:prstGeom>
          <a:solidFill>
            <a:srgbClr val="FAF9F5"/>
          </a:solidFill>
          <a:ln w="9525">
            <a:solidFill>
              <a:srgbClr val="D9D5C8"/>
            </a:solidFill>
            <a:prstDash val="solid"/>
          </a:ln>
        </p:spPr>
      </p:sp>
      <p:pic>
        <p:nvPicPr>
          <p:cNvPr id="10" name="Image 0" descr="/Users/datasense/Desktop/ai-observability/slides/assets/logo-langfuse-color.png">    </p:cNvPr>
          <p:cNvPicPr>
            <a:picLocks noChangeAspect="1"/>
          </p:cNvPicPr>
          <p:nvPr/>
        </p:nvPicPr>
        <p:blipFill>
          <a:blip r:embed="rId1"/>
          <a:srcRect l="0" r="0" t="0" b="0"/>
          <a:stretch/>
        </p:blipFill>
        <p:spPr>
          <a:xfrm>
            <a:off x="868680" y="2761488"/>
            <a:ext cx="493776" cy="493776"/>
          </a:xfrm>
          <a:prstGeom prst="rect">
            <a:avLst/>
          </a:prstGeom>
        </p:spPr>
      </p:pic>
      <p:sp>
        <p:nvSpPr>
          <p:cNvPr id="11" name="Text 8"/>
          <p:cNvSpPr/>
          <p:nvPr/>
        </p:nvSpPr>
        <p:spPr>
          <a:xfrm>
            <a:off x="1600200" y="2715768"/>
            <a:ext cx="2194560" cy="320040"/>
          </a:xfrm>
          <a:prstGeom prst="rect">
            <a:avLst/>
          </a:prstGeom>
          <a:noFill/>
          <a:ln/>
        </p:spPr>
        <p:txBody>
          <a:bodyPr wrap="square" lIns="0" tIns="0" rIns="0" bIns="0" rtlCol="0" anchor="t"/>
          <a:lstStyle/>
          <a:p>
            <a:pPr indent="0" marL="0">
              <a:buNone/>
            </a:pPr>
            <a:r>
              <a:rPr lang="en-US" sz="1600" b="1" dirty="0">
                <a:solidFill>
                  <a:srgbClr val="141413"/>
                </a:solidFill>
                <a:latin typeface="Avenir Next" pitchFamily="34" charset="0"/>
                <a:ea typeface="Avenir Next" pitchFamily="34" charset="-122"/>
                <a:cs typeface="Avenir Next" pitchFamily="34" charset="-120"/>
              </a:rPr>
              <a:t>Langfuse</a:t>
            </a:r>
            <a:endParaRPr lang="en-US" sz="1600" dirty="0"/>
          </a:p>
        </p:txBody>
      </p:sp>
      <p:sp>
        <p:nvSpPr>
          <p:cNvPr id="12" name="Text 9"/>
          <p:cNvSpPr/>
          <p:nvPr/>
        </p:nvSpPr>
        <p:spPr>
          <a:xfrm>
            <a:off x="1600200" y="3035808"/>
            <a:ext cx="411480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Open source, self-host</a:t>
            </a:r>
            <a:endParaRPr lang="en-US" sz="1200" dirty="0"/>
          </a:p>
        </p:txBody>
      </p:sp>
      <p:sp>
        <p:nvSpPr>
          <p:cNvPr id="13" name="Shape 10"/>
          <p:cNvSpPr/>
          <p:nvPr/>
        </p:nvSpPr>
        <p:spPr>
          <a:xfrm>
            <a:off x="640080" y="3566160"/>
            <a:ext cx="5303520" cy="804672"/>
          </a:xfrm>
          <a:prstGeom prst="rect">
            <a:avLst/>
          </a:prstGeom>
          <a:solidFill>
            <a:srgbClr val="FAF9F5"/>
          </a:solidFill>
          <a:ln w="9525">
            <a:solidFill>
              <a:srgbClr val="D9D5C8"/>
            </a:solidFill>
            <a:prstDash val="solid"/>
          </a:ln>
        </p:spPr>
      </p:sp>
      <p:pic>
        <p:nvPicPr>
          <p:cNvPr id="14" name="Image 1" descr="/Users/datasense/Desktop/ai-observability/slides/assets/logo-langchain-color.png">    </p:cNvPr>
          <p:cNvPicPr>
            <a:picLocks noChangeAspect="1"/>
          </p:cNvPicPr>
          <p:nvPr/>
        </p:nvPicPr>
        <p:blipFill>
          <a:blip r:embed="rId2"/>
          <a:srcRect l="0" r="0" t="0" b="0"/>
          <a:stretch/>
        </p:blipFill>
        <p:spPr>
          <a:xfrm>
            <a:off x="868680" y="3721608"/>
            <a:ext cx="493776" cy="493776"/>
          </a:xfrm>
          <a:prstGeom prst="rect">
            <a:avLst/>
          </a:prstGeom>
        </p:spPr>
      </p:pic>
      <p:sp>
        <p:nvSpPr>
          <p:cNvPr id="15" name="Text 11"/>
          <p:cNvSpPr/>
          <p:nvPr/>
        </p:nvSpPr>
        <p:spPr>
          <a:xfrm>
            <a:off x="1600200" y="3675888"/>
            <a:ext cx="2194560" cy="320040"/>
          </a:xfrm>
          <a:prstGeom prst="rect">
            <a:avLst/>
          </a:prstGeom>
          <a:noFill/>
          <a:ln/>
        </p:spPr>
        <p:txBody>
          <a:bodyPr wrap="square" lIns="0" tIns="0" rIns="0" bIns="0" rtlCol="0" anchor="t"/>
          <a:lstStyle/>
          <a:p>
            <a:pPr indent="0" marL="0">
              <a:buNone/>
            </a:pPr>
            <a:r>
              <a:rPr lang="en-US" sz="1600" b="1" dirty="0">
                <a:solidFill>
                  <a:srgbClr val="141413"/>
                </a:solidFill>
                <a:latin typeface="Avenir Next" pitchFamily="34" charset="0"/>
                <a:ea typeface="Avenir Next" pitchFamily="34" charset="-122"/>
                <a:cs typeface="Avenir Next" pitchFamily="34" charset="-120"/>
              </a:rPr>
              <a:t>LangSmith</a:t>
            </a:r>
            <a:endParaRPr lang="en-US" sz="1600" dirty="0"/>
          </a:p>
        </p:txBody>
      </p:sp>
      <p:sp>
        <p:nvSpPr>
          <p:cNvPr id="16" name="Text 12"/>
          <p:cNvSpPr/>
          <p:nvPr/>
        </p:nvSpPr>
        <p:spPr>
          <a:xfrm>
            <a:off x="1600200" y="3995928"/>
            <a:ext cx="411480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Hosted, from the LangChain team</a:t>
            </a:r>
            <a:endParaRPr lang="en-US" sz="1200" dirty="0"/>
          </a:p>
        </p:txBody>
      </p:sp>
      <p:sp>
        <p:nvSpPr>
          <p:cNvPr id="17" name="Shape 13"/>
          <p:cNvSpPr/>
          <p:nvPr/>
        </p:nvSpPr>
        <p:spPr>
          <a:xfrm>
            <a:off x="640080" y="4526280"/>
            <a:ext cx="5303520" cy="804672"/>
          </a:xfrm>
          <a:prstGeom prst="rect">
            <a:avLst/>
          </a:prstGeom>
          <a:solidFill>
            <a:srgbClr val="FAF9F5"/>
          </a:solidFill>
          <a:ln w="9525">
            <a:solidFill>
              <a:srgbClr val="D9D5C8"/>
            </a:solidFill>
            <a:prstDash val="solid"/>
          </a:ln>
        </p:spPr>
      </p:sp>
      <p:pic>
        <p:nvPicPr>
          <p:cNvPr id="18" name="Image 2" descr="/Users/datasense/Desktop/ai-observability/slides/assets/logo-phoenix-color.png">    </p:cNvPr>
          <p:cNvPicPr>
            <a:picLocks noChangeAspect="1"/>
          </p:cNvPicPr>
          <p:nvPr/>
        </p:nvPicPr>
        <p:blipFill>
          <a:blip r:embed="rId3"/>
          <a:srcRect l="0" r="0" t="0" b="0"/>
          <a:stretch/>
        </p:blipFill>
        <p:spPr>
          <a:xfrm>
            <a:off x="868680" y="4681728"/>
            <a:ext cx="493776" cy="493776"/>
          </a:xfrm>
          <a:prstGeom prst="rect">
            <a:avLst/>
          </a:prstGeom>
        </p:spPr>
      </p:pic>
      <p:sp>
        <p:nvSpPr>
          <p:cNvPr id="19" name="Text 14"/>
          <p:cNvSpPr/>
          <p:nvPr/>
        </p:nvSpPr>
        <p:spPr>
          <a:xfrm>
            <a:off x="1600200" y="4636008"/>
            <a:ext cx="2194560" cy="320040"/>
          </a:xfrm>
          <a:prstGeom prst="rect">
            <a:avLst/>
          </a:prstGeom>
          <a:noFill/>
          <a:ln/>
        </p:spPr>
        <p:txBody>
          <a:bodyPr wrap="square" lIns="0" tIns="0" rIns="0" bIns="0" rtlCol="0" anchor="t"/>
          <a:lstStyle/>
          <a:p>
            <a:pPr indent="0" marL="0">
              <a:buNone/>
            </a:pPr>
            <a:r>
              <a:rPr lang="en-US" sz="1600" b="1" dirty="0">
                <a:solidFill>
                  <a:srgbClr val="141413"/>
                </a:solidFill>
                <a:latin typeface="Avenir Next" pitchFamily="34" charset="0"/>
                <a:ea typeface="Avenir Next" pitchFamily="34" charset="-122"/>
                <a:cs typeface="Avenir Next" pitchFamily="34" charset="-120"/>
              </a:rPr>
              <a:t>Arize Phoenix</a:t>
            </a:r>
            <a:endParaRPr lang="en-US" sz="1600" dirty="0"/>
          </a:p>
        </p:txBody>
      </p:sp>
      <p:sp>
        <p:nvSpPr>
          <p:cNvPr id="20" name="Text 15"/>
          <p:cNvSpPr/>
          <p:nvPr/>
        </p:nvSpPr>
        <p:spPr>
          <a:xfrm>
            <a:off x="1600200" y="4956048"/>
            <a:ext cx="411480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Open source, lightweight</a:t>
            </a:r>
            <a:endParaRPr lang="en-US" sz="1200" dirty="0"/>
          </a:p>
        </p:txBody>
      </p:sp>
      <p:sp>
        <p:nvSpPr>
          <p:cNvPr id="21" name="Text 16"/>
          <p:cNvSpPr/>
          <p:nvPr/>
        </p:nvSpPr>
        <p:spPr>
          <a:xfrm>
            <a:off x="6172200" y="1783080"/>
            <a:ext cx="5303520" cy="320040"/>
          </a:xfrm>
          <a:prstGeom prst="rect">
            <a:avLst/>
          </a:prstGeom>
          <a:noFill/>
          <a:ln/>
        </p:spPr>
        <p:txBody>
          <a:bodyPr wrap="square" lIns="0" tIns="0" rIns="0" bIns="0" rtlCol="0" anchor="t"/>
          <a:lstStyle/>
          <a:p>
            <a:pPr indent="0" marL="0">
              <a:buNone/>
            </a:pPr>
            <a:r>
              <a:rPr lang="en-US" sz="1700" b="1" dirty="0">
                <a:solidFill>
                  <a:srgbClr val="141413"/>
                </a:solidFill>
                <a:latin typeface="Avenir Next" pitchFamily="34" charset="0"/>
                <a:ea typeface="Avenir Next" pitchFamily="34" charset="-122"/>
                <a:cs typeface="Avenir Next" pitchFamily="34" charset="-120"/>
              </a:rPr>
              <a:t>General monitoring platforms</a:t>
            </a:r>
            <a:endParaRPr lang="en-US" sz="1700" dirty="0"/>
          </a:p>
        </p:txBody>
      </p:sp>
      <p:sp>
        <p:nvSpPr>
          <p:cNvPr id="22" name="Text 17"/>
          <p:cNvSpPr/>
          <p:nvPr/>
        </p:nvSpPr>
        <p:spPr>
          <a:xfrm>
            <a:off x="6172200" y="2103120"/>
            <a:ext cx="5303520" cy="320040"/>
          </a:xfrm>
          <a:prstGeom prst="rect">
            <a:avLst/>
          </a:prstGeom>
          <a:noFill/>
          <a:ln/>
        </p:spPr>
        <p:txBody>
          <a:bodyPr wrap="square" lIns="0" tIns="0" rIns="0" bIns="0" rtlCol="0" anchor="t"/>
          <a:lstStyle/>
          <a:p>
            <a:pPr indent="0" marL="0">
              <a:buNone/>
            </a:pPr>
            <a:r>
              <a:rPr lang="en-US" sz="1300" dirty="0">
                <a:solidFill>
                  <a:srgbClr val="87867F"/>
                </a:solidFill>
                <a:latin typeface="Avenir Next" pitchFamily="34" charset="0"/>
                <a:ea typeface="Avenir Next" pitchFamily="34" charset="-122"/>
                <a:cs typeface="Avenir Next" pitchFamily="34" charset="-120"/>
              </a:rPr>
              <a:t>Put AI traces next to servers and databases</a:t>
            </a:r>
            <a:endParaRPr lang="en-US" sz="1300" dirty="0"/>
          </a:p>
        </p:txBody>
      </p:sp>
      <p:sp>
        <p:nvSpPr>
          <p:cNvPr id="23" name="Shape 18"/>
          <p:cNvSpPr/>
          <p:nvPr/>
        </p:nvSpPr>
        <p:spPr>
          <a:xfrm>
            <a:off x="6172200" y="2606040"/>
            <a:ext cx="5303520" cy="804672"/>
          </a:xfrm>
          <a:prstGeom prst="rect">
            <a:avLst/>
          </a:prstGeom>
          <a:solidFill>
            <a:srgbClr val="FAF9F5"/>
          </a:solidFill>
          <a:ln w="9525">
            <a:solidFill>
              <a:srgbClr val="D9D5C8"/>
            </a:solidFill>
            <a:prstDash val="solid"/>
          </a:ln>
        </p:spPr>
      </p:sp>
      <p:pic>
        <p:nvPicPr>
          <p:cNvPr id="24" name="Image 3" descr="/Users/datasense/Desktop/ai-observability/slides/assets/logo-datadog-color.png">    </p:cNvPr>
          <p:cNvPicPr>
            <a:picLocks noChangeAspect="1"/>
          </p:cNvPicPr>
          <p:nvPr/>
        </p:nvPicPr>
        <p:blipFill>
          <a:blip r:embed="rId4"/>
          <a:srcRect l="0" r="0" t="0" b="0"/>
          <a:stretch/>
        </p:blipFill>
        <p:spPr>
          <a:xfrm>
            <a:off x="6400800" y="2761488"/>
            <a:ext cx="493776" cy="493776"/>
          </a:xfrm>
          <a:prstGeom prst="rect">
            <a:avLst/>
          </a:prstGeom>
        </p:spPr>
      </p:pic>
      <p:sp>
        <p:nvSpPr>
          <p:cNvPr id="25" name="Text 19"/>
          <p:cNvSpPr/>
          <p:nvPr/>
        </p:nvSpPr>
        <p:spPr>
          <a:xfrm>
            <a:off x="7132320" y="2715768"/>
            <a:ext cx="2194560" cy="320040"/>
          </a:xfrm>
          <a:prstGeom prst="rect">
            <a:avLst/>
          </a:prstGeom>
          <a:noFill/>
          <a:ln/>
        </p:spPr>
        <p:txBody>
          <a:bodyPr wrap="square" lIns="0" tIns="0" rIns="0" bIns="0" rtlCol="0" anchor="t"/>
          <a:lstStyle/>
          <a:p>
            <a:pPr indent="0" marL="0">
              <a:buNone/>
            </a:pPr>
            <a:r>
              <a:rPr lang="en-US" sz="1600" b="1" dirty="0">
                <a:solidFill>
                  <a:srgbClr val="141413"/>
                </a:solidFill>
                <a:latin typeface="Avenir Next" pitchFamily="34" charset="0"/>
                <a:ea typeface="Avenir Next" pitchFamily="34" charset="-122"/>
                <a:cs typeface="Avenir Next" pitchFamily="34" charset="-120"/>
              </a:rPr>
              <a:t>Datadog</a:t>
            </a:r>
            <a:endParaRPr lang="en-US" sz="1600" dirty="0"/>
          </a:p>
        </p:txBody>
      </p:sp>
      <p:sp>
        <p:nvSpPr>
          <p:cNvPr id="26" name="Text 20"/>
          <p:cNvSpPr/>
          <p:nvPr/>
        </p:nvSpPr>
        <p:spPr>
          <a:xfrm>
            <a:off x="7132320" y="3035808"/>
            <a:ext cx="411480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LLM Observability add-on</a:t>
            </a:r>
            <a:endParaRPr lang="en-US" sz="1200" dirty="0"/>
          </a:p>
        </p:txBody>
      </p:sp>
      <p:sp>
        <p:nvSpPr>
          <p:cNvPr id="27" name="Shape 21"/>
          <p:cNvSpPr/>
          <p:nvPr/>
        </p:nvSpPr>
        <p:spPr>
          <a:xfrm>
            <a:off x="6172200" y="3566160"/>
            <a:ext cx="5303520" cy="804672"/>
          </a:xfrm>
          <a:prstGeom prst="rect">
            <a:avLst/>
          </a:prstGeom>
          <a:solidFill>
            <a:srgbClr val="FAF9F5"/>
          </a:solidFill>
          <a:ln w="9525">
            <a:solidFill>
              <a:srgbClr val="D9D5C8"/>
            </a:solidFill>
            <a:prstDash val="solid"/>
          </a:ln>
        </p:spPr>
      </p:sp>
      <p:pic>
        <p:nvPicPr>
          <p:cNvPr id="28" name="Image 4" descr="/Users/datasense/Desktop/ai-observability/slides/assets/logo-dynatrace-color.png">    </p:cNvPr>
          <p:cNvPicPr>
            <a:picLocks noChangeAspect="1"/>
          </p:cNvPicPr>
          <p:nvPr/>
        </p:nvPicPr>
        <p:blipFill>
          <a:blip r:embed="rId5"/>
          <a:srcRect l="0" r="0" t="0" b="0"/>
          <a:stretch/>
        </p:blipFill>
        <p:spPr>
          <a:xfrm>
            <a:off x="6400800" y="3721608"/>
            <a:ext cx="493776" cy="493776"/>
          </a:xfrm>
          <a:prstGeom prst="rect">
            <a:avLst/>
          </a:prstGeom>
        </p:spPr>
      </p:pic>
      <p:sp>
        <p:nvSpPr>
          <p:cNvPr id="29" name="Text 22"/>
          <p:cNvSpPr/>
          <p:nvPr/>
        </p:nvSpPr>
        <p:spPr>
          <a:xfrm>
            <a:off x="7132320" y="3675888"/>
            <a:ext cx="2194560" cy="320040"/>
          </a:xfrm>
          <a:prstGeom prst="rect">
            <a:avLst/>
          </a:prstGeom>
          <a:noFill/>
          <a:ln/>
        </p:spPr>
        <p:txBody>
          <a:bodyPr wrap="square" lIns="0" tIns="0" rIns="0" bIns="0" rtlCol="0" anchor="t"/>
          <a:lstStyle/>
          <a:p>
            <a:pPr indent="0" marL="0">
              <a:buNone/>
            </a:pPr>
            <a:r>
              <a:rPr lang="en-US" sz="1600" b="1" dirty="0">
                <a:solidFill>
                  <a:srgbClr val="141413"/>
                </a:solidFill>
                <a:latin typeface="Avenir Next" pitchFamily="34" charset="0"/>
                <a:ea typeface="Avenir Next" pitchFamily="34" charset="-122"/>
                <a:cs typeface="Avenir Next" pitchFamily="34" charset="-120"/>
              </a:rPr>
              <a:t>Dynatrace</a:t>
            </a:r>
            <a:endParaRPr lang="en-US" sz="1600" dirty="0"/>
          </a:p>
        </p:txBody>
      </p:sp>
      <p:sp>
        <p:nvSpPr>
          <p:cNvPr id="30" name="Text 23"/>
          <p:cNvSpPr/>
          <p:nvPr/>
        </p:nvSpPr>
        <p:spPr>
          <a:xfrm>
            <a:off x="7132320" y="3995928"/>
            <a:ext cx="411480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AI features on full monitoring</a:t>
            </a:r>
            <a:endParaRPr lang="en-US" sz="1200" dirty="0"/>
          </a:p>
        </p:txBody>
      </p:sp>
      <p:sp>
        <p:nvSpPr>
          <p:cNvPr id="31" name="Shape 24"/>
          <p:cNvSpPr/>
          <p:nvPr/>
        </p:nvSpPr>
        <p:spPr>
          <a:xfrm>
            <a:off x="6172200" y="4526280"/>
            <a:ext cx="5303520" cy="804672"/>
          </a:xfrm>
          <a:prstGeom prst="rect">
            <a:avLst/>
          </a:prstGeom>
          <a:solidFill>
            <a:srgbClr val="FAF9F5"/>
          </a:solidFill>
          <a:ln w="9525">
            <a:solidFill>
              <a:srgbClr val="D9D5C8"/>
            </a:solidFill>
            <a:prstDash val="solid"/>
          </a:ln>
        </p:spPr>
      </p:sp>
      <p:pic>
        <p:nvPicPr>
          <p:cNvPr id="32" name="Image 5" descr="/Users/datasense/Desktop/ai-observability/slides/assets/logo-grafana-color.png">    </p:cNvPr>
          <p:cNvPicPr>
            <a:picLocks noChangeAspect="1"/>
          </p:cNvPicPr>
          <p:nvPr/>
        </p:nvPicPr>
        <p:blipFill>
          <a:blip r:embed="rId6"/>
          <a:srcRect l="0" r="0" t="0" b="0"/>
          <a:stretch/>
        </p:blipFill>
        <p:spPr>
          <a:xfrm>
            <a:off x="6400800" y="4681728"/>
            <a:ext cx="493776" cy="493776"/>
          </a:xfrm>
          <a:prstGeom prst="rect">
            <a:avLst/>
          </a:prstGeom>
        </p:spPr>
      </p:pic>
      <p:sp>
        <p:nvSpPr>
          <p:cNvPr id="33" name="Text 25"/>
          <p:cNvSpPr/>
          <p:nvPr/>
        </p:nvSpPr>
        <p:spPr>
          <a:xfrm>
            <a:off x="7132320" y="4636008"/>
            <a:ext cx="2194560" cy="320040"/>
          </a:xfrm>
          <a:prstGeom prst="rect">
            <a:avLst/>
          </a:prstGeom>
          <a:noFill/>
          <a:ln/>
        </p:spPr>
        <p:txBody>
          <a:bodyPr wrap="square" lIns="0" tIns="0" rIns="0" bIns="0" rtlCol="0" anchor="t"/>
          <a:lstStyle/>
          <a:p>
            <a:pPr indent="0" marL="0">
              <a:buNone/>
            </a:pPr>
            <a:r>
              <a:rPr lang="en-US" sz="1600" b="1" dirty="0">
                <a:solidFill>
                  <a:srgbClr val="141413"/>
                </a:solidFill>
                <a:latin typeface="Avenir Next" pitchFamily="34" charset="0"/>
                <a:ea typeface="Avenir Next" pitchFamily="34" charset="-122"/>
                <a:cs typeface="Avenir Next" pitchFamily="34" charset="-120"/>
              </a:rPr>
              <a:t>Grafana</a:t>
            </a:r>
            <a:endParaRPr lang="en-US" sz="1600" dirty="0"/>
          </a:p>
        </p:txBody>
      </p:sp>
      <p:sp>
        <p:nvSpPr>
          <p:cNvPr id="34" name="Text 26"/>
          <p:cNvSpPr/>
          <p:nvPr/>
        </p:nvSpPr>
        <p:spPr>
          <a:xfrm>
            <a:off x="7132320" y="4956048"/>
            <a:ext cx="4114800" cy="274320"/>
          </a:xfrm>
          <a:prstGeom prst="rect">
            <a:avLst/>
          </a:prstGeom>
          <a:noFill/>
          <a:ln/>
        </p:spPr>
        <p:txBody>
          <a:bodyPr wrap="square" lIns="0" tIns="0" rIns="0" bIns="0" rtlCol="0" anchor="t"/>
          <a:lstStyle/>
          <a:p>
            <a:pPr indent="0" marL="0">
              <a:buNone/>
            </a:pPr>
            <a:r>
              <a:rPr lang="en-US" sz="1200" dirty="0">
                <a:solidFill>
                  <a:srgbClr val="87867F"/>
                </a:solidFill>
                <a:latin typeface="Avenir Next" pitchFamily="34" charset="0"/>
                <a:ea typeface="Avenir Next" pitchFamily="34" charset="-122"/>
                <a:cs typeface="Avenir Next" pitchFamily="34" charset="-120"/>
              </a:rPr>
              <a:t>Open source dashboards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4  Other tools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29</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Switching tools means changing </a:t>
            </a:r>
            <a:pPr indent="0" marL="0">
              <a:buNone/>
            </a:pPr>
            <a:r>
              <a:rPr lang="en-US" sz="2800" i="1" dirty="0">
                <a:solidFill>
                  <a:srgbClr val="D97757"/>
                </a:solidFill>
                <a:latin typeface="Charter" pitchFamily="34" charset="0"/>
                <a:ea typeface="Charter" pitchFamily="34" charset="-122"/>
                <a:cs typeface="Charter" pitchFamily="34" charset="-120"/>
              </a:rPr>
              <a:t>an address, not code</a:t>
            </a:r>
            <a:endParaRPr 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828800"/>
                <a:gridCol w="5120640"/>
                <a:gridCol w="3959352"/>
              </a:tblGrid>
              <a:tr h="566928">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Tool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Where to send spans (endpoint)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Key (header)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Langfuse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http://localhost:3000/api/public/otel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Authorization: Basic &lt;keys&gt;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LangSmith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https://api.smith.langchain.com/otel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x-api-key: &lt;key&gt;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Dynatrace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https://&lt;id&gt;.live.dynatrace.com/api/v2/otlp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Authorization: Bearer &lt;token&gt;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566928">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Datadog</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Your Datadog site's OTLP address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dd-api-key: &lt;key&gt;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bl>
          </a:graphicData>
        </a:graphic>
      </p:graphicFrame>
      <p:sp>
        <p:nvSpPr>
          <p:cNvPr id="8" name="Text 5"/>
          <p:cNvSpPr/>
          <p:nvPr/>
        </p:nvSpPr>
        <p:spPr>
          <a:xfrm>
            <a:off x="640080" y="4937760"/>
            <a:ext cx="10881360" cy="457200"/>
          </a:xfrm>
          <a:prstGeom prst="rect">
            <a:avLst/>
          </a:prstGeom>
          <a:noFill/>
          <a:ln/>
        </p:spPr>
        <p:txBody>
          <a:bodyPr wrap="square" lIns="0" tIns="0" rIns="0" bIns="0" rtlCol="0" anchor="t"/>
          <a:lstStyle/>
          <a:p>
            <a:pPr indent="0" marL="0">
              <a:buNone/>
            </a:pPr>
            <a:r>
              <a:rPr lang="en-US" sz="1600" dirty="0">
                <a:solidFill>
                  <a:srgbClr val="141413"/>
                </a:solidFill>
                <a:latin typeface="Avenir Next" pitchFamily="34" charset="0"/>
                <a:ea typeface="Avenir Next" pitchFamily="34" charset="-122"/>
                <a:cs typeface="Avenir Next" pitchFamily="34" charset="-120"/>
              </a:rPr>
              <a:t>Notebook 04 sends the notebook 01 assistant to Langfuse using only OpenTelemetry, with no Langfuse code at all.</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EEE6"/>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7867F"/>
                </a:solidFill>
                <a:latin typeface="Avenir Next" pitchFamily="34" charset="0"/>
                <a:ea typeface="Avenir Next" pitchFamily="34" charset="-122"/>
                <a:cs typeface="Avenir Next" pitchFamily="34" charset="-120"/>
              </a:rPr>
              <a:t>4  Other tools</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7867F"/>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7867F"/>
                </a:solidFill>
                <a:latin typeface="Avenir Next" pitchFamily="34" charset="0"/>
                <a:ea typeface="Avenir Next" pitchFamily="34" charset="-122"/>
                <a:cs typeface="Avenir Next" pitchFamily="34" charset="-120"/>
              </a:rPr>
              <a:t>30</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141413"/>
                </a:solidFill>
                <a:latin typeface="Charter" pitchFamily="34" charset="0"/>
                <a:ea typeface="Charter" pitchFamily="34" charset="-122"/>
                <a:cs typeface="Charter" pitchFamily="34" charset="-120"/>
              </a:rPr>
              <a:t>Pick the tool that </a:t>
            </a:r>
            <a:pPr indent="0" marL="0">
              <a:buNone/>
            </a:pPr>
            <a:r>
              <a:rPr lang="en-US" sz="2800" i="1" dirty="0">
                <a:solidFill>
                  <a:srgbClr val="D97757"/>
                </a:solidFill>
                <a:latin typeface="Charter" pitchFamily="34" charset="0"/>
                <a:ea typeface="Charter" pitchFamily="34" charset="-122"/>
                <a:cs typeface="Charter" pitchFamily="34" charset="-120"/>
              </a:rPr>
              <a:t>fits your situation</a:t>
            </a:r>
            <a:endParaRPr 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669280"/>
                <a:gridCol w="5239512"/>
              </a:tblGrid>
              <a:tr h="640080">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If...</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c>
                  <a:txBody>
                    <a:bodyPr/>
                    <a:lstStyle/>
                    <a:p>
                      <a:pPr indent="0" marL="0">
                        <a:buNone/>
                      </a:pPr>
                      <a:r>
                        <a:rPr lang="en-US" sz="1300" b="1" dirty="0">
                          <a:solidFill>
                            <a:srgbClr val="F0EEE6"/>
                          </a:solidFill>
                          <a:latin typeface="Avenir Next" pitchFamily="34" charset="0"/>
                          <a:ea typeface="Avenir Next" pitchFamily="34" charset="-122"/>
                          <a:cs typeface="Avenir Next" pitchFamily="34" charset="-120"/>
                        </a:rPr>
                        <a:t>Then try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141413"/>
                    </a:solidFill>
                  </a:tcPr>
                </a:tc>
              </a:tr>
              <a:tr h="64008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You are learning or building a side project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Langfuse, on your laptop like tonight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64008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Your app uses LangChain or LangGraph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LangSmith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64008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Your data must not leave the company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Langfuse or Phoenix, self-hosted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r h="640080">
                <a:tc>
                  <a:txBody>
                    <a:bodyPr/>
                    <a:lstStyle/>
                    <a:p>
                      <a:pPr indent="0" marL="0">
                        <a:buNone/>
                      </a:pPr>
                      <a:r>
                        <a:rPr lang="en-US" sz="1300" dirty="0">
                          <a:solidFill>
                            <a:srgbClr val="141413"/>
                          </a:solidFill>
                          <a:latin typeface="Avenir Next" pitchFamily="34" charset="0"/>
                          <a:ea typeface="Avenir Next" pitchFamily="34" charset="-122"/>
                          <a:cs typeface="Avenir Next" pitchFamily="34" charset="-120"/>
                        </a:rPr>
                        <a:t>Your company already pays for Datadog or Dynatrace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c>
                  <a:txBody>
                    <a:bodyPr/>
                    <a:lstStyle/>
                    <a:p>
                      <a:pPr indent="0" marL="0">
                        <a:buNone/>
                      </a:pPr>
                      <a:r>
                        <a:rPr lang="en-US" sz="1300" dirty="0">
                          <a:solidFill>
                            <a:srgbClr val="3D3D3A"/>
                          </a:solidFill>
                          <a:latin typeface="Avenir Next" pitchFamily="34" charset="0"/>
                          <a:ea typeface="Avenir Next" pitchFamily="34" charset="-122"/>
                          <a:cs typeface="Avenir Next" pitchFamily="34" charset="-120"/>
                        </a:rPr>
                        <a:t>Their AI features, fed by OpenTelemetry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9D5C8"/>
                      </a:solidFill>
                      <a:prstDash val="solid"/>
                      <a:round/>
                      <a:headEnd type="none" w="med" len="med"/>
                      <a:tailEnd type="none" w="med" len="med"/>
                    </a:lnL>
                    <a:lnR w="9525" cap="flat" cmpd="sng" algn="ctr">
                      <a:solidFill>
                        <a:srgbClr val="D9D5C8"/>
                      </a:solidFill>
                      <a:prstDash val="solid"/>
                      <a:round/>
                      <a:headEnd type="none" w="med" len="med"/>
                      <a:tailEnd type="none" w="med" len="med"/>
                    </a:lnR>
                    <a:lnT w="9525" cap="flat" cmpd="sng" algn="ctr">
                      <a:solidFill>
                        <a:srgbClr val="D9D5C8"/>
                      </a:solidFill>
                      <a:prstDash val="solid"/>
                      <a:round/>
                      <a:headEnd type="none" w="med" len="med"/>
                      <a:tailEnd type="none" w="med" len="med"/>
                    </a:lnT>
                    <a:lnB w="9525" cap="flat" cmpd="sng" algn="ctr">
                      <a:solidFill>
                        <a:srgbClr val="D9D5C8"/>
                      </a:solidFill>
                      <a:prstDash val="solid"/>
                      <a:round/>
                      <a:headEnd type="none" w="med" len="med"/>
                      <a:tailEnd type="none" w="med" len="med"/>
                    </a:lnB>
                    <a:solidFill>
                      <a:srgbClr val="FAF9F5"/>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8F8D86"/>
                </a:solidFill>
                <a:latin typeface="Avenir Next" pitchFamily="34" charset="0"/>
                <a:ea typeface="Avenir Next" pitchFamily="34" charset="-122"/>
                <a:cs typeface="Avenir Next" pitchFamily="34" charset="-120"/>
              </a:rPr>
              <a:t>Recap</a:t>
            </a:r>
            <a:endParaRPr lang="en-US" sz="1100" dirty="0"/>
          </a:p>
        </p:txBody>
      </p:sp>
      <p:sp>
        <p:nvSpPr>
          <p:cNvPr id="4" name="Text 2"/>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F8D86"/>
                </a:solidFill>
                <a:latin typeface="Avenir Next" pitchFamily="34" charset="0"/>
                <a:ea typeface="Avenir Next" pitchFamily="34" charset="-122"/>
                <a:cs typeface="Avenir Next" pitchFamily="34" charset="-120"/>
              </a:rPr>
              <a:t>AI Observability: Foundations</a:t>
            </a:r>
            <a:endParaRPr lang="en-US" sz="900" dirty="0"/>
          </a:p>
        </p:txBody>
      </p:sp>
      <p:sp>
        <p:nvSpPr>
          <p:cNvPr id="5" name="Text 3"/>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F8D86"/>
                </a:solidFill>
                <a:latin typeface="Avenir Next" pitchFamily="34" charset="0"/>
                <a:ea typeface="Avenir Next" pitchFamily="34" charset="-122"/>
                <a:cs typeface="Avenir Next" pitchFamily="34" charset="-120"/>
              </a:rPr>
              <a:t>31</a:t>
            </a:r>
            <a:endParaRPr lang="en-US" sz="900" dirty="0"/>
          </a:p>
        </p:txBody>
      </p:sp>
      <p:sp>
        <p:nvSpPr>
          <p:cNvPr id="6" name="Text 4"/>
          <p:cNvSpPr/>
          <p:nvPr/>
        </p:nvSpPr>
        <p:spPr>
          <a:xfrm>
            <a:off x="640080" y="658368"/>
            <a:ext cx="10911535" cy="731520"/>
          </a:xfrm>
          <a:prstGeom prst="rect">
            <a:avLst/>
          </a:prstGeom>
          <a:noFill/>
          <a:ln/>
        </p:spPr>
        <p:txBody>
          <a:bodyPr wrap="square" lIns="0" tIns="0" rIns="0" bIns="0" rtlCol="0" anchor="t"/>
          <a:lstStyle/>
          <a:p>
            <a:pPr indent="0" marL="0">
              <a:buNone/>
            </a:pPr>
            <a:r>
              <a:rPr lang="en-US" sz="2800" dirty="0">
                <a:solidFill>
                  <a:srgbClr val="F0EEE6"/>
                </a:solidFill>
                <a:latin typeface="Charter" pitchFamily="34" charset="0"/>
                <a:ea typeface="Charter" pitchFamily="34" charset="-122"/>
                <a:cs typeface="Charter" pitchFamily="34" charset="-120"/>
              </a:rPr>
              <a:t>Four things to </a:t>
            </a:r>
            <a:pPr indent="0" marL="0">
              <a:buNone/>
            </a:pPr>
            <a:r>
              <a:rPr lang="en-US" sz="2800" i="1" dirty="0">
                <a:solidFill>
                  <a:srgbClr val="D97757"/>
                </a:solidFill>
                <a:latin typeface="Charter" pitchFamily="34" charset="0"/>
                <a:ea typeface="Charter" pitchFamily="34" charset="-122"/>
                <a:cs typeface="Charter" pitchFamily="34" charset="-120"/>
              </a:rPr>
              <a:t>remember</a:t>
            </a:r>
            <a:endParaRPr lang="en-US" sz="2800" dirty="0"/>
          </a:p>
        </p:txBody>
      </p:sp>
      <p:sp>
        <p:nvSpPr>
          <p:cNvPr id="7" name="Text 5"/>
          <p:cNvSpPr/>
          <p:nvPr/>
        </p:nvSpPr>
        <p:spPr>
          <a:xfrm>
            <a:off x="640080" y="1828800"/>
            <a:ext cx="548640" cy="548640"/>
          </a:xfrm>
          <a:prstGeom prst="rect">
            <a:avLst/>
          </a:prstGeom>
          <a:noFill/>
          <a:ln/>
        </p:spPr>
        <p:txBody>
          <a:bodyPr wrap="square" lIns="0" tIns="0" rIns="0" bIns="0" rtlCol="0" anchor="t"/>
          <a:lstStyle/>
          <a:p>
            <a:pPr indent="0" marL="0">
              <a:buNone/>
            </a:pPr>
            <a:r>
              <a:rPr lang="en-US" sz="3000" dirty="0">
                <a:solidFill>
                  <a:srgbClr val="D97757"/>
                </a:solidFill>
                <a:latin typeface="Charter" pitchFamily="34" charset="0"/>
                <a:ea typeface="Charter" pitchFamily="34" charset="-122"/>
                <a:cs typeface="Charter" pitchFamily="34" charset="-120"/>
              </a:rPr>
              <a:t>1</a:t>
            </a:r>
            <a:endParaRPr lang="en-US" sz="3000" dirty="0"/>
          </a:p>
        </p:txBody>
      </p:sp>
      <p:sp>
        <p:nvSpPr>
          <p:cNvPr id="8" name="Text 6"/>
          <p:cNvSpPr/>
          <p:nvPr/>
        </p:nvSpPr>
        <p:spPr>
          <a:xfrm>
            <a:off x="1280160" y="1874520"/>
            <a:ext cx="10241280" cy="548640"/>
          </a:xfrm>
          <a:prstGeom prst="rect">
            <a:avLst/>
          </a:prstGeom>
          <a:noFill/>
          <a:ln/>
        </p:spPr>
        <p:txBody>
          <a:bodyPr wrap="square" lIns="0" tIns="0" rIns="0" bIns="0" rtlCol="0" anchor="t"/>
          <a:lstStyle/>
          <a:p>
            <a:pPr indent="0" marL="0">
              <a:buNone/>
            </a:pPr>
            <a:r>
              <a:rPr lang="en-US" sz="1900" b="1" dirty="0">
                <a:solidFill>
                  <a:srgbClr val="F0EEE6"/>
                </a:solidFill>
                <a:latin typeface="Avenir Next" pitchFamily="34" charset="0"/>
                <a:ea typeface="Avenir Next" pitchFamily="34" charset="-122"/>
                <a:cs typeface="Avenir Next" pitchFamily="34" charset="-120"/>
              </a:rPr>
              <a:t>Observability </a:t>
            </a:r>
            <a:pPr indent="0" marL="0">
              <a:buNone/>
            </a:pPr>
            <a:r>
              <a:rPr lang="en-US" sz="1900" dirty="0">
                <a:solidFill>
                  <a:srgbClr val="C9C6BC"/>
                </a:solidFill>
                <a:latin typeface="Avenir Next" pitchFamily="34" charset="0"/>
                <a:ea typeface="Avenir Next" pitchFamily="34" charset="-122"/>
                <a:cs typeface="Avenir Next" pitchFamily="34" charset="-120"/>
              </a:rPr>
              <a:t>means your app leaves enough behind to explain what happened.</a:t>
            </a:r>
            <a:endParaRPr lang="en-US" sz="1900" dirty="0"/>
          </a:p>
        </p:txBody>
      </p:sp>
      <p:sp>
        <p:nvSpPr>
          <p:cNvPr id="9" name="Text 7"/>
          <p:cNvSpPr/>
          <p:nvPr/>
        </p:nvSpPr>
        <p:spPr>
          <a:xfrm>
            <a:off x="640080" y="2743200"/>
            <a:ext cx="548640" cy="548640"/>
          </a:xfrm>
          <a:prstGeom prst="rect">
            <a:avLst/>
          </a:prstGeom>
          <a:noFill/>
          <a:ln/>
        </p:spPr>
        <p:txBody>
          <a:bodyPr wrap="square" lIns="0" tIns="0" rIns="0" bIns="0" rtlCol="0" anchor="t"/>
          <a:lstStyle/>
          <a:p>
            <a:pPr indent="0" marL="0">
              <a:buNone/>
            </a:pPr>
            <a:r>
              <a:rPr lang="en-US" sz="3000" dirty="0">
                <a:solidFill>
                  <a:srgbClr val="D97757"/>
                </a:solidFill>
                <a:latin typeface="Charter" pitchFamily="34" charset="0"/>
                <a:ea typeface="Charter" pitchFamily="34" charset="-122"/>
                <a:cs typeface="Charter" pitchFamily="34" charset="-120"/>
              </a:rPr>
              <a:t>2</a:t>
            </a:r>
            <a:endParaRPr lang="en-US" sz="3000" dirty="0"/>
          </a:p>
        </p:txBody>
      </p:sp>
      <p:sp>
        <p:nvSpPr>
          <p:cNvPr id="10" name="Text 8"/>
          <p:cNvSpPr/>
          <p:nvPr/>
        </p:nvSpPr>
        <p:spPr>
          <a:xfrm>
            <a:off x="1280160" y="2788920"/>
            <a:ext cx="10241280" cy="548640"/>
          </a:xfrm>
          <a:prstGeom prst="rect">
            <a:avLst/>
          </a:prstGeom>
          <a:noFill/>
          <a:ln/>
        </p:spPr>
        <p:txBody>
          <a:bodyPr wrap="square" lIns="0" tIns="0" rIns="0" bIns="0" rtlCol="0" anchor="t"/>
          <a:lstStyle/>
          <a:p>
            <a:pPr indent="0" marL="0">
              <a:buNone/>
            </a:pPr>
            <a:r>
              <a:rPr lang="en-US" sz="1900" b="1" dirty="0">
                <a:solidFill>
                  <a:srgbClr val="F0EEE6"/>
                </a:solidFill>
                <a:latin typeface="Avenir Next" pitchFamily="34" charset="0"/>
                <a:ea typeface="Avenir Next" pitchFamily="34" charset="-122"/>
                <a:cs typeface="Avenir Next" pitchFamily="34" charset="-120"/>
              </a:rPr>
              <a:t>Logs, metrics, traces, spans: </a:t>
            </a:r>
            <a:pPr indent="0" marL="0">
              <a:buNone/>
            </a:pPr>
            <a:r>
              <a:rPr lang="en-US" sz="1900" dirty="0">
                <a:solidFill>
                  <a:srgbClr val="C9C6BC"/>
                </a:solidFill>
                <a:latin typeface="Avenir Next" pitchFamily="34" charset="0"/>
                <a:ea typeface="Avenir Next" pitchFamily="34" charset="-122"/>
                <a:cs typeface="Avenir Next" pitchFamily="34" charset="-120"/>
              </a:rPr>
              <a:t>messages, numbers, the story of one request, and its steps.</a:t>
            </a:r>
            <a:endParaRPr lang="en-US" sz="1900" dirty="0"/>
          </a:p>
        </p:txBody>
      </p:sp>
      <p:sp>
        <p:nvSpPr>
          <p:cNvPr id="11" name="Text 9"/>
          <p:cNvSpPr/>
          <p:nvPr/>
        </p:nvSpPr>
        <p:spPr>
          <a:xfrm>
            <a:off x="640080" y="3657600"/>
            <a:ext cx="548640" cy="548640"/>
          </a:xfrm>
          <a:prstGeom prst="rect">
            <a:avLst/>
          </a:prstGeom>
          <a:noFill/>
          <a:ln/>
        </p:spPr>
        <p:txBody>
          <a:bodyPr wrap="square" lIns="0" tIns="0" rIns="0" bIns="0" rtlCol="0" anchor="t"/>
          <a:lstStyle/>
          <a:p>
            <a:pPr indent="0" marL="0">
              <a:buNone/>
            </a:pPr>
            <a:r>
              <a:rPr lang="en-US" sz="3000" dirty="0">
                <a:solidFill>
                  <a:srgbClr val="D97757"/>
                </a:solidFill>
                <a:latin typeface="Charter" pitchFamily="34" charset="0"/>
                <a:ea typeface="Charter" pitchFamily="34" charset="-122"/>
                <a:cs typeface="Charter" pitchFamily="34" charset="-120"/>
              </a:rPr>
              <a:t>3</a:t>
            </a:r>
            <a:endParaRPr lang="en-US" sz="3000" dirty="0"/>
          </a:p>
        </p:txBody>
      </p:sp>
      <p:sp>
        <p:nvSpPr>
          <p:cNvPr id="12" name="Text 10"/>
          <p:cNvSpPr/>
          <p:nvPr/>
        </p:nvSpPr>
        <p:spPr>
          <a:xfrm>
            <a:off x="1280160" y="3703320"/>
            <a:ext cx="10241280" cy="548640"/>
          </a:xfrm>
          <a:prstGeom prst="rect">
            <a:avLst/>
          </a:prstGeom>
          <a:noFill/>
          <a:ln/>
        </p:spPr>
        <p:txBody>
          <a:bodyPr wrap="square" lIns="0" tIns="0" rIns="0" bIns="0" rtlCol="0" anchor="t"/>
          <a:lstStyle/>
          <a:p>
            <a:pPr indent="0" marL="0">
              <a:buNone/>
            </a:pPr>
            <a:r>
              <a:rPr lang="en-US" sz="1900" b="1" dirty="0">
                <a:solidFill>
                  <a:srgbClr val="F0EEE6"/>
                </a:solidFill>
                <a:latin typeface="Avenir Next" pitchFamily="34" charset="0"/>
                <a:ea typeface="Avenir Next" pitchFamily="34" charset="-122"/>
                <a:cs typeface="Avenir Next" pitchFamily="34" charset="-120"/>
              </a:rPr>
              <a:t>Langfuse and LangSmith </a:t>
            </a:r>
            <a:pPr indent="0" marL="0">
              <a:buNone/>
            </a:pPr>
            <a:r>
              <a:rPr lang="en-US" sz="1900" dirty="0">
                <a:solidFill>
                  <a:srgbClr val="C9C6BC"/>
                </a:solidFill>
                <a:latin typeface="Avenir Next" pitchFamily="34" charset="0"/>
                <a:ea typeface="Avenir Next" pitchFamily="34" charset="-122"/>
                <a:cs typeface="Avenir Next" pitchFamily="34" charset="-120"/>
              </a:rPr>
              <a:t>add tracing with two small changes and record AI details for you.</a:t>
            </a:r>
            <a:endParaRPr lang="en-US" sz="1900" dirty="0"/>
          </a:p>
        </p:txBody>
      </p:sp>
      <p:sp>
        <p:nvSpPr>
          <p:cNvPr id="13" name="Text 11"/>
          <p:cNvSpPr/>
          <p:nvPr/>
        </p:nvSpPr>
        <p:spPr>
          <a:xfrm>
            <a:off x="640080" y="4572000"/>
            <a:ext cx="548640" cy="548640"/>
          </a:xfrm>
          <a:prstGeom prst="rect">
            <a:avLst/>
          </a:prstGeom>
          <a:noFill/>
          <a:ln/>
        </p:spPr>
        <p:txBody>
          <a:bodyPr wrap="square" lIns="0" tIns="0" rIns="0" bIns="0" rtlCol="0" anchor="t"/>
          <a:lstStyle/>
          <a:p>
            <a:pPr indent="0" marL="0">
              <a:buNone/>
            </a:pPr>
            <a:r>
              <a:rPr lang="en-US" sz="3000" dirty="0">
                <a:solidFill>
                  <a:srgbClr val="D97757"/>
                </a:solidFill>
                <a:latin typeface="Charter" pitchFamily="34" charset="0"/>
                <a:ea typeface="Charter" pitchFamily="34" charset="-122"/>
                <a:cs typeface="Charter" pitchFamily="34" charset="-120"/>
              </a:rPr>
              <a:t>4</a:t>
            </a:r>
            <a:endParaRPr lang="en-US" sz="3000" dirty="0"/>
          </a:p>
        </p:txBody>
      </p:sp>
      <p:sp>
        <p:nvSpPr>
          <p:cNvPr id="14" name="Text 12"/>
          <p:cNvSpPr/>
          <p:nvPr/>
        </p:nvSpPr>
        <p:spPr>
          <a:xfrm>
            <a:off x="1280160" y="4617720"/>
            <a:ext cx="10241280" cy="548640"/>
          </a:xfrm>
          <a:prstGeom prst="rect">
            <a:avLst/>
          </a:prstGeom>
          <a:noFill/>
          <a:ln/>
        </p:spPr>
        <p:txBody>
          <a:bodyPr wrap="square" lIns="0" tIns="0" rIns="0" bIns="0" rtlCol="0" anchor="t"/>
          <a:lstStyle/>
          <a:p>
            <a:pPr indent="0" marL="0">
              <a:buNone/>
            </a:pPr>
            <a:r>
              <a:rPr lang="en-US" sz="1900" b="1" dirty="0">
                <a:solidFill>
                  <a:srgbClr val="F0EEE6"/>
                </a:solidFill>
                <a:latin typeface="Avenir Next" pitchFamily="34" charset="0"/>
                <a:ea typeface="Avenir Next" pitchFamily="34" charset="-122"/>
                <a:cs typeface="Avenir Next" pitchFamily="34" charset="-120"/>
              </a:rPr>
              <a:t>OpenTelemetry </a:t>
            </a:r>
            <a:pPr indent="0" marL="0">
              <a:buNone/>
            </a:pPr>
            <a:r>
              <a:rPr lang="en-US" sz="1900" dirty="0">
                <a:solidFill>
                  <a:srgbClr val="C9C6BC"/>
                </a:solidFill>
                <a:latin typeface="Avenir Next" pitchFamily="34" charset="0"/>
                <a:ea typeface="Avenir Next" pitchFamily="34" charset="-122"/>
                <a:cs typeface="Avenir Next" pitchFamily="34" charset="-120"/>
              </a:rPr>
              <a:t>is the common language, so you can switch tools without rewriting code.</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97757"/>
          </a:solidFill>
          <a:ln w="12700">
            <a:solidFill>
              <a:srgbClr val="D97757"/>
            </a:solidFill>
            <a:prstDash val="solid"/>
          </a:ln>
        </p:spPr>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8F8D86"/>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8F8D86"/>
                </a:solidFill>
                <a:latin typeface="Avenir Next" pitchFamily="34" charset="0"/>
                <a:ea typeface="Avenir Next" pitchFamily="34" charset="-122"/>
                <a:cs typeface="Avenir Next" pitchFamily="34" charset="-120"/>
              </a:rPr>
              <a:t>32</a:t>
            </a:r>
            <a:endParaRPr lang="en-US" sz="900" dirty="0"/>
          </a:p>
        </p:txBody>
      </p:sp>
      <p:sp>
        <p:nvSpPr>
          <p:cNvPr id="5" name="Text 3"/>
          <p:cNvSpPr/>
          <p:nvPr/>
        </p:nvSpPr>
        <p:spPr>
          <a:xfrm>
            <a:off x="640080" y="1371600"/>
            <a:ext cx="7315200" cy="1097280"/>
          </a:xfrm>
          <a:prstGeom prst="rect">
            <a:avLst/>
          </a:prstGeom>
          <a:noFill/>
          <a:ln/>
        </p:spPr>
        <p:txBody>
          <a:bodyPr wrap="square" lIns="0" tIns="0" rIns="0" bIns="0" rtlCol="0" anchor="ctr"/>
          <a:lstStyle/>
          <a:p>
            <a:pPr indent="0" marL="0">
              <a:buNone/>
            </a:pPr>
            <a:r>
              <a:rPr lang="en-US" sz="6400" dirty="0">
                <a:solidFill>
                  <a:srgbClr val="F0EEE6"/>
                </a:solidFill>
                <a:latin typeface="Charter" pitchFamily="34" charset="0"/>
                <a:ea typeface="Charter" pitchFamily="34" charset="-122"/>
                <a:cs typeface="Charter" pitchFamily="34" charset="-120"/>
              </a:rPr>
              <a:t>Questions</a:t>
            </a:r>
            <a:pPr indent="0" marL="0">
              <a:buNone/>
            </a:pPr>
            <a:r>
              <a:rPr lang="en-US" sz="6400" dirty="0">
                <a:solidFill>
                  <a:srgbClr val="D97757"/>
                </a:solidFill>
                <a:latin typeface="Charter" pitchFamily="34" charset="0"/>
                <a:ea typeface="Charter" pitchFamily="34" charset="-122"/>
                <a:cs typeface="Charter" pitchFamily="34" charset="-120"/>
              </a:rPr>
              <a:t>?</a:t>
            </a:r>
            <a:endParaRPr lang="en-US" sz="6400" dirty="0"/>
          </a:p>
        </p:txBody>
      </p:sp>
      <p:sp>
        <p:nvSpPr>
          <p:cNvPr id="6" name="Text 4"/>
          <p:cNvSpPr/>
          <p:nvPr/>
        </p:nvSpPr>
        <p:spPr>
          <a:xfrm>
            <a:off x="640080" y="2834640"/>
            <a:ext cx="5486400" cy="320040"/>
          </a:xfrm>
          <a:prstGeom prst="rect">
            <a:avLst/>
          </a:prstGeom>
          <a:noFill/>
          <a:ln/>
        </p:spPr>
        <p:txBody>
          <a:bodyPr wrap="square" lIns="0" tIns="0" rIns="0" bIns="0" rtlCol="0" anchor="t"/>
          <a:lstStyle/>
          <a:p>
            <a:pPr indent="0" marL="0">
              <a:buNone/>
            </a:pPr>
            <a:r>
              <a:rPr lang="en-US" sz="1600" b="1" dirty="0">
                <a:solidFill>
                  <a:srgbClr val="F0EEE6"/>
                </a:solidFill>
                <a:latin typeface="Avenir Next" pitchFamily="34" charset="0"/>
                <a:ea typeface="Avenir Next" pitchFamily="34" charset="-122"/>
                <a:cs typeface="Avenir Next" pitchFamily="34" charset="-120"/>
              </a:rPr>
              <a:t>Try it yourself</a:t>
            </a:r>
            <a:endParaRPr lang="en-US" sz="1600" dirty="0"/>
          </a:p>
        </p:txBody>
      </p:sp>
      <p:sp>
        <p:nvSpPr>
          <p:cNvPr id="7" name="Text 5"/>
          <p:cNvSpPr/>
          <p:nvPr/>
        </p:nvSpPr>
        <p:spPr>
          <a:xfrm>
            <a:off x="640080" y="3200400"/>
            <a:ext cx="7315200" cy="365760"/>
          </a:xfrm>
          <a:prstGeom prst="rect">
            <a:avLst/>
          </a:prstGeom>
          <a:noFill/>
          <a:ln/>
        </p:spPr>
        <p:txBody>
          <a:bodyPr wrap="square" lIns="0" tIns="0" rIns="0" bIns="0" rtlCol="0" anchor="t"/>
          <a:lstStyle/>
          <a:p>
            <a:pPr indent="0" marL="0">
              <a:buNone/>
            </a:pPr>
            <a:r>
              <a:rPr lang="en-US" sz="1500" dirty="0">
                <a:solidFill>
                  <a:srgbClr val="D97757"/>
                </a:solidFill>
                <a:latin typeface="Menlo" pitchFamily="34" charset="0"/>
                <a:ea typeface="Menlo" pitchFamily="34" charset="-122"/>
                <a:cs typeface="Menlo" pitchFamily="34" charset="-120"/>
              </a:rPr>
              <a:t>github.com/fnusatvik07/ai-observability-lab</a:t>
            </a:r>
            <a:endParaRPr lang="en-US" sz="1500" dirty="0"/>
          </a:p>
        </p:txBody>
      </p:sp>
      <p:sp>
        <p:nvSpPr>
          <p:cNvPr id="8" name="Text 6"/>
          <p:cNvSpPr/>
          <p:nvPr/>
        </p:nvSpPr>
        <p:spPr>
          <a:xfrm>
            <a:off x="640080" y="3611880"/>
            <a:ext cx="7315200" cy="365760"/>
          </a:xfrm>
          <a:prstGeom prst="rect">
            <a:avLst/>
          </a:prstGeom>
          <a:noFill/>
          <a:ln/>
        </p:spPr>
        <p:txBody>
          <a:bodyPr wrap="square" lIns="0" tIns="0" rIns="0" bIns="0" rtlCol="0" anchor="t"/>
          <a:lstStyle/>
          <a:p>
            <a:pPr indent="0" marL="0">
              <a:buNone/>
            </a:pPr>
            <a:r>
              <a:rPr lang="en-US" sz="1300" dirty="0">
                <a:solidFill>
                  <a:srgbClr val="8F8D86"/>
                </a:solidFill>
                <a:latin typeface="Menlo" pitchFamily="34" charset="0"/>
                <a:ea typeface="Menlo" pitchFamily="34" charset="-122"/>
                <a:cs typeface="Menlo" pitchFamily="34" charset="-120"/>
              </a:rPr>
              <a:t>make setup  ·  make up  ·  make lab</a:t>
            </a:r>
            <a:endParaRPr lang="en-US" sz="1300" dirty="0"/>
          </a:p>
        </p:txBody>
      </p:sp>
      <p:sp>
        <p:nvSpPr>
          <p:cNvPr id="9" name="Text 7"/>
          <p:cNvSpPr/>
          <p:nvPr/>
        </p:nvSpPr>
        <p:spPr>
          <a:xfrm>
            <a:off x="640080" y="4389120"/>
            <a:ext cx="5486400" cy="320040"/>
          </a:xfrm>
          <a:prstGeom prst="rect">
            <a:avLst/>
          </a:prstGeom>
          <a:noFill/>
          <a:ln/>
        </p:spPr>
        <p:txBody>
          <a:bodyPr wrap="square" lIns="0" tIns="0" rIns="0" bIns="0" rtlCol="0" anchor="t"/>
          <a:lstStyle/>
          <a:p>
            <a:pPr indent="0" marL="0">
              <a:buNone/>
            </a:pPr>
            <a:r>
              <a:rPr lang="en-US" sz="1600" b="1" dirty="0">
                <a:solidFill>
                  <a:srgbClr val="F0EEE6"/>
                </a:solidFill>
                <a:latin typeface="Avenir Next" pitchFamily="34" charset="0"/>
                <a:ea typeface="Avenir Next" pitchFamily="34" charset="-122"/>
                <a:cs typeface="Avenir Next" pitchFamily="34" charset="-120"/>
              </a:rPr>
              <a:t>Next session</a:t>
            </a:r>
            <a:endParaRPr lang="en-US" sz="1600" dirty="0"/>
          </a:p>
        </p:txBody>
      </p:sp>
      <p:sp>
        <p:nvSpPr>
          <p:cNvPr id="10" name="Text 8"/>
          <p:cNvSpPr/>
          <p:nvPr/>
        </p:nvSpPr>
        <p:spPr>
          <a:xfrm>
            <a:off x="640080" y="4754880"/>
            <a:ext cx="10058400" cy="365760"/>
          </a:xfrm>
          <a:prstGeom prst="rect">
            <a:avLst/>
          </a:prstGeom>
          <a:noFill/>
          <a:ln/>
        </p:spPr>
        <p:txBody>
          <a:bodyPr wrap="square" lIns="0" tIns="0" rIns="0" bIns="0" rtlCol="0" anchor="t"/>
          <a:lstStyle/>
          <a:p>
            <a:pPr indent="0" marL="0">
              <a:buNone/>
            </a:pPr>
            <a:r>
              <a:rPr lang="en-US" sz="1500" dirty="0">
                <a:solidFill>
                  <a:srgbClr val="C9C6BC"/>
                </a:solidFill>
                <a:latin typeface="Avenir Next" pitchFamily="34" charset="0"/>
                <a:ea typeface="Avenir Next" pitchFamily="34" charset="-122"/>
                <a:cs typeface="Avenir Next" pitchFamily="34" charset="-120"/>
              </a:rPr>
              <a:t>Grading answers automatically, managing prompt versions, alerts and dashboards.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Observability: Foundations</dc:title>
  <dc:subject>PptxGenJS Presentation</dc:subject>
  <dc:creator>Data Sense</dc:creator>
  <cp:lastModifiedBy>Data Sense</cp:lastModifiedBy>
  <cp:revision>1</cp:revision>
  <dcterms:created xsi:type="dcterms:W3CDTF">2026-10-21T01:22:12Z</dcterms:created>
  <dcterms:modified xsi:type="dcterms:W3CDTF">2026-10-21T01:22:12Z</dcterms:modified>
</cp:coreProperties>
</file>