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Building an AI agent is easy now. Knowing why it did what it did is the hard part. Tonight we fix that: by the end you will be able to open a trace of an agent, point at the step that failed, and say what it cost and how long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would you debug this today? Most people say print statements or check the logs. Hold on to that answer. The dashboard is green because nothing crashed. AI systems fail by being confidently wrong, and that is invisible to classic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Theory moves quickly so the hands-on part gets a full fifteen minutes. One running example throughout: a weather assistant that calls a document search, a weather API and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explainer video (click to play in slideshow mode). It front-loads every term, so the rest of the session builds on shared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why AI systems need a different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checks for failures you predicted. Observability lets you investigate failures you did not predict. A system is observable when you can understand its internal state from its outputs. For AI, most failures are ones nobody predicted.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line is the second one. An AI app can fail silently: your uptime dashboard is green while users get hallucinations. And the third line: a bug in a normal app makes it slow; a bug in an agent makes it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final answer is wrong, the bug can be in any step: bad retrieval, a tool that timed out and returned stale data, a prompt that lost context. You need to see every step, with its input and output, to know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questions are the job description of an AI observability tool. Keep them in mind when we look at Langfuse and LangSmith: every feature maps 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the building blocks. We use one function for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Logs answer what happened. Metrics answer how much and how often. Traces answer where and why. A span is one step inside a trace. Let us make each of these concrete with one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search documents, call a weather API that is deliberately flaky, and ask gpt-4o-mini to answer. Every chart in the next slides comes from running this agent for real, in notebook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one request, logs read beautifully. With three concurrent users the lines interleave and you cannot tell which belongs to which request. The fix, which we will see in a moment, is to stamp every log line with a trace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from notebook 01: sixteen requests. Metrics tell us that p95 is more than double p50, and that a quarter of requests failed. They cannot tell us why a particular request was slow. Was it the weather API or the model? For that we need the shape of each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picture: the weather tool took 1.4 seconds, the LLM call took about a second and cost a fraction of a cent, and a second LLM graded the answer. This is the power of a trace: the question metrics could not answer now has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tool you will use stores something shaped like this. Names differ: LangSmith calls it a run, Langfuse an observation, Datadog a span. The shape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OpenTelemetry, the open standard underneath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OpenTelemetry, every vendor had its own agent and format, and switching vendors meant re-instrumenting. OTel makes telemetry portable. Four pieces: the API and SDK create data, OTLP ships it, the Collector processes it, and semantic conventions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Spans are created in memory, handed to a processor that batches them, and sent in the background by an exporter, so your request is never blocked. The Collector is optional but powerful: it can strip PII and send the same data to two backends. Switching backends is two environment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all it takes. start_as_current_span sets the parent automatically, which is how nesting works across function calls. One gotcha we will see live: spans are batched, so a short script must flush before it exits or the spans are silently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what to actually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from notebook 05: forty-eight requests across two models. Averages hide pain. Look at the CDF: the slow tail comes from the weather tool retrying. The bar below shows where time goes on average: the LLM call, then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from notebook 05. The friendly prompt writes almost three times more output tokens, and output tokens are priced higher than input tokens. A one-line prompt change roughly doubled the monthly bill. That is why prompt version belongs on every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Tags like prompt version are how you answer: did yesterday's change make things worse? Sessions and users turn a pile of traces into customer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the live demo. Switch to JupyterLab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tonight lives in this repo. Three commands: setup installs Python dependencies, up starts Langfuse and an OpenTelemetry Collector in Docker, lab opens JupyterLab. The notebooks are saved with outputs, so people can read them on GitHub before running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notebook 00. Six containers: web for the UI and ingestion API, a worker that processes events and computes cost, Redis as the queue, MinIO for raw events, ClickHouse for analytics and Postgres for users and keys. This split is the same pattern most observability backends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notebook 02. Same function as notebook 01, two changes: the import and the decorator. Run it, then open localhost:3000, click Tracing, and click the newest weather_assistant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trace in the Langfuse UI: the outer span, the weather step, and the generation with prompt, reply, tokens and cost. Point out that we never wrote code for the generation row; the import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notebook 03. @traceable and wrap_openai mirror @observe and the Langfuse OpenAI import. LangSmith adds monitoring dashboards, datasets and experiments, annotation queues and a prompt hub. The table is the slide to remember: different names, same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remember. If spans are created with OpenTelemetry, choosing a tool is only choosing where to send them. Run notebook 04: it sends the notebook 01 function to Langfuse without any Langfuse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the tool landscape and how to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LLM-native tools are built around prompts, agents and evaluations. APM vendors put AI traces next to your databases and Kubernetes metrics. Increasingly, all of them accept OpenTelemetry.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company already pays for one of these, start there, fed by OpenTelemetry. Your AI traces sit next to your database and Kubernetes metrics. Notebook 06 has ready-to-enable Collector config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tools section with this. The honest answer to which tool is best: the one your team actually opens every day. OpenTelemetry keeps that choice reversible.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five ideas. If people remember one slide, it should be: instrument once with OpenTelemetry, and the backend is a configuration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Point people to the repo: the notebooks run on their laptops with three make commands. Next session builds on this: evaluations, prompt management, alerting and production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slideLayout" Target="../slideLayouts/slideLayout1.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371600"/>
            <a:ext cx="7315200" cy="320040"/>
          </a:xfrm>
          <a:prstGeom prst="rect">
            <a:avLst/>
          </a:prstGeom>
          <a:noFill/>
          <a:ln/>
        </p:spPr>
        <p:txBody>
          <a:bodyPr wrap="square" lIns="0" tIns="0" rIns="0" bIns="0" rtlCol="0" anchor="ctr"/>
          <a:lstStyle/>
          <a:p>
            <a:pPr indent="0" marL="0">
              <a:buNone/>
            </a:pPr>
            <a:r>
              <a:rPr lang="en-US" sz="1300" b="1" spc="500" kern="0" dirty="0">
                <a:solidFill>
                  <a:srgbClr val="2DD4BF"/>
                </a:solidFill>
                <a:latin typeface="Calibri" pitchFamily="34" charset="0"/>
                <a:ea typeface="Calibri" pitchFamily="34" charset="-122"/>
                <a:cs typeface="Calibri" pitchFamily="34" charset="-120"/>
              </a:rPr>
              <a:t>DATA SENSE  ·  AI DISCUSSIONS</a:t>
            </a:r>
            <a:endParaRPr lang="en-US" sz="1300" dirty="0"/>
          </a:p>
        </p:txBody>
      </p:sp>
      <p:sp>
        <p:nvSpPr>
          <p:cNvPr id="3" name="Text 1"/>
          <p:cNvSpPr/>
          <p:nvPr/>
        </p:nvSpPr>
        <p:spPr>
          <a:xfrm>
            <a:off x="548640" y="1828800"/>
            <a:ext cx="7772400" cy="1188720"/>
          </a:xfrm>
          <a:prstGeom prst="rect">
            <a:avLst/>
          </a:prstGeom>
          <a:noFill/>
          <a:ln/>
        </p:spPr>
        <p:txBody>
          <a:bodyPr wrap="square" lIns="0" tIns="0" rIns="0" bIns="0" rtlCol="0" anchor="ctr"/>
          <a:lstStyle/>
          <a:p>
            <a:pPr indent="0" marL="0">
              <a:buNone/>
            </a:pPr>
            <a:r>
              <a:rPr lang="en-US" sz="6600" b="1" dirty="0">
                <a:solidFill>
                  <a:srgbClr val="F8FAFC"/>
                </a:solidFill>
                <a:latin typeface="Georgia" pitchFamily="34" charset="0"/>
                <a:ea typeface="Georgia" pitchFamily="34" charset="-122"/>
                <a:cs typeface="Georgia" pitchFamily="34" charset="-120"/>
              </a:rPr>
              <a:t>AI Observability</a:t>
            </a:r>
            <a:endParaRPr lang="en-US" sz="6600" dirty="0"/>
          </a:p>
        </p:txBody>
      </p:sp>
      <p:sp>
        <p:nvSpPr>
          <p:cNvPr id="4" name="Text 2"/>
          <p:cNvSpPr/>
          <p:nvPr/>
        </p:nvSpPr>
        <p:spPr>
          <a:xfrm>
            <a:off x="548640" y="2971800"/>
            <a:ext cx="7772400" cy="822960"/>
          </a:xfrm>
          <a:prstGeom prst="rect">
            <a:avLst/>
          </a:prstGeom>
          <a:noFill/>
          <a:ln/>
        </p:spPr>
        <p:txBody>
          <a:bodyPr wrap="square" lIns="0" tIns="0" rIns="0" bIns="0" rtlCol="0" anchor="ctr"/>
          <a:lstStyle/>
          <a:p>
            <a:pPr indent="0" marL="0">
              <a:buNone/>
            </a:pPr>
            <a:r>
              <a:rPr lang="en-US" sz="4400" i="1" dirty="0">
                <a:solidFill>
                  <a:srgbClr val="F5B53F"/>
                </a:solidFill>
                <a:latin typeface="Georgia" pitchFamily="34" charset="0"/>
                <a:ea typeface="Georgia" pitchFamily="34" charset="-122"/>
                <a:cs typeface="Georgia" pitchFamily="34" charset="-120"/>
              </a:rPr>
              <a:t>Foundations</a:t>
            </a:r>
            <a:endParaRPr lang="en-US" sz="4400" dirty="0"/>
          </a:p>
        </p:txBody>
      </p:sp>
      <p:sp>
        <p:nvSpPr>
          <p:cNvPr id="5" name="Text 3"/>
          <p:cNvSpPr/>
          <p:nvPr/>
        </p:nvSpPr>
        <p:spPr>
          <a:xfrm>
            <a:off x="548640" y="4069080"/>
            <a:ext cx="6766560" cy="731520"/>
          </a:xfrm>
          <a:prstGeom prst="rect">
            <a:avLst/>
          </a:prstGeom>
          <a:noFill/>
          <a:ln/>
        </p:spPr>
        <p:txBody>
          <a:bodyPr wrap="square" lIns="0" tIns="0" rIns="0" bIns="0" rtlCol="0" anchor="ctr"/>
          <a:lstStyle/>
          <a:p>
            <a:pPr indent="0" marL="0">
              <a:buNone/>
            </a:pPr>
            <a:r>
              <a:rPr lang="en-US" sz="1800" dirty="0">
                <a:solidFill>
                  <a:srgbClr val="CBD5E1"/>
                </a:solidFill>
                <a:latin typeface="Calibri" pitchFamily="34" charset="0"/>
                <a:ea typeface="Calibri" pitchFamily="34" charset="-122"/>
                <a:cs typeface="Calibri" pitchFamily="34" charset="-120"/>
              </a:rPr>
              <a:t>See inside your LLM apps and agents: every step, every token, every decision.</a:t>
            </a:r>
            <a:endParaRPr lang="en-US" sz="1800" dirty="0"/>
          </a:p>
        </p:txBody>
      </p:sp>
      <p:sp>
        <p:nvSpPr>
          <p:cNvPr id="6" name="Text 4"/>
          <p:cNvSpPr/>
          <p:nvPr/>
        </p:nvSpPr>
        <p:spPr>
          <a:xfrm>
            <a:off x="548640" y="5760720"/>
            <a:ext cx="5486400" cy="320040"/>
          </a:xfrm>
          <a:prstGeom prst="rect">
            <a:avLst/>
          </a:prstGeom>
          <a:noFill/>
          <a:ln/>
        </p:spPr>
        <p:txBody>
          <a:bodyPr wrap="square" lIns="0" tIns="0" rIns="0" bIns="0" rtlCol="0" anchor="ctr"/>
          <a:lstStyle/>
          <a:p>
            <a:pPr indent="0" marL="0">
              <a:buNone/>
            </a:pPr>
            <a:r>
              <a:rPr lang="en-US" sz="1200" dirty="0">
                <a:solidFill>
                  <a:srgbClr val="8A97B0"/>
                </a:solidFill>
                <a:latin typeface="Consolas" pitchFamily="34" charset="0"/>
                <a:ea typeface="Consolas" pitchFamily="34" charset="-122"/>
                <a:cs typeface="Consolas" pitchFamily="34" charset="-120"/>
              </a:rPr>
              <a:t>Tuesday, October 20, 2026  ·  7:00 PM PT</a:t>
            </a:r>
            <a:endParaRPr lang="en-US" sz="1200" dirty="0"/>
          </a:p>
        </p:txBody>
      </p:sp>
      <p:sp>
        <p:nvSpPr>
          <p:cNvPr id="7" name="Shape 5"/>
          <p:cNvSpPr/>
          <p:nvPr/>
        </p:nvSpPr>
        <p:spPr>
          <a:xfrm>
            <a:off x="8138160" y="2103120"/>
            <a:ext cx="3566160" cy="166421"/>
          </a:xfrm>
          <a:prstGeom prst="roundRect">
            <a:avLst>
              <a:gd name="adj" fmla="val 16483"/>
            </a:avLst>
          </a:prstGeom>
          <a:solidFill>
            <a:srgbClr val="8B5CF6"/>
          </a:solidFill>
          <a:ln w="12700">
            <a:solidFill>
              <a:srgbClr val="8B5CF6"/>
            </a:solidFill>
            <a:prstDash val="solid"/>
          </a:ln>
        </p:spPr>
      </p:sp>
      <p:sp>
        <p:nvSpPr>
          <p:cNvPr id="8" name="Shape 6"/>
          <p:cNvSpPr/>
          <p:nvPr/>
        </p:nvSpPr>
        <p:spPr>
          <a:xfrm>
            <a:off x="8280806" y="2412187"/>
            <a:ext cx="784555" cy="166421"/>
          </a:xfrm>
          <a:prstGeom prst="roundRect">
            <a:avLst>
              <a:gd name="adj" fmla="val 16483"/>
            </a:avLst>
          </a:prstGeom>
          <a:solidFill>
            <a:srgbClr val="22D3EE"/>
          </a:solidFill>
          <a:ln w="12700">
            <a:solidFill>
              <a:srgbClr val="22D3EE"/>
            </a:solidFill>
            <a:prstDash val="solid"/>
          </a:ln>
        </p:spPr>
      </p:sp>
      <p:sp>
        <p:nvSpPr>
          <p:cNvPr id="9" name="Shape 7"/>
          <p:cNvSpPr/>
          <p:nvPr/>
        </p:nvSpPr>
        <p:spPr>
          <a:xfrm>
            <a:off x="9101023" y="2721254"/>
            <a:ext cx="1283818" cy="166421"/>
          </a:xfrm>
          <a:prstGeom prst="roundRect">
            <a:avLst>
              <a:gd name="adj" fmla="val 16483"/>
            </a:avLst>
          </a:prstGeom>
          <a:solidFill>
            <a:srgbClr val="F5B53F"/>
          </a:solidFill>
          <a:ln w="12700">
            <a:solidFill>
              <a:srgbClr val="F5B53F"/>
            </a:solidFill>
            <a:prstDash val="solid"/>
          </a:ln>
        </p:spPr>
      </p:sp>
      <p:sp>
        <p:nvSpPr>
          <p:cNvPr id="10" name="Shape 8"/>
          <p:cNvSpPr/>
          <p:nvPr/>
        </p:nvSpPr>
        <p:spPr>
          <a:xfrm>
            <a:off x="10420502" y="3030322"/>
            <a:ext cx="1212494" cy="166421"/>
          </a:xfrm>
          <a:prstGeom prst="roundRect">
            <a:avLst>
              <a:gd name="adj" fmla="val 16483"/>
            </a:avLst>
          </a:prstGeom>
          <a:solidFill>
            <a:srgbClr val="2DD4BF"/>
          </a:solidFill>
          <a:ln w="12700">
            <a:solidFill>
              <a:srgbClr val="2DD4B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02</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START WITH A FAILURE</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Your agent just gave a wrong answer. Why?</a:t>
            </a:r>
            <a:endParaRPr lang="en-US" sz="3200" dirty="0"/>
          </a:p>
        </p:txBody>
      </p:sp>
      <p:sp>
        <p:nvSpPr>
          <p:cNvPr id="10" name="Shape 8"/>
          <p:cNvSpPr/>
          <p:nvPr/>
        </p:nvSpPr>
        <p:spPr>
          <a:xfrm>
            <a:off x="548640" y="1828800"/>
            <a:ext cx="5120640" cy="3566160"/>
          </a:xfrm>
          <a:prstGeom prst="rect">
            <a:avLst/>
          </a:prstGeom>
          <a:solidFill>
            <a:srgbClr val="141A31"/>
          </a:solidFill>
          <a:ln w="9525">
            <a:solidFill>
              <a:srgbClr val="2A3456"/>
            </a:solidFill>
            <a:prstDash val="solid"/>
          </a:ln>
        </p:spPr>
      </p:sp>
      <p:sp>
        <p:nvSpPr>
          <p:cNvPr id="11" name="Text 9"/>
          <p:cNvSpPr/>
          <p:nvPr/>
        </p:nvSpPr>
        <p:spPr>
          <a:xfrm>
            <a:off x="868680" y="2103120"/>
            <a:ext cx="2743200" cy="274320"/>
          </a:xfrm>
          <a:prstGeom prst="rect">
            <a:avLst/>
          </a:prstGeom>
          <a:noFill/>
          <a:ln/>
        </p:spPr>
        <p:txBody>
          <a:bodyPr wrap="square" lIns="0" tIns="0" rIns="0" bIns="0" rtlCol="0" anchor="t"/>
          <a:lstStyle/>
          <a:p>
            <a:pPr indent="0" marL="0">
              <a:buNone/>
            </a:pPr>
            <a:r>
              <a:rPr lang="en-US" sz="1000" b="1" spc="300" kern="0" dirty="0">
                <a:solidFill>
                  <a:srgbClr val="8A97B0"/>
                </a:solidFill>
                <a:latin typeface="Calibri" pitchFamily="34" charset="0"/>
                <a:ea typeface="Calibri" pitchFamily="34" charset="-122"/>
                <a:cs typeface="Calibri" pitchFamily="34" charset="-120"/>
              </a:rPr>
              <a:t>CUSTOMER</a:t>
            </a:r>
            <a:endParaRPr lang="en-US" sz="1000" dirty="0"/>
          </a:p>
        </p:txBody>
      </p:sp>
      <p:sp>
        <p:nvSpPr>
          <p:cNvPr id="12" name="Shape 10"/>
          <p:cNvSpPr/>
          <p:nvPr/>
        </p:nvSpPr>
        <p:spPr>
          <a:xfrm>
            <a:off x="868680" y="2423160"/>
            <a:ext cx="4206240" cy="685800"/>
          </a:xfrm>
          <a:prstGeom prst="roundRect">
            <a:avLst>
              <a:gd name="adj" fmla="val 16000"/>
            </a:avLst>
          </a:prstGeom>
          <a:solidFill>
            <a:srgbClr val="1B2340"/>
          </a:solidFill>
          <a:ln w="9525">
            <a:solidFill>
              <a:srgbClr val="2A3456"/>
            </a:solidFill>
            <a:prstDash val="solid"/>
          </a:ln>
        </p:spPr>
      </p:sp>
      <p:sp>
        <p:nvSpPr>
          <p:cNvPr id="13" name="Text 11"/>
          <p:cNvSpPr/>
          <p:nvPr/>
        </p:nvSpPr>
        <p:spPr>
          <a:xfrm>
            <a:off x="1051560" y="2423160"/>
            <a:ext cx="3931920" cy="68580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Can I get a refund after 60 days?</a:t>
            </a:r>
            <a:endParaRPr lang="en-US" sz="1600" dirty="0"/>
          </a:p>
        </p:txBody>
      </p:sp>
      <p:sp>
        <p:nvSpPr>
          <p:cNvPr id="14" name="Text 12"/>
          <p:cNvSpPr/>
          <p:nvPr/>
        </p:nvSpPr>
        <p:spPr>
          <a:xfrm>
            <a:off x="868680" y="3337560"/>
            <a:ext cx="2743200" cy="274320"/>
          </a:xfrm>
          <a:prstGeom prst="rect">
            <a:avLst/>
          </a:prstGeom>
          <a:noFill/>
          <a:ln/>
        </p:spPr>
        <p:txBody>
          <a:bodyPr wrap="square" lIns="0" tIns="0" rIns="0" bIns="0" rtlCol="0" anchor="t"/>
          <a:lstStyle/>
          <a:p>
            <a:pPr indent="0" marL="0">
              <a:buNone/>
            </a:pPr>
            <a:r>
              <a:rPr lang="en-US" sz="1000" b="1" spc="300" kern="0" dirty="0">
                <a:solidFill>
                  <a:srgbClr val="8A97B0"/>
                </a:solidFill>
                <a:latin typeface="Calibri" pitchFamily="34" charset="0"/>
                <a:ea typeface="Calibri" pitchFamily="34" charset="-122"/>
                <a:cs typeface="Calibri" pitchFamily="34" charset="-120"/>
              </a:rPr>
              <a:t>AGENT</a:t>
            </a:r>
            <a:endParaRPr lang="en-US" sz="1000" dirty="0"/>
          </a:p>
        </p:txBody>
      </p:sp>
      <p:sp>
        <p:nvSpPr>
          <p:cNvPr id="15" name="Shape 13"/>
          <p:cNvSpPr/>
          <p:nvPr/>
        </p:nvSpPr>
        <p:spPr>
          <a:xfrm>
            <a:off x="868680" y="3657600"/>
            <a:ext cx="4206240" cy="685800"/>
          </a:xfrm>
          <a:prstGeom prst="roundRect">
            <a:avLst>
              <a:gd name="adj" fmla="val 16000"/>
            </a:avLst>
          </a:prstGeom>
          <a:solidFill>
            <a:srgbClr val="2A1220"/>
          </a:solidFill>
          <a:ln w="15875">
            <a:solidFill>
              <a:srgbClr val="F43F5E"/>
            </a:solidFill>
            <a:prstDash val="solid"/>
          </a:ln>
        </p:spPr>
      </p:sp>
      <p:sp>
        <p:nvSpPr>
          <p:cNvPr id="16" name="Text 14"/>
          <p:cNvSpPr/>
          <p:nvPr/>
        </p:nvSpPr>
        <p:spPr>
          <a:xfrm>
            <a:off x="1051560" y="3657600"/>
            <a:ext cx="3931920" cy="68580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Yes! Refunds are available anytime.</a:t>
            </a:r>
            <a:endParaRPr lang="en-US" sz="1600" dirty="0"/>
          </a:p>
        </p:txBody>
      </p:sp>
      <p:sp>
        <p:nvSpPr>
          <p:cNvPr id="17" name="Shape 15"/>
          <p:cNvSpPr/>
          <p:nvPr/>
        </p:nvSpPr>
        <p:spPr>
          <a:xfrm>
            <a:off x="3977640" y="4526280"/>
            <a:ext cx="1097280" cy="365760"/>
          </a:xfrm>
          <a:prstGeom prst="roundRect">
            <a:avLst>
              <a:gd name="adj" fmla="val 15000"/>
            </a:avLst>
          </a:prstGeom>
          <a:solidFill>
            <a:srgbClr val="F43F5E"/>
          </a:solidFill>
          <a:ln w="12700">
            <a:solidFill>
              <a:srgbClr val="F43F5E"/>
            </a:solidFill>
            <a:prstDash val="solid"/>
          </a:ln>
        </p:spPr>
      </p:sp>
      <p:sp>
        <p:nvSpPr>
          <p:cNvPr id="18" name="Text 16"/>
          <p:cNvSpPr/>
          <p:nvPr/>
        </p:nvSpPr>
        <p:spPr>
          <a:xfrm>
            <a:off x="3977640" y="4526280"/>
            <a:ext cx="1097280" cy="365760"/>
          </a:xfrm>
          <a:prstGeom prst="rect">
            <a:avLst/>
          </a:prstGeom>
          <a:noFill/>
          <a:ln/>
        </p:spPr>
        <p:txBody>
          <a:bodyPr wrap="square" lIns="0" tIns="0" rIns="0" bIns="0" rtlCol="0" anchor="ctr"/>
          <a:lstStyle/>
          <a:p>
            <a:pPr algn="ctr" indent="0" marL="0">
              <a:buNone/>
            </a:pPr>
            <a:r>
              <a:rPr lang="en-US" sz="1200" b="1" spc="300" kern="0" dirty="0">
                <a:solidFill>
                  <a:srgbClr val="0B1020"/>
                </a:solidFill>
                <a:latin typeface="Calibri" pitchFamily="34" charset="0"/>
                <a:ea typeface="Calibri" pitchFamily="34" charset="-122"/>
                <a:cs typeface="Calibri" pitchFamily="34" charset="-120"/>
              </a:rPr>
              <a:t>WRONG</a:t>
            </a:r>
            <a:endParaRPr lang="en-US" sz="1200" dirty="0"/>
          </a:p>
        </p:txBody>
      </p:sp>
      <p:sp>
        <p:nvSpPr>
          <p:cNvPr id="19" name="Text 17"/>
          <p:cNvSpPr/>
          <p:nvPr/>
        </p:nvSpPr>
        <p:spPr>
          <a:xfrm>
            <a:off x="868680" y="4983480"/>
            <a:ext cx="4572000" cy="274320"/>
          </a:xfrm>
          <a:prstGeom prst="rect">
            <a:avLst/>
          </a:prstGeom>
          <a:noFill/>
          <a:ln/>
        </p:spPr>
        <p:txBody>
          <a:bodyPr wrap="square" lIns="0" tIns="0" rIns="0" bIns="0" rtlCol="0" anchor="t"/>
          <a:lstStyle/>
          <a:p>
            <a:pPr indent="0" marL="0">
              <a:buNone/>
            </a:pPr>
            <a:r>
              <a:rPr lang="en-US" sz="1200" i="1" dirty="0">
                <a:solidFill>
                  <a:srgbClr val="8A97B0"/>
                </a:solidFill>
                <a:latin typeface="Calibri" pitchFamily="34" charset="0"/>
                <a:ea typeface="Calibri" pitchFamily="34" charset="-122"/>
                <a:cs typeface="Calibri" pitchFamily="34" charset="-120"/>
              </a:rPr>
              <a:t>Policy says 30 days. Uptime dashboard: 100% green.</a:t>
            </a:r>
            <a:endParaRPr lang="en-US" sz="1200" dirty="0"/>
          </a:p>
        </p:txBody>
      </p:sp>
      <p:pic>
        <p:nvPicPr>
          <p:cNvPr id="20" name="Image 0" descr="preencoded.png">    </p:cNvPr>
          <p:cNvPicPr>
            <a:picLocks noChangeAspect="1"/>
          </p:cNvPicPr>
          <p:nvPr/>
        </p:nvPicPr>
        <p:blipFill>
          <a:blip r:embed="rId1"/>
          <a:stretch>
            <a:fillRect/>
          </a:stretch>
        </p:blipFill>
        <p:spPr>
          <a:xfrm>
            <a:off x="6446520" y="1947672"/>
            <a:ext cx="329184" cy="329184"/>
          </a:xfrm>
          <a:prstGeom prst="rect">
            <a:avLst/>
          </a:prstGeom>
        </p:spPr>
      </p:pic>
      <p:sp>
        <p:nvSpPr>
          <p:cNvPr id="21" name="Text 18"/>
          <p:cNvSpPr/>
          <p:nvPr/>
        </p:nvSpPr>
        <p:spPr>
          <a:xfrm>
            <a:off x="6995160" y="1874520"/>
            <a:ext cx="4572000" cy="502920"/>
          </a:xfrm>
          <a:prstGeom prst="rect">
            <a:avLst/>
          </a:prstGeom>
          <a:noFill/>
          <a:ln/>
        </p:spPr>
        <p:txBody>
          <a:bodyPr wrap="square" lIns="0" tIns="0" rIns="0" bIns="0" rtlCol="0" anchor="ctr"/>
          <a:lstStyle/>
          <a:p>
            <a:pPr indent="0" marL="0">
              <a:buNone/>
            </a:pPr>
            <a:r>
              <a:rPr lang="en-US" sz="1900" dirty="0">
                <a:solidFill>
                  <a:srgbClr val="F8FAFC"/>
                </a:solidFill>
                <a:latin typeface="Calibri" pitchFamily="34" charset="0"/>
                <a:ea typeface="Calibri" pitchFamily="34" charset="-122"/>
                <a:cs typeface="Calibri" pitchFamily="34" charset="-120"/>
              </a:rPr>
              <a:t>Which prompt was sent?</a:t>
            </a:r>
            <a:endParaRPr lang="en-US" sz="1900" dirty="0"/>
          </a:p>
        </p:txBody>
      </p:sp>
      <p:pic>
        <p:nvPicPr>
          <p:cNvPr id="22" name="Image 1" descr="preencoded.png">    </p:cNvPr>
          <p:cNvPicPr>
            <a:picLocks noChangeAspect="1"/>
          </p:cNvPicPr>
          <p:nvPr/>
        </p:nvPicPr>
        <p:blipFill>
          <a:blip r:embed="rId2"/>
          <a:stretch>
            <a:fillRect/>
          </a:stretch>
        </p:blipFill>
        <p:spPr>
          <a:xfrm>
            <a:off x="6446520" y="2660904"/>
            <a:ext cx="329184" cy="329184"/>
          </a:xfrm>
          <a:prstGeom prst="rect">
            <a:avLst/>
          </a:prstGeom>
        </p:spPr>
      </p:pic>
      <p:sp>
        <p:nvSpPr>
          <p:cNvPr id="23" name="Text 19"/>
          <p:cNvSpPr/>
          <p:nvPr/>
        </p:nvSpPr>
        <p:spPr>
          <a:xfrm>
            <a:off x="6995160" y="2587752"/>
            <a:ext cx="4572000" cy="502920"/>
          </a:xfrm>
          <a:prstGeom prst="rect">
            <a:avLst/>
          </a:prstGeom>
          <a:noFill/>
          <a:ln/>
        </p:spPr>
        <p:txBody>
          <a:bodyPr wrap="square" lIns="0" tIns="0" rIns="0" bIns="0" rtlCol="0" anchor="ctr"/>
          <a:lstStyle/>
          <a:p>
            <a:pPr indent="0" marL="0">
              <a:buNone/>
            </a:pPr>
            <a:r>
              <a:rPr lang="en-US" sz="1900" dirty="0">
                <a:solidFill>
                  <a:srgbClr val="F8FAFC"/>
                </a:solidFill>
                <a:latin typeface="Calibri" pitchFamily="34" charset="0"/>
                <a:ea typeface="Calibri" pitchFamily="34" charset="-122"/>
                <a:cs typeface="Calibri" pitchFamily="34" charset="-120"/>
              </a:rPr>
              <a:t>Which tool returned what?</a:t>
            </a:r>
            <a:endParaRPr lang="en-US" sz="1900" dirty="0"/>
          </a:p>
        </p:txBody>
      </p:sp>
      <p:pic>
        <p:nvPicPr>
          <p:cNvPr id="24" name="Image 2" descr="preencoded.png">    </p:cNvPr>
          <p:cNvPicPr>
            <a:picLocks noChangeAspect="1"/>
          </p:cNvPicPr>
          <p:nvPr/>
        </p:nvPicPr>
        <p:blipFill>
          <a:blip r:embed="rId3"/>
          <a:stretch>
            <a:fillRect/>
          </a:stretch>
        </p:blipFill>
        <p:spPr>
          <a:xfrm>
            <a:off x="6446520" y="3374136"/>
            <a:ext cx="329184" cy="329184"/>
          </a:xfrm>
          <a:prstGeom prst="rect">
            <a:avLst/>
          </a:prstGeom>
        </p:spPr>
      </p:pic>
      <p:sp>
        <p:nvSpPr>
          <p:cNvPr id="25" name="Text 20"/>
          <p:cNvSpPr/>
          <p:nvPr/>
        </p:nvSpPr>
        <p:spPr>
          <a:xfrm>
            <a:off x="6995160" y="3300984"/>
            <a:ext cx="4572000" cy="502920"/>
          </a:xfrm>
          <a:prstGeom prst="rect">
            <a:avLst/>
          </a:prstGeom>
          <a:noFill/>
          <a:ln/>
        </p:spPr>
        <p:txBody>
          <a:bodyPr wrap="square" lIns="0" tIns="0" rIns="0" bIns="0" rtlCol="0" anchor="ctr"/>
          <a:lstStyle/>
          <a:p>
            <a:pPr indent="0" marL="0">
              <a:buNone/>
            </a:pPr>
            <a:r>
              <a:rPr lang="en-US" sz="1900" dirty="0">
                <a:solidFill>
                  <a:srgbClr val="F8FAFC"/>
                </a:solidFill>
                <a:latin typeface="Calibri" pitchFamily="34" charset="0"/>
                <a:ea typeface="Calibri" pitchFamily="34" charset="-122"/>
                <a:cs typeface="Calibri" pitchFamily="34" charset="-120"/>
              </a:rPr>
              <a:t>Which model, which version?</a:t>
            </a:r>
            <a:endParaRPr lang="en-US" sz="1900" dirty="0"/>
          </a:p>
        </p:txBody>
      </p:sp>
      <p:pic>
        <p:nvPicPr>
          <p:cNvPr id="26" name="Image 3" descr="preencoded.png">    </p:cNvPr>
          <p:cNvPicPr>
            <a:picLocks noChangeAspect="1"/>
          </p:cNvPicPr>
          <p:nvPr/>
        </p:nvPicPr>
        <p:blipFill>
          <a:blip r:embed="rId4"/>
          <a:stretch>
            <a:fillRect/>
          </a:stretch>
        </p:blipFill>
        <p:spPr>
          <a:xfrm>
            <a:off x="6446520" y="4087368"/>
            <a:ext cx="329184" cy="329184"/>
          </a:xfrm>
          <a:prstGeom prst="rect">
            <a:avLst/>
          </a:prstGeom>
        </p:spPr>
      </p:pic>
      <p:sp>
        <p:nvSpPr>
          <p:cNvPr id="27" name="Text 21"/>
          <p:cNvSpPr/>
          <p:nvPr/>
        </p:nvSpPr>
        <p:spPr>
          <a:xfrm>
            <a:off x="6995160" y="4014216"/>
            <a:ext cx="4572000" cy="502920"/>
          </a:xfrm>
          <a:prstGeom prst="rect">
            <a:avLst/>
          </a:prstGeom>
          <a:noFill/>
          <a:ln/>
        </p:spPr>
        <p:txBody>
          <a:bodyPr wrap="square" lIns="0" tIns="0" rIns="0" bIns="0" rtlCol="0" anchor="ctr"/>
          <a:lstStyle/>
          <a:p>
            <a:pPr indent="0" marL="0">
              <a:buNone/>
            </a:pPr>
            <a:r>
              <a:rPr lang="en-US" sz="1900" dirty="0">
                <a:solidFill>
                  <a:srgbClr val="F8FAFC"/>
                </a:solidFill>
                <a:latin typeface="Calibri" pitchFamily="34" charset="0"/>
                <a:ea typeface="Calibri" pitchFamily="34" charset="-122"/>
                <a:cs typeface="Calibri" pitchFamily="34" charset="-120"/>
              </a:rPr>
              <a:t>How long did each step take?</a:t>
            </a:r>
            <a:endParaRPr lang="en-US" sz="1900" dirty="0"/>
          </a:p>
        </p:txBody>
      </p:sp>
      <p:pic>
        <p:nvPicPr>
          <p:cNvPr id="28" name="Image 4" descr="preencoded.png">    </p:cNvPr>
          <p:cNvPicPr>
            <a:picLocks noChangeAspect="1"/>
          </p:cNvPicPr>
          <p:nvPr/>
        </p:nvPicPr>
        <p:blipFill>
          <a:blip r:embed="rId5"/>
          <a:stretch>
            <a:fillRect/>
          </a:stretch>
        </p:blipFill>
        <p:spPr>
          <a:xfrm>
            <a:off x="6446520" y="4800600"/>
            <a:ext cx="329184" cy="329184"/>
          </a:xfrm>
          <a:prstGeom prst="rect">
            <a:avLst/>
          </a:prstGeom>
        </p:spPr>
      </p:pic>
      <p:sp>
        <p:nvSpPr>
          <p:cNvPr id="29" name="Text 22"/>
          <p:cNvSpPr/>
          <p:nvPr/>
        </p:nvSpPr>
        <p:spPr>
          <a:xfrm>
            <a:off x="6995160" y="4727448"/>
            <a:ext cx="4572000" cy="502920"/>
          </a:xfrm>
          <a:prstGeom prst="rect">
            <a:avLst/>
          </a:prstGeom>
          <a:noFill/>
          <a:ln/>
        </p:spPr>
        <p:txBody>
          <a:bodyPr wrap="square" lIns="0" tIns="0" rIns="0" bIns="0" rtlCol="0" anchor="ctr"/>
          <a:lstStyle/>
          <a:p>
            <a:pPr indent="0" marL="0">
              <a:buNone/>
            </a:pPr>
            <a:r>
              <a:rPr lang="en-US" sz="1900" dirty="0">
                <a:solidFill>
                  <a:srgbClr val="F8FAFC"/>
                </a:solidFill>
                <a:latin typeface="Calibri" pitchFamily="34" charset="0"/>
                <a:ea typeface="Calibri" pitchFamily="34" charset="-122"/>
                <a:cs typeface="Calibri" pitchFamily="34" charset="-120"/>
              </a:rPr>
              <a:t>What did it cost?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03</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TONIGHT</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Six parts, one running example</a:t>
            </a:r>
            <a:endParaRPr lang="en-US" sz="3200" dirty="0"/>
          </a:p>
        </p:txBody>
      </p:sp>
      <p:sp>
        <p:nvSpPr>
          <p:cNvPr id="10" name="Shape 8"/>
          <p:cNvSpPr/>
          <p:nvPr/>
        </p:nvSpPr>
        <p:spPr>
          <a:xfrm>
            <a:off x="548640" y="1828800"/>
            <a:ext cx="3520440" cy="1874520"/>
          </a:xfrm>
          <a:prstGeom prst="rect">
            <a:avLst/>
          </a:prstGeom>
          <a:solidFill>
            <a:srgbClr val="141A31"/>
          </a:solidFill>
          <a:ln w="9525">
            <a:solidFill>
              <a:srgbClr val="2A3456"/>
            </a:solidFill>
            <a:prstDash val="solid"/>
          </a:ln>
        </p:spPr>
      </p:sp>
      <p:sp>
        <p:nvSpPr>
          <p:cNvPr id="11" name="Shape 9"/>
          <p:cNvSpPr/>
          <p:nvPr/>
        </p:nvSpPr>
        <p:spPr>
          <a:xfrm>
            <a:off x="548640" y="1828800"/>
            <a:ext cx="54864" cy="1874520"/>
          </a:xfrm>
          <a:prstGeom prst="rect">
            <a:avLst/>
          </a:prstGeom>
          <a:solidFill>
            <a:srgbClr val="2DD4BF"/>
          </a:solidFill>
          <a:ln w="12700">
            <a:solidFill>
              <a:srgbClr val="2DD4BF"/>
            </a:solidFill>
            <a:prstDash val="solid"/>
          </a:ln>
        </p:spPr>
      </p:sp>
      <p:sp>
        <p:nvSpPr>
          <p:cNvPr id="12" name="Text 10"/>
          <p:cNvSpPr/>
          <p:nvPr/>
        </p:nvSpPr>
        <p:spPr>
          <a:xfrm>
            <a:off x="868680" y="2057400"/>
            <a:ext cx="1097280" cy="502920"/>
          </a:xfrm>
          <a:prstGeom prst="rect">
            <a:avLst/>
          </a:prstGeom>
          <a:noFill/>
          <a:ln/>
        </p:spPr>
        <p:txBody>
          <a:bodyPr wrap="square" lIns="0" tIns="0" rIns="0" bIns="0" rtlCol="0" anchor="ctr"/>
          <a:lstStyle/>
          <a:p>
            <a:pPr indent="0" marL="0">
              <a:buNone/>
            </a:pPr>
            <a:r>
              <a:rPr lang="en-US" sz="2800" b="1" dirty="0">
                <a:solidFill>
                  <a:srgbClr val="2DD4BF"/>
                </a:solidFill>
                <a:latin typeface="Georgia" pitchFamily="34" charset="0"/>
                <a:ea typeface="Georgia" pitchFamily="34" charset="-122"/>
                <a:cs typeface="Georgia" pitchFamily="34" charset="-120"/>
              </a:rPr>
              <a:t>01</a:t>
            </a:r>
            <a:endParaRPr lang="en-US" sz="2800" dirty="0"/>
          </a:p>
        </p:txBody>
      </p:sp>
      <p:sp>
        <p:nvSpPr>
          <p:cNvPr id="13" name="Text 11"/>
          <p:cNvSpPr/>
          <p:nvPr/>
        </p:nvSpPr>
        <p:spPr>
          <a:xfrm>
            <a:off x="868680" y="2606040"/>
            <a:ext cx="2971800" cy="41148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Why AI needs observability</a:t>
            </a:r>
            <a:endParaRPr lang="en-US" sz="1800" dirty="0"/>
          </a:p>
        </p:txBody>
      </p:sp>
      <p:sp>
        <p:nvSpPr>
          <p:cNvPr id="14" name="Text 12"/>
          <p:cNvSpPr/>
          <p:nvPr/>
        </p:nvSpPr>
        <p:spPr>
          <a:xfrm>
            <a:off x="868680" y="3017520"/>
            <a:ext cx="297180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Non-determinism, agents, cost, silent failures</a:t>
            </a:r>
            <a:endParaRPr lang="en-US" sz="1300" dirty="0"/>
          </a:p>
        </p:txBody>
      </p:sp>
      <p:sp>
        <p:nvSpPr>
          <p:cNvPr id="15" name="Shape 13"/>
          <p:cNvSpPr/>
          <p:nvPr/>
        </p:nvSpPr>
        <p:spPr>
          <a:xfrm>
            <a:off x="4297680" y="1828800"/>
            <a:ext cx="3520440" cy="1874520"/>
          </a:xfrm>
          <a:prstGeom prst="rect">
            <a:avLst/>
          </a:prstGeom>
          <a:solidFill>
            <a:srgbClr val="141A31"/>
          </a:solidFill>
          <a:ln w="9525">
            <a:solidFill>
              <a:srgbClr val="2A3456"/>
            </a:solidFill>
            <a:prstDash val="solid"/>
          </a:ln>
        </p:spPr>
      </p:sp>
      <p:sp>
        <p:nvSpPr>
          <p:cNvPr id="16" name="Shape 14"/>
          <p:cNvSpPr/>
          <p:nvPr/>
        </p:nvSpPr>
        <p:spPr>
          <a:xfrm>
            <a:off x="4297680" y="1828800"/>
            <a:ext cx="54864" cy="1874520"/>
          </a:xfrm>
          <a:prstGeom prst="rect">
            <a:avLst/>
          </a:prstGeom>
          <a:solidFill>
            <a:srgbClr val="22D3EE"/>
          </a:solidFill>
          <a:ln w="12700">
            <a:solidFill>
              <a:srgbClr val="22D3EE"/>
            </a:solidFill>
            <a:prstDash val="solid"/>
          </a:ln>
        </p:spPr>
      </p:sp>
      <p:sp>
        <p:nvSpPr>
          <p:cNvPr id="17" name="Text 15"/>
          <p:cNvSpPr/>
          <p:nvPr/>
        </p:nvSpPr>
        <p:spPr>
          <a:xfrm>
            <a:off x="4617720" y="2057400"/>
            <a:ext cx="1097280" cy="502920"/>
          </a:xfrm>
          <a:prstGeom prst="rect">
            <a:avLst/>
          </a:prstGeom>
          <a:noFill/>
          <a:ln/>
        </p:spPr>
        <p:txBody>
          <a:bodyPr wrap="square" lIns="0" tIns="0" rIns="0" bIns="0" rtlCol="0" anchor="ctr"/>
          <a:lstStyle/>
          <a:p>
            <a:pPr indent="0" marL="0">
              <a:buNone/>
            </a:pPr>
            <a:r>
              <a:rPr lang="en-US" sz="2800" b="1" dirty="0">
                <a:solidFill>
                  <a:srgbClr val="22D3EE"/>
                </a:solidFill>
                <a:latin typeface="Georgia" pitchFamily="34" charset="0"/>
                <a:ea typeface="Georgia" pitchFamily="34" charset="-122"/>
                <a:cs typeface="Georgia" pitchFamily="34" charset="-120"/>
              </a:rPr>
              <a:t>02</a:t>
            </a:r>
            <a:endParaRPr lang="en-US" sz="2800" dirty="0"/>
          </a:p>
        </p:txBody>
      </p:sp>
      <p:sp>
        <p:nvSpPr>
          <p:cNvPr id="18" name="Text 16"/>
          <p:cNvSpPr/>
          <p:nvPr/>
        </p:nvSpPr>
        <p:spPr>
          <a:xfrm>
            <a:off x="4617720" y="2606040"/>
            <a:ext cx="2971800" cy="41148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The four signals</a:t>
            </a:r>
            <a:endParaRPr lang="en-US" sz="1800" dirty="0"/>
          </a:p>
        </p:txBody>
      </p:sp>
      <p:sp>
        <p:nvSpPr>
          <p:cNvPr id="19" name="Text 17"/>
          <p:cNvSpPr/>
          <p:nvPr/>
        </p:nvSpPr>
        <p:spPr>
          <a:xfrm>
            <a:off x="4617720" y="3017520"/>
            <a:ext cx="297180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Logs, metrics, traces and spans on one function</a:t>
            </a:r>
            <a:endParaRPr lang="en-US" sz="1300" dirty="0"/>
          </a:p>
        </p:txBody>
      </p:sp>
      <p:sp>
        <p:nvSpPr>
          <p:cNvPr id="20" name="Shape 18"/>
          <p:cNvSpPr/>
          <p:nvPr/>
        </p:nvSpPr>
        <p:spPr>
          <a:xfrm>
            <a:off x="8046720" y="1828800"/>
            <a:ext cx="3520440" cy="1874520"/>
          </a:xfrm>
          <a:prstGeom prst="rect">
            <a:avLst/>
          </a:prstGeom>
          <a:solidFill>
            <a:srgbClr val="141A31"/>
          </a:solidFill>
          <a:ln w="9525">
            <a:solidFill>
              <a:srgbClr val="2A3456"/>
            </a:solidFill>
            <a:prstDash val="solid"/>
          </a:ln>
        </p:spPr>
      </p:sp>
      <p:sp>
        <p:nvSpPr>
          <p:cNvPr id="21" name="Shape 19"/>
          <p:cNvSpPr/>
          <p:nvPr/>
        </p:nvSpPr>
        <p:spPr>
          <a:xfrm>
            <a:off x="8046720" y="1828800"/>
            <a:ext cx="54864" cy="1874520"/>
          </a:xfrm>
          <a:prstGeom prst="rect">
            <a:avLst/>
          </a:prstGeom>
          <a:solidFill>
            <a:srgbClr val="8B5CF6"/>
          </a:solidFill>
          <a:ln w="12700">
            <a:solidFill>
              <a:srgbClr val="8B5CF6"/>
            </a:solidFill>
            <a:prstDash val="solid"/>
          </a:ln>
        </p:spPr>
      </p:sp>
      <p:sp>
        <p:nvSpPr>
          <p:cNvPr id="22" name="Text 20"/>
          <p:cNvSpPr/>
          <p:nvPr/>
        </p:nvSpPr>
        <p:spPr>
          <a:xfrm>
            <a:off x="8366760" y="2057400"/>
            <a:ext cx="1097280" cy="502920"/>
          </a:xfrm>
          <a:prstGeom prst="rect">
            <a:avLst/>
          </a:prstGeom>
          <a:noFill/>
          <a:ln/>
        </p:spPr>
        <p:txBody>
          <a:bodyPr wrap="square" lIns="0" tIns="0" rIns="0" bIns="0" rtlCol="0" anchor="ctr"/>
          <a:lstStyle/>
          <a:p>
            <a:pPr indent="0" marL="0">
              <a:buNone/>
            </a:pPr>
            <a:r>
              <a:rPr lang="en-US" sz="2800" b="1" dirty="0">
                <a:solidFill>
                  <a:srgbClr val="8B5CF6"/>
                </a:solidFill>
                <a:latin typeface="Georgia" pitchFamily="34" charset="0"/>
                <a:ea typeface="Georgia" pitchFamily="34" charset="-122"/>
                <a:cs typeface="Georgia" pitchFamily="34" charset="-120"/>
              </a:rPr>
              <a:t>03</a:t>
            </a:r>
            <a:endParaRPr lang="en-US" sz="2800" dirty="0"/>
          </a:p>
        </p:txBody>
      </p:sp>
      <p:sp>
        <p:nvSpPr>
          <p:cNvPr id="23" name="Text 21"/>
          <p:cNvSpPr/>
          <p:nvPr/>
        </p:nvSpPr>
        <p:spPr>
          <a:xfrm>
            <a:off x="8366760" y="2606040"/>
            <a:ext cx="2971800" cy="41148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OpenTelemetry</a:t>
            </a:r>
            <a:endParaRPr lang="en-US" sz="1800" dirty="0"/>
          </a:p>
        </p:txBody>
      </p:sp>
      <p:sp>
        <p:nvSpPr>
          <p:cNvPr id="24" name="Text 22"/>
          <p:cNvSpPr/>
          <p:nvPr/>
        </p:nvSpPr>
        <p:spPr>
          <a:xfrm>
            <a:off x="8366760" y="3017520"/>
            <a:ext cx="297180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The open standard, the pipeline, GenAI conventions</a:t>
            </a:r>
            <a:endParaRPr lang="en-US" sz="1300" dirty="0"/>
          </a:p>
        </p:txBody>
      </p:sp>
      <p:sp>
        <p:nvSpPr>
          <p:cNvPr id="25" name="Shape 23"/>
          <p:cNvSpPr/>
          <p:nvPr/>
        </p:nvSpPr>
        <p:spPr>
          <a:xfrm>
            <a:off x="548640" y="3931920"/>
            <a:ext cx="3520440" cy="1874520"/>
          </a:xfrm>
          <a:prstGeom prst="rect">
            <a:avLst/>
          </a:prstGeom>
          <a:solidFill>
            <a:srgbClr val="141A31"/>
          </a:solidFill>
          <a:ln w="9525">
            <a:solidFill>
              <a:srgbClr val="2A3456"/>
            </a:solidFill>
            <a:prstDash val="solid"/>
          </a:ln>
        </p:spPr>
      </p:sp>
      <p:sp>
        <p:nvSpPr>
          <p:cNvPr id="26" name="Shape 24"/>
          <p:cNvSpPr/>
          <p:nvPr/>
        </p:nvSpPr>
        <p:spPr>
          <a:xfrm>
            <a:off x="548640" y="3931920"/>
            <a:ext cx="54864" cy="1874520"/>
          </a:xfrm>
          <a:prstGeom prst="rect">
            <a:avLst/>
          </a:prstGeom>
          <a:solidFill>
            <a:srgbClr val="F5B53F"/>
          </a:solidFill>
          <a:ln w="12700">
            <a:solidFill>
              <a:srgbClr val="F5B53F"/>
            </a:solidFill>
            <a:prstDash val="solid"/>
          </a:ln>
        </p:spPr>
      </p:sp>
      <p:sp>
        <p:nvSpPr>
          <p:cNvPr id="27" name="Text 25"/>
          <p:cNvSpPr/>
          <p:nvPr/>
        </p:nvSpPr>
        <p:spPr>
          <a:xfrm>
            <a:off x="868680" y="4160520"/>
            <a:ext cx="1097280" cy="502920"/>
          </a:xfrm>
          <a:prstGeom prst="rect">
            <a:avLst/>
          </a:prstGeom>
          <a:noFill/>
          <a:ln/>
        </p:spPr>
        <p:txBody>
          <a:bodyPr wrap="square" lIns="0" tIns="0" rIns="0" bIns="0" rtlCol="0" anchor="ctr"/>
          <a:lstStyle/>
          <a:p>
            <a:pPr indent="0" marL="0">
              <a:buNone/>
            </a:pPr>
            <a:r>
              <a:rPr lang="en-US" sz="2800" b="1" dirty="0">
                <a:solidFill>
                  <a:srgbClr val="F5B53F"/>
                </a:solidFill>
                <a:latin typeface="Georgia" pitchFamily="34" charset="0"/>
                <a:ea typeface="Georgia" pitchFamily="34" charset="-122"/>
                <a:cs typeface="Georgia" pitchFamily="34" charset="-120"/>
              </a:rPr>
              <a:t>04</a:t>
            </a:r>
            <a:endParaRPr lang="en-US" sz="2800" dirty="0"/>
          </a:p>
        </p:txBody>
      </p:sp>
      <p:sp>
        <p:nvSpPr>
          <p:cNvPr id="28" name="Text 26"/>
          <p:cNvSpPr/>
          <p:nvPr/>
        </p:nvSpPr>
        <p:spPr>
          <a:xfrm>
            <a:off x="868680" y="4709160"/>
            <a:ext cx="2971800" cy="41148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What to measure</a:t>
            </a:r>
            <a:endParaRPr lang="en-US" sz="1800" dirty="0"/>
          </a:p>
        </p:txBody>
      </p:sp>
      <p:sp>
        <p:nvSpPr>
          <p:cNvPr id="29" name="Text 27"/>
          <p:cNvSpPr/>
          <p:nvPr/>
        </p:nvSpPr>
        <p:spPr>
          <a:xfrm>
            <a:off x="868680" y="5120640"/>
            <a:ext cx="297180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Latency, errors, tokens, cost, quality</a:t>
            </a:r>
            <a:endParaRPr lang="en-US" sz="1300" dirty="0"/>
          </a:p>
        </p:txBody>
      </p:sp>
      <p:sp>
        <p:nvSpPr>
          <p:cNvPr id="30" name="Shape 28"/>
          <p:cNvSpPr/>
          <p:nvPr/>
        </p:nvSpPr>
        <p:spPr>
          <a:xfrm>
            <a:off x="4297680" y="3931920"/>
            <a:ext cx="3520440" cy="1874520"/>
          </a:xfrm>
          <a:prstGeom prst="rect">
            <a:avLst/>
          </a:prstGeom>
          <a:solidFill>
            <a:srgbClr val="141A31"/>
          </a:solidFill>
          <a:ln w="9525">
            <a:solidFill>
              <a:srgbClr val="2A3456"/>
            </a:solidFill>
            <a:prstDash val="solid"/>
          </a:ln>
        </p:spPr>
      </p:sp>
      <p:sp>
        <p:nvSpPr>
          <p:cNvPr id="31" name="Shape 29"/>
          <p:cNvSpPr/>
          <p:nvPr/>
        </p:nvSpPr>
        <p:spPr>
          <a:xfrm>
            <a:off x="4297680" y="3931920"/>
            <a:ext cx="54864" cy="1874520"/>
          </a:xfrm>
          <a:prstGeom prst="rect">
            <a:avLst/>
          </a:prstGeom>
          <a:solidFill>
            <a:srgbClr val="F472B6"/>
          </a:solidFill>
          <a:ln w="12700">
            <a:solidFill>
              <a:srgbClr val="F472B6"/>
            </a:solidFill>
            <a:prstDash val="solid"/>
          </a:ln>
        </p:spPr>
      </p:sp>
      <p:sp>
        <p:nvSpPr>
          <p:cNvPr id="32" name="Text 30"/>
          <p:cNvSpPr/>
          <p:nvPr/>
        </p:nvSpPr>
        <p:spPr>
          <a:xfrm>
            <a:off x="4617720" y="4160520"/>
            <a:ext cx="1097280" cy="502920"/>
          </a:xfrm>
          <a:prstGeom prst="rect">
            <a:avLst/>
          </a:prstGeom>
          <a:noFill/>
          <a:ln/>
        </p:spPr>
        <p:txBody>
          <a:bodyPr wrap="square" lIns="0" tIns="0" rIns="0" bIns="0" rtlCol="0" anchor="ctr"/>
          <a:lstStyle/>
          <a:p>
            <a:pPr indent="0" marL="0">
              <a:buNone/>
            </a:pPr>
            <a:r>
              <a:rPr lang="en-US" sz="2800" b="1" dirty="0">
                <a:solidFill>
                  <a:srgbClr val="F472B6"/>
                </a:solidFill>
                <a:latin typeface="Georgia" pitchFamily="34" charset="0"/>
                <a:ea typeface="Georgia" pitchFamily="34" charset="-122"/>
                <a:cs typeface="Georgia" pitchFamily="34" charset="-120"/>
              </a:rPr>
              <a:t>05</a:t>
            </a:r>
            <a:endParaRPr lang="en-US" sz="2800" dirty="0"/>
          </a:p>
        </p:txBody>
      </p:sp>
      <p:sp>
        <p:nvSpPr>
          <p:cNvPr id="33" name="Text 31"/>
          <p:cNvSpPr/>
          <p:nvPr/>
        </p:nvSpPr>
        <p:spPr>
          <a:xfrm>
            <a:off x="4617720" y="4709160"/>
            <a:ext cx="2971800" cy="41148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Hands-on</a:t>
            </a:r>
            <a:endParaRPr lang="en-US" sz="1800" dirty="0"/>
          </a:p>
        </p:txBody>
      </p:sp>
      <p:sp>
        <p:nvSpPr>
          <p:cNvPr id="34" name="Text 32"/>
          <p:cNvSpPr/>
          <p:nvPr/>
        </p:nvSpPr>
        <p:spPr>
          <a:xfrm>
            <a:off x="4617720" y="5120640"/>
            <a:ext cx="297180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Langfuse on localhost, LangSmith, plain OTel</a:t>
            </a:r>
            <a:endParaRPr lang="en-US" sz="1300" dirty="0"/>
          </a:p>
        </p:txBody>
      </p:sp>
      <p:sp>
        <p:nvSpPr>
          <p:cNvPr id="35" name="Shape 33"/>
          <p:cNvSpPr/>
          <p:nvPr/>
        </p:nvSpPr>
        <p:spPr>
          <a:xfrm>
            <a:off x="8046720" y="3931920"/>
            <a:ext cx="3520440" cy="1874520"/>
          </a:xfrm>
          <a:prstGeom prst="rect">
            <a:avLst/>
          </a:prstGeom>
          <a:solidFill>
            <a:srgbClr val="141A31"/>
          </a:solidFill>
          <a:ln w="9525">
            <a:solidFill>
              <a:srgbClr val="2A3456"/>
            </a:solidFill>
            <a:prstDash val="solid"/>
          </a:ln>
        </p:spPr>
      </p:sp>
      <p:sp>
        <p:nvSpPr>
          <p:cNvPr id="36" name="Shape 34"/>
          <p:cNvSpPr/>
          <p:nvPr/>
        </p:nvSpPr>
        <p:spPr>
          <a:xfrm>
            <a:off x="8046720" y="3931920"/>
            <a:ext cx="54864" cy="1874520"/>
          </a:xfrm>
          <a:prstGeom prst="rect">
            <a:avLst/>
          </a:prstGeom>
          <a:solidFill>
            <a:srgbClr val="A3E635"/>
          </a:solidFill>
          <a:ln w="12700">
            <a:solidFill>
              <a:srgbClr val="A3E635"/>
            </a:solidFill>
            <a:prstDash val="solid"/>
          </a:ln>
        </p:spPr>
      </p:sp>
      <p:sp>
        <p:nvSpPr>
          <p:cNvPr id="37" name="Text 35"/>
          <p:cNvSpPr/>
          <p:nvPr/>
        </p:nvSpPr>
        <p:spPr>
          <a:xfrm>
            <a:off x="8366760" y="4160520"/>
            <a:ext cx="1097280" cy="502920"/>
          </a:xfrm>
          <a:prstGeom prst="rect">
            <a:avLst/>
          </a:prstGeom>
          <a:noFill/>
          <a:ln/>
        </p:spPr>
        <p:txBody>
          <a:bodyPr wrap="square" lIns="0" tIns="0" rIns="0" bIns="0" rtlCol="0" anchor="ctr"/>
          <a:lstStyle/>
          <a:p>
            <a:pPr indent="0" marL="0">
              <a:buNone/>
            </a:pPr>
            <a:r>
              <a:rPr lang="en-US" sz="2800" b="1" dirty="0">
                <a:solidFill>
                  <a:srgbClr val="A3E635"/>
                </a:solidFill>
                <a:latin typeface="Georgia" pitchFamily="34" charset="0"/>
                <a:ea typeface="Georgia" pitchFamily="34" charset="-122"/>
                <a:cs typeface="Georgia" pitchFamily="34" charset="-120"/>
              </a:rPr>
              <a:t>06</a:t>
            </a:r>
            <a:endParaRPr lang="en-US" sz="2800" dirty="0"/>
          </a:p>
        </p:txBody>
      </p:sp>
      <p:sp>
        <p:nvSpPr>
          <p:cNvPr id="38" name="Text 36"/>
          <p:cNvSpPr/>
          <p:nvPr/>
        </p:nvSpPr>
        <p:spPr>
          <a:xfrm>
            <a:off x="8366760" y="4709160"/>
            <a:ext cx="2971800" cy="41148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The landscape</a:t>
            </a:r>
            <a:endParaRPr lang="en-US" sz="1800" dirty="0"/>
          </a:p>
        </p:txBody>
      </p:sp>
      <p:sp>
        <p:nvSpPr>
          <p:cNvPr id="39" name="Text 37"/>
          <p:cNvSpPr/>
          <p:nvPr/>
        </p:nvSpPr>
        <p:spPr>
          <a:xfrm>
            <a:off x="8366760" y="5120640"/>
            <a:ext cx="297180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Datadog, Dynatrace and how to choose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04</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FOUR MINUTES</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AI observability, explained</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889608" y="1508760"/>
            <a:ext cx="8412480" cy="47320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463040"/>
            <a:ext cx="3657600" cy="1463040"/>
          </a:xfrm>
          <a:prstGeom prst="rect">
            <a:avLst/>
          </a:prstGeom>
          <a:noFill/>
          <a:ln/>
        </p:spPr>
        <p:txBody>
          <a:bodyPr wrap="square" lIns="0" tIns="0" rIns="0" bIns="0" rtlCol="0" anchor="ctr"/>
          <a:lstStyle/>
          <a:p>
            <a:pPr indent="0" marL="0">
              <a:buNone/>
            </a:pPr>
            <a:r>
              <a:rPr lang="en-US" sz="11000" b="1" dirty="0">
                <a:solidFill>
                  <a:srgbClr val="1B2340"/>
                </a:solidFill>
                <a:latin typeface="Georgia" pitchFamily="34" charset="0"/>
                <a:ea typeface="Georgia" pitchFamily="34" charset="-122"/>
                <a:cs typeface="Georgia" pitchFamily="34" charset="-120"/>
              </a:rPr>
              <a:t>01</a:t>
            </a:r>
            <a:endParaRPr lang="en-US" sz="11000" dirty="0"/>
          </a:p>
        </p:txBody>
      </p:sp>
      <p:sp>
        <p:nvSpPr>
          <p:cNvPr id="3" name="Text 1"/>
          <p:cNvSpPr/>
          <p:nvPr/>
        </p:nvSpPr>
        <p:spPr>
          <a:xfrm>
            <a:off x="548640" y="2971800"/>
            <a:ext cx="8229600" cy="822960"/>
          </a:xfrm>
          <a:prstGeom prst="rect">
            <a:avLst/>
          </a:prstGeom>
          <a:noFill/>
          <a:ln/>
        </p:spPr>
        <p:txBody>
          <a:bodyPr wrap="square" lIns="0" tIns="0" rIns="0" bIns="0" rtlCol="0" anchor="ctr"/>
          <a:lstStyle/>
          <a:p>
            <a:pPr indent="0" marL="0">
              <a:buNone/>
            </a:pPr>
            <a:r>
              <a:rPr lang="en-US" sz="4400" b="1" dirty="0">
                <a:solidFill>
                  <a:srgbClr val="F8FAFC"/>
                </a:solidFill>
                <a:latin typeface="Georgia" pitchFamily="34" charset="0"/>
                <a:ea typeface="Georgia" pitchFamily="34" charset="-122"/>
                <a:cs typeface="Georgia" pitchFamily="34" charset="-120"/>
              </a:rPr>
              <a:t>Why AI needs observability</a:t>
            </a:r>
            <a:endParaRPr lang="en-US" sz="4400" dirty="0"/>
          </a:p>
        </p:txBody>
      </p:sp>
      <p:sp>
        <p:nvSpPr>
          <p:cNvPr id="4" name="Text 2"/>
          <p:cNvSpPr/>
          <p:nvPr/>
        </p:nvSpPr>
        <p:spPr>
          <a:xfrm>
            <a:off x="548640" y="3840480"/>
            <a:ext cx="8229600" cy="457200"/>
          </a:xfrm>
          <a:prstGeom prst="rect">
            <a:avLst/>
          </a:prstGeom>
          <a:noFill/>
          <a:ln/>
        </p:spPr>
        <p:txBody>
          <a:bodyPr wrap="square" lIns="0" tIns="0" rIns="0" bIns="0" rtlCol="0" anchor="ctr"/>
          <a:lstStyle/>
          <a:p>
            <a:pPr indent="0" marL="0">
              <a:buNone/>
            </a:pPr>
            <a:r>
              <a:rPr lang="en-US" sz="1800" dirty="0">
                <a:solidFill>
                  <a:srgbClr val="8A97B0"/>
                </a:solidFill>
                <a:latin typeface="Calibri" pitchFamily="34" charset="0"/>
                <a:ea typeface="Calibri" pitchFamily="34" charset="-122"/>
                <a:cs typeface="Calibri" pitchFamily="34" charset="-120"/>
              </a:rPr>
              <a:t>Monitoring tells you that. Observability tells you why.</a:t>
            </a:r>
            <a:endParaRPr lang="en-US" sz="1800" dirty="0"/>
          </a:p>
        </p:txBody>
      </p:sp>
      <p:sp>
        <p:nvSpPr>
          <p:cNvPr id="5" name="Shape 3"/>
          <p:cNvSpPr/>
          <p:nvPr/>
        </p:nvSpPr>
        <p:spPr>
          <a:xfrm>
            <a:off x="8351215" y="914400"/>
            <a:ext cx="3291840" cy="153619"/>
          </a:xfrm>
          <a:prstGeom prst="roundRect">
            <a:avLst>
              <a:gd name="adj" fmla="val 17857"/>
            </a:avLst>
          </a:prstGeom>
          <a:solidFill>
            <a:srgbClr val="8B5CF6"/>
          </a:solidFill>
          <a:ln w="12700">
            <a:solidFill>
              <a:srgbClr val="8B5CF6"/>
            </a:solidFill>
            <a:prstDash val="solid"/>
          </a:ln>
        </p:spPr>
      </p:sp>
      <p:sp>
        <p:nvSpPr>
          <p:cNvPr id="6" name="Shape 4"/>
          <p:cNvSpPr/>
          <p:nvPr/>
        </p:nvSpPr>
        <p:spPr>
          <a:xfrm>
            <a:off x="8482889" y="1199693"/>
            <a:ext cx="724205" cy="153619"/>
          </a:xfrm>
          <a:prstGeom prst="roundRect">
            <a:avLst>
              <a:gd name="adj" fmla="val 17857"/>
            </a:avLst>
          </a:prstGeom>
          <a:solidFill>
            <a:srgbClr val="22D3EE"/>
          </a:solidFill>
          <a:ln w="12700">
            <a:solidFill>
              <a:srgbClr val="22D3EE"/>
            </a:solidFill>
            <a:prstDash val="solid"/>
          </a:ln>
        </p:spPr>
      </p:sp>
      <p:sp>
        <p:nvSpPr>
          <p:cNvPr id="7" name="Shape 5"/>
          <p:cNvSpPr/>
          <p:nvPr/>
        </p:nvSpPr>
        <p:spPr>
          <a:xfrm>
            <a:off x="9240012" y="1484986"/>
            <a:ext cx="1185062" cy="153619"/>
          </a:xfrm>
          <a:prstGeom prst="roundRect">
            <a:avLst>
              <a:gd name="adj" fmla="val 17857"/>
            </a:avLst>
          </a:prstGeom>
          <a:solidFill>
            <a:srgbClr val="F5B53F"/>
          </a:solidFill>
          <a:ln w="12700">
            <a:solidFill>
              <a:srgbClr val="F5B53F"/>
            </a:solidFill>
            <a:prstDash val="solid"/>
          </a:ln>
        </p:spPr>
      </p:sp>
      <p:sp>
        <p:nvSpPr>
          <p:cNvPr id="8" name="Shape 6"/>
          <p:cNvSpPr/>
          <p:nvPr/>
        </p:nvSpPr>
        <p:spPr>
          <a:xfrm>
            <a:off x="10457993" y="1770278"/>
            <a:ext cx="1119226" cy="153619"/>
          </a:xfrm>
          <a:prstGeom prst="roundRect">
            <a:avLst>
              <a:gd name="adj" fmla="val 17857"/>
            </a:avLst>
          </a:prstGeom>
          <a:solidFill>
            <a:srgbClr val="2DD4BF"/>
          </a:solidFill>
          <a:ln w="12700">
            <a:solidFill>
              <a:srgbClr val="2DD4BF"/>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06</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TWO DIFFERENT QUESTIONS</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Monitoring vs observability</a:t>
            </a:r>
            <a:endParaRPr lang="en-US" sz="3200" dirty="0"/>
          </a:p>
        </p:txBody>
      </p:sp>
      <p:sp>
        <p:nvSpPr>
          <p:cNvPr id="10" name="Shape 8"/>
          <p:cNvSpPr/>
          <p:nvPr/>
        </p:nvSpPr>
        <p:spPr>
          <a:xfrm>
            <a:off x="548640" y="1828800"/>
            <a:ext cx="5394960" cy="4023360"/>
          </a:xfrm>
          <a:prstGeom prst="rect">
            <a:avLst/>
          </a:prstGeom>
          <a:solidFill>
            <a:srgbClr val="141A31"/>
          </a:solidFill>
          <a:ln w="9525">
            <a:solidFill>
              <a:srgbClr val="2A3456"/>
            </a:solidFill>
            <a:prstDash val="solid"/>
          </a:ln>
        </p:spPr>
      </p:sp>
      <p:sp>
        <p:nvSpPr>
          <p:cNvPr id="11" name="Shape 9"/>
          <p:cNvSpPr/>
          <p:nvPr/>
        </p:nvSpPr>
        <p:spPr>
          <a:xfrm>
            <a:off x="548640" y="1828800"/>
            <a:ext cx="54864" cy="4023360"/>
          </a:xfrm>
          <a:prstGeom prst="rect">
            <a:avLst/>
          </a:prstGeom>
          <a:solidFill>
            <a:srgbClr val="22D3EE"/>
          </a:solidFill>
          <a:ln w="12700">
            <a:solidFill>
              <a:srgbClr val="22D3EE"/>
            </a:solidFill>
            <a:prstDash val="solid"/>
          </a:ln>
        </p:spPr>
      </p:sp>
      <p:sp>
        <p:nvSpPr>
          <p:cNvPr id="12" name="Text 10"/>
          <p:cNvSpPr/>
          <p:nvPr/>
        </p:nvSpPr>
        <p:spPr>
          <a:xfrm>
            <a:off x="960120" y="2148840"/>
            <a:ext cx="3657600" cy="274320"/>
          </a:xfrm>
          <a:prstGeom prst="rect">
            <a:avLst/>
          </a:prstGeom>
          <a:noFill/>
          <a:ln/>
        </p:spPr>
        <p:txBody>
          <a:bodyPr wrap="square" lIns="0" tIns="0" rIns="0" bIns="0" rtlCol="0" anchor="t"/>
          <a:lstStyle/>
          <a:p>
            <a:pPr indent="0" marL="0">
              <a:buNone/>
            </a:pPr>
            <a:r>
              <a:rPr lang="en-US" sz="1200" b="1" spc="400" kern="0" dirty="0">
                <a:solidFill>
                  <a:srgbClr val="22D3EE"/>
                </a:solidFill>
                <a:latin typeface="Calibri" pitchFamily="34" charset="0"/>
                <a:ea typeface="Calibri" pitchFamily="34" charset="-122"/>
                <a:cs typeface="Calibri" pitchFamily="34" charset="-120"/>
              </a:rPr>
              <a:t>MONITORING</a:t>
            </a:r>
            <a:endParaRPr lang="en-US" sz="1200" dirty="0"/>
          </a:p>
        </p:txBody>
      </p:sp>
      <p:sp>
        <p:nvSpPr>
          <p:cNvPr id="13" name="Text 11"/>
          <p:cNvSpPr/>
          <p:nvPr/>
        </p:nvSpPr>
        <p:spPr>
          <a:xfrm>
            <a:off x="960120" y="2514600"/>
            <a:ext cx="4663440" cy="822960"/>
          </a:xfrm>
          <a:prstGeom prst="rect">
            <a:avLst/>
          </a:prstGeom>
          <a:noFill/>
          <a:ln/>
        </p:spPr>
        <p:txBody>
          <a:bodyPr wrap="square" lIns="0" tIns="0" rIns="0" bIns="0" rtlCol="0" anchor="ctr"/>
          <a:lstStyle/>
          <a:p>
            <a:pPr indent="0" marL="0">
              <a:buNone/>
            </a:pPr>
            <a:r>
              <a:rPr lang="en-US" sz="3400" i="1" dirty="0">
                <a:solidFill>
                  <a:srgbClr val="F8FAFC"/>
                </a:solidFill>
                <a:latin typeface="Georgia" pitchFamily="34" charset="0"/>
                <a:ea typeface="Georgia" pitchFamily="34" charset="-122"/>
                <a:cs typeface="Georgia" pitchFamily="34" charset="-120"/>
              </a:rPr>
              <a:t>Is it broken?</a:t>
            </a:r>
            <a:endParaRPr lang="en-US" sz="3400" dirty="0"/>
          </a:p>
        </p:txBody>
      </p:sp>
      <p:sp>
        <p:nvSpPr>
          <p:cNvPr id="14" name="Text 12"/>
          <p:cNvSpPr/>
          <p:nvPr/>
        </p:nvSpPr>
        <p:spPr>
          <a:xfrm>
            <a:off x="960120" y="3566160"/>
            <a:ext cx="4663440" cy="201168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rgbClr val="CBD5E1"/>
                </a:solidFill>
                <a:latin typeface="Calibri" pitchFamily="34" charset="0"/>
                <a:ea typeface="Calibri" pitchFamily="34" charset="-122"/>
                <a:cs typeface="Calibri" pitchFamily="34" charset="-120"/>
              </a:rPr>
              <a:t>Known questions, decided in advance</a:t>
            </a:r>
            <a:endParaRPr lang="en-US" sz="1700" dirty="0"/>
          </a:p>
          <a:p>
            <a:pPr marL="228600" indent="-228600">
              <a:spcAft>
                <a:spcPts val="1000"/>
              </a:spcAft>
              <a:buSzPct val="100000"/>
              <a:buChar char="•"/>
            </a:pPr>
            <a:r>
              <a:rPr lang="en-US" sz="1700" dirty="0">
                <a:solidFill>
                  <a:srgbClr val="CBD5E1"/>
                </a:solidFill>
                <a:latin typeface="Calibri" pitchFamily="34" charset="0"/>
                <a:ea typeface="Calibri" pitchFamily="34" charset="-122"/>
                <a:cs typeface="Calibri" pitchFamily="34" charset="-120"/>
              </a:rPr>
              <a:t>Dashboards and threshold alerts</a:t>
            </a:r>
            <a:endParaRPr lang="en-US" sz="1700" dirty="0"/>
          </a:p>
          <a:p>
            <a:pPr marL="228600" indent="-228600">
              <a:spcAft>
                <a:spcPts val="1000"/>
              </a:spcAft>
              <a:buSzPct val="100000"/>
              <a:buChar char="•"/>
            </a:pPr>
            <a:r>
              <a:rPr lang="en-US" sz="1700" dirty="0">
                <a:solidFill>
                  <a:srgbClr val="CBD5E1"/>
                </a:solidFill>
                <a:latin typeface="Calibri" pitchFamily="34" charset="0"/>
                <a:ea typeface="Calibri" pitchFamily="34" charset="-122"/>
                <a:cs typeface="Calibri" pitchFamily="34" charset="-120"/>
              </a:rPr>
              <a:t>Great for failures you predicted</a:t>
            </a:r>
            <a:endParaRPr lang="en-US" sz="1700" dirty="0"/>
          </a:p>
        </p:txBody>
      </p:sp>
      <p:sp>
        <p:nvSpPr>
          <p:cNvPr id="15" name="Shape 13"/>
          <p:cNvSpPr/>
          <p:nvPr/>
        </p:nvSpPr>
        <p:spPr>
          <a:xfrm>
            <a:off x="6172200" y="1828800"/>
            <a:ext cx="5394960" cy="4023360"/>
          </a:xfrm>
          <a:prstGeom prst="rect">
            <a:avLst/>
          </a:prstGeom>
          <a:solidFill>
            <a:srgbClr val="141A31"/>
          </a:solidFill>
          <a:ln w="9525">
            <a:solidFill>
              <a:srgbClr val="2A3456"/>
            </a:solidFill>
            <a:prstDash val="solid"/>
          </a:ln>
        </p:spPr>
      </p:sp>
      <p:sp>
        <p:nvSpPr>
          <p:cNvPr id="16" name="Shape 14"/>
          <p:cNvSpPr/>
          <p:nvPr/>
        </p:nvSpPr>
        <p:spPr>
          <a:xfrm>
            <a:off x="6172200" y="1828800"/>
            <a:ext cx="54864" cy="4023360"/>
          </a:xfrm>
          <a:prstGeom prst="rect">
            <a:avLst/>
          </a:prstGeom>
          <a:solidFill>
            <a:srgbClr val="F5B53F"/>
          </a:solidFill>
          <a:ln w="12700">
            <a:solidFill>
              <a:srgbClr val="F5B53F"/>
            </a:solidFill>
            <a:prstDash val="solid"/>
          </a:ln>
        </p:spPr>
      </p:sp>
      <p:sp>
        <p:nvSpPr>
          <p:cNvPr id="17" name="Text 15"/>
          <p:cNvSpPr/>
          <p:nvPr/>
        </p:nvSpPr>
        <p:spPr>
          <a:xfrm>
            <a:off x="6583680" y="2148840"/>
            <a:ext cx="3657600" cy="274320"/>
          </a:xfrm>
          <a:prstGeom prst="rect">
            <a:avLst/>
          </a:prstGeom>
          <a:noFill/>
          <a:ln/>
        </p:spPr>
        <p:txBody>
          <a:bodyPr wrap="square" lIns="0" tIns="0" rIns="0" bIns="0" rtlCol="0" anchor="t"/>
          <a:lstStyle/>
          <a:p>
            <a:pPr indent="0" marL="0">
              <a:buNone/>
            </a:pPr>
            <a:r>
              <a:rPr lang="en-US" sz="1200" b="1" spc="400" kern="0" dirty="0">
                <a:solidFill>
                  <a:srgbClr val="F5B53F"/>
                </a:solidFill>
                <a:latin typeface="Calibri" pitchFamily="34" charset="0"/>
                <a:ea typeface="Calibri" pitchFamily="34" charset="-122"/>
                <a:cs typeface="Calibri" pitchFamily="34" charset="-120"/>
              </a:rPr>
              <a:t>OBSERVABILITY</a:t>
            </a:r>
            <a:endParaRPr lang="en-US" sz="1200" dirty="0"/>
          </a:p>
        </p:txBody>
      </p:sp>
      <p:sp>
        <p:nvSpPr>
          <p:cNvPr id="18" name="Text 16"/>
          <p:cNvSpPr/>
          <p:nvPr/>
        </p:nvSpPr>
        <p:spPr>
          <a:xfrm>
            <a:off x="6583680" y="2514600"/>
            <a:ext cx="4663440" cy="822960"/>
          </a:xfrm>
          <a:prstGeom prst="rect">
            <a:avLst/>
          </a:prstGeom>
          <a:noFill/>
          <a:ln/>
        </p:spPr>
        <p:txBody>
          <a:bodyPr wrap="square" lIns="0" tIns="0" rIns="0" bIns="0" rtlCol="0" anchor="ctr"/>
          <a:lstStyle/>
          <a:p>
            <a:pPr indent="0" marL="0">
              <a:buNone/>
            </a:pPr>
            <a:r>
              <a:rPr lang="en-US" sz="3400" i="1" dirty="0">
                <a:solidFill>
                  <a:srgbClr val="F8FAFC"/>
                </a:solidFill>
                <a:latin typeface="Georgia" pitchFamily="34" charset="0"/>
                <a:ea typeface="Georgia" pitchFamily="34" charset="-122"/>
                <a:cs typeface="Georgia" pitchFamily="34" charset="-120"/>
              </a:rPr>
              <a:t>Why is it broken?</a:t>
            </a:r>
            <a:endParaRPr lang="en-US" sz="3400" dirty="0"/>
          </a:p>
        </p:txBody>
      </p:sp>
      <p:sp>
        <p:nvSpPr>
          <p:cNvPr id="19" name="Text 17"/>
          <p:cNvSpPr/>
          <p:nvPr/>
        </p:nvSpPr>
        <p:spPr>
          <a:xfrm>
            <a:off x="6583680" y="3566160"/>
            <a:ext cx="4663440" cy="201168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rgbClr val="CBD5E1"/>
                </a:solidFill>
                <a:latin typeface="Calibri" pitchFamily="34" charset="0"/>
                <a:ea typeface="Calibri" pitchFamily="34" charset="-122"/>
                <a:cs typeface="Calibri" pitchFamily="34" charset="-120"/>
              </a:rPr>
              <a:t>New questions, asked after the fact</a:t>
            </a:r>
            <a:endParaRPr lang="en-US" sz="1700" dirty="0"/>
          </a:p>
          <a:p>
            <a:pPr marL="228600" indent="-228600">
              <a:spcAft>
                <a:spcPts val="1000"/>
              </a:spcAft>
              <a:buSzPct val="100000"/>
              <a:buChar char="•"/>
            </a:pPr>
            <a:r>
              <a:rPr lang="en-US" sz="1700" dirty="0">
                <a:solidFill>
                  <a:srgbClr val="CBD5E1"/>
                </a:solidFill>
                <a:latin typeface="Calibri" pitchFamily="34" charset="0"/>
                <a:ea typeface="Calibri" pitchFamily="34" charset="-122"/>
                <a:cs typeface="Calibri" pitchFamily="34" charset="-120"/>
              </a:rPr>
              <a:t>Answered from data the system emits</a:t>
            </a:r>
            <a:endParaRPr lang="en-US" sz="1700" dirty="0"/>
          </a:p>
          <a:p>
            <a:pPr marL="228600" indent="-228600">
              <a:spcAft>
                <a:spcPts val="1000"/>
              </a:spcAft>
              <a:buSzPct val="100000"/>
              <a:buChar char="•"/>
            </a:pPr>
            <a:r>
              <a:rPr lang="en-US" sz="1700" dirty="0">
                <a:solidFill>
                  <a:srgbClr val="CBD5E1"/>
                </a:solidFill>
                <a:latin typeface="Calibri" pitchFamily="34" charset="0"/>
                <a:ea typeface="Calibri" pitchFamily="34" charset="-122"/>
                <a:cs typeface="Calibri" pitchFamily="34" charset="-120"/>
              </a:rPr>
              <a:t>Built for failures you did not predict</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07</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THE RULES CHANGED</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Traditional apps vs AI apps</a:t>
            </a:r>
            <a:endParaRPr lang="en-US" sz="3200" dirty="0"/>
          </a:p>
        </p:txBody>
      </p:sp>
      <p:sp>
        <p:nvSpPr>
          <p:cNvPr id="10" name="Text 8"/>
          <p:cNvSpPr/>
          <p:nvPr/>
        </p:nvSpPr>
        <p:spPr>
          <a:xfrm>
            <a:off x="1325880" y="1691640"/>
            <a:ext cx="3657600" cy="274320"/>
          </a:xfrm>
          <a:prstGeom prst="rect">
            <a:avLst/>
          </a:prstGeom>
          <a:noFill/>
          <a:ln/>
        </p:spPr>
        <p:txBody>
          <a:bodyPr wrap="square" lIns="0" tIns="0" rIns="0" bIns="0" rtlCol="0" anchor="t"/>
          <a:lstStyle/>
          <a:p>
            <a:pPr indent="0" marL="0">
              <a:buNone/>
            </a:pPr>
            <a:r>
              <a:rPr lang="en-US" sz="1100" b="1" spc="300" kern="0" dirty="0">
                <a:solidFill>
                  <a:srgbClr val="8A97B0"/>
                </a:solidFill>
                <a:latin typeface="Calibri" pitchFamily="34" charset="0"/>
                <a:ea typeface="Calibri" pitchFamily="34" charset="-122"/>
                <a:cs typeface="Calibri" pitchFamily="34" charset="-120"/>
              </a:rPr>
              <a:t>TRADITIONAL APP</a:t>
            </a:r>
            <a:endParaRPr lang="en-US" sz="1100" dirty="0"/>
          </a:p>
        </p:txBody>
      </p:sp>
      <p:sp>
        <p:nvSpPr>
          <p:cNvPr id="11" name="Text 9"/>
          <p:cNvSpPr/>
          <p:nvPr/>
        </p:nvSpPr>
        <p:spPr>
          <a:xfrm>
            <a:off x="6355080" y="1691640"/>
            <a:ext cx="3657600" cy="274320"/>
          </a:xfrm>
          <a:prstGeom prst="rect">
            <a:avLst/>
          </a:prstGeom>
          <a:noFill/>
          <a:ln/>
        </p:spPr>
        <p:txBody>
          <a:bodyPr wrap="square" lIns="0" tIns="0" rIns="0" bIns="0" rtlCol="0" anchor="t"/>
          <a:lstStyle/>
          <a:p>
            <a:pPr indent="0" marL="0">
              <a:buNone/>
            </a:pPr>
            <a:r>
              <a:rPr lang="en-US" sz="1100" b="1" spc="300" kern="0" dirty="0">
                <a:solidFill>
                  <a:srgbClr val="F5B53F"/>
                </a:solidFill>
                <a:latin typeface="Calibri" pitchFamily="34" charset="0"/>
                <a:ea typeface="Calibri" pitchFamily="34" charset="-122"/>
                <a:cs typeface="Calibri" pitchFamily="34" charset="-120"/>
              </a:rPr>
              <a:t>AI APP</a:t>
            </a:r>
            <a:endParaRPr lang="en-US" sz="1100" dirty="0"/>
          </a:p>
        </p:txBody>
      </p:sp>
      <p:sp>
        <p:nvSpPr>
          <p:cNvPr id="12" name="Shape 10"/>
          <p:cNvSpPr/>
          <p:nvPr/>
        </p:nvSpPr>
        <p:spPr>
          <a:xfrm>
            <a:off x="548640" y="2057400"/>
            <a:ext cx="11094415" cy="676656"/>
          </a:xfrm>
          <a:prstGeom prst="rect">
            <a:avLst/>
          </a:prstGeom>
          <a:solidFill>
            <a:srgbClr val="141A31"/>
          </a:solidFill>
          <a:ln w="9525">
            <a:solidFill>
              <a:srgbClr val="2A3456"/>
            </a:solidFill>
            <a:prstDash val="solid"/>
          </a:ln>
        </p:spPr>
      </p:sp>
      <p:pic>
        <p:nvPicPr>
          <p:cNvPr id="13" name="Image 0" descr="preencoded.png">    </p:cNvPr>
          <p:cNvPicPr>
            <a:picLocks noChangeAspect="1"/>
          </p:cNvPicPr>
          <p:nvPr/>
        </p:nvPicPr>
        <p:blipFill>
          <a:blip r:embed="rId1"/>
          <a:stretch>
            <a:fillRect/>
          </a:stretch>
        </p:blipFill>
        <p:spPr>
          <a:xfrm>
            <a:off x="822960" y="2240280"/>
            <a:ext cx="310896" cy="310896"/>
          </a:xfrm>
          <a:prstGeom prst="rect">
            <a:avLst/>
          </a:prstGeom>
        </p:spPr>
      </p:pic>
      <p:sp>
        <p:nvSpPr>
          <p:cNvPr id="14" name="Text 11"/>
          <p:cNvSpPr/>
          <p:nvPr/>
        </p:nvSpPr>
        <p:spPr>
          <a:xfrm>
            <a:off x="1325880" y="2057400"/>
            <a:ext cx="4754880" cy="676656"/>
          </a:xfrm>
          <a:prstGeom prst="rect">
            <a:avLst/>
          </a:prstGeom>
          <a:noFill/>
          <a:ln/>
        </p:spPr>
        <p:txBody>
          <a:bodyPr wrap="square" lIns="0" tIns="0" rIns="0" bIns="0" rtlCol="0" anchor="ctr"/>
          <a:lstStyle/>
          <a:p>
            <a:pPr indent="0" marL="0">
              <a:buNone/>
            </a:pPr>
            <a:r>
              <a:rPr lang="en-US" sz="1600" dirty="0">
                <a:solidFill>
                  <a:srgbClr val="8A97B0"/>
                </a:solidFill>
                <a:latin typeface="Calibri" pitchFamily="34" charset="0"/>
                <a:ea typeface="Calibri" pitchFamily="34" charset="-122"/>
                <a:cs typeface="Calibri" pitchFamily="34" charset="-120"/>
              </a:rPr>
              <a:t>Same input, same output</a:t>
            </a:r>
            <a:endParaRPr lang="en-US" sz="1600" dirty="0"/>
          </a:p>
        </p:txBody>
      </p:sp>
      <p:sp>
        <p:nvSpPr>
          <p:cNvPr id="15" name="Text 12"/>
          <p:cNvSpPr/>
          <p:nvPr/>
        </p:nvSpPr>
        <p:spPr>
          <a:xfrm>
            <a:off x="6355080" y="2057400"/>
            <a:ext cx="5120640" cy="676656"/>
          </a:xfrm>
          <a:prstGeom prst="rect">
            <a:avLst/>
          </a:prstGeom>
          <a:noFill/>
          <a:ln/>
        </p:spPr>
        <p:txBody>
          <a:bodyPr wrap="square" lIns="0" tIns="0" rIns="0" bIns="0" rtlCol="0" anchor="ctr"/>
          <a:lstStyle/>
          <a:p>
            <a:pPr indent="0" marL="0">
              <a:buNone/>
            </a:pPr>
            <a:r>
              <a:rPr lang="en-US" sz="1600" b="1" dirty="0">
                <a:solidFill>
                  <a:srgbClr val="F8FAFC"/>
                </a:solidFill>
                <a:latin typeface="Calibri" pitchFamily="34" charset="0"/>
                <a:ea typeface="Calibri" pitchFamily="34" charset="-122"/>
                <a:cs typeface="Calibri" pitchFamily="34" charset="-120"/>
              </a:rPr>
              <a:t>Same input, different output</a:t>
            </a:r>
            <a:endParaRPr lang="en-US" sz="1600" dirty="0"/>
          </a:p>
        </p:txBody>
      </p:sp>
      <p:sp>
        <p:nvSpPr>
          <p:cNvPr id="16" name="Shape 13"/>
          <p:cNvSpPr/>
          <p:nvPr/>
        </p:nvSpPr>
        <p:spPr>
          <a:xfrm>
            <a:off x="548640" y="2862072"/>
            <a:ext cx="11094415" cy="676656"/>
          </a:xfrm>
          <a:prstGeom prst="rect">
            <a:avLst/>
          </a:prstGeom>
          <a:solidFill>
            <a:srgbClr val="141A31"/>
          </a:solidFill>
          <a:ln w="9525">
            <a:solidFill>
              <a:srgbClr val="2A3456"/>
            </a:solidFill>
            <a:prstDash val="solid"/>
          </a:ln>
        </p:spPr>
      </p:sp>
      <p:sp>
        <p:nvSpPr>
          <p:cNvPr id="17" name="Shape 14"/>
          <p:cNvSpPr/>
          <p:nvPr/>
        </p:nvSpPr>
        <p:spPr>
          <a:xfrm>
            <a:off x="548640" y="2862072"/>
            <a:ext cx="54864" cy="676656"/>
          </a:xfrm>
          <a:prstGeom prst="rect">
            <a:avLst/>
          </a:prstGeom>
          <a:solidFill>
            <a:srgbClr val="F43F5E"/>
          </a:solidFill>
          <a:ln w="12700">
            <a:solidFill>
              <a:srgbClr val="F43F5E"/>
            </a:solidFill>
            <a:prstDash val="solid"/>
          </a:ln>
        </p:spPr>
      </p:sp>
      <p:pic>
        <p:nvPicPr>
          <p:cNvPr id="18" name="Image 1" descr="preencoded.png">    </p:cNvPr>
          <p:cNvPicPr>
            <a:picLocks noChangeAspect="1"/>
          </p:cNvPicPr>
          <p:nvPr/>
        </p:nvPicPr>
        <p:blipFill>
          <a:blip r:embed="rId2"/>
          <a:stretch>
            <a:fillRect/>
          </a:stretch>
        </p:blipFill>
        <p:spPr>
          <a:xfrm>
            <a:off x="822960" y="3044952"/>
            <a:ext cx="310896" cy="310896"/>
          </a:xfrm>
          <a:prstGeom prst="rect">
            <a:avLst/>
          </a:prstGeom>
        </p:spPr>
      </p:pic>
      <p:sp>
        <p:nvSpPr>
          <p:cNvPr id="19" name="Text 15"/>
          <p:cNvSpPr/>
          <p:nvPr/>
        </p:nvSpPr>
        <p:spPr>
          <a:xfrm>
            <a:off x="1325880" y="2862072"/>
            <a:ext cx="4754880" cy="676656"/>
          </a:xfrm>
          <a:prstGeom prst="rect">
            <a:avLst/>
          </a:prstGeom>
          <a:noFill/>
          <a:ln/>
        </p:spPr>
        <p:txBody>
          <a:bodyPr wrap="square" lIns="0" tIns="0" rIns="0" bIns="0" rtlCol="0" anchor="ctr"/>
          <a:lstStyle/>
          <a:p>
            <a:pPr indent="0" marL="0">
              <a:buNone/>
            </a:pPr>
            <a:r>
              <a:rPr lang="en-US" sz="1600" dirty="0">
                <a:solidFill>
                  <a:srgbClr val="8A97B0"/>
                </a:solidFill>
                <a:latin typeface="Calibri" pitchFamily="34" charset="0"/>
                <a:ea typeface="Calibri" pitchFamily="34" charset="-122"/>
                <a:cs typeface="Calibri" pitchFamily="34" charset="-120"/>
              </a:rPr>
              <a:t>Failure is an exception or a 500</a:t>
            </a:r>
            <a:endParaRPr lang="en-US" sz="1600" dirty="0"/>
          </a:p>
        </p:txBody>
      </p:sp>
      <p:sp>
        <p:nvSpPr>
          <p:cNvPr id="20" name="Text 16"/>
          <p:cNvSpPr/>
          <p:nvPr/>
        </p:nvSpPr>
        <p:spPr>
          <a:xfrm>
            <a:off x="6355080" y="2862072"/>
            <a:ext cx="5120640" cy="676656"/>
          </a:xfrm>
          <a:prstGeom prst="rect">
            <a:avLst/>
          </a:prstGeom>
          <a:noFill/>
          <a:ln/>
        </p:spPr>
        <p:txBody>
          <a:bodyPr wrap="square" lIns="0" tIns="0" rIns="0" bIns="0" rtlCol="0" anchor="ctr"/>
          <a:lstStyle/>
          <a:p>
            <a:pPr indent="0" marL="0">
              <a:buNone/>
            </a:pPr>
            <a:r>
              <a:rPr lang="en-US" sz="1600" b="1" dirty="0">
                <a:solidFill>
                  <a:srgbClr val="F8FAFC"/>
                </a:solidFill>
                <a:latin typeface="Calibri" pitchFamily="34" charset="0"/>
                <a:ea typeface="Calibri" pitchFamily="34" charset="-122"/>
                <a:cs typeface="Calibri" pitchFamily="34" charset="-120"/>
              </a:rPr>
              <a:t>Failure is a confident wrong answer with HTTP 200</a:t>
            </a:r>
            <a:endParaRPr lang="en-US" sz="1600" dirty="0"/>
          </a:p>
        </p:txBody>
      </p:sp>
      <p:sp>
        <p:nvSpPr>
          <p:cNvPr id="21" name="Shape 17"/>
          <p:cNvSpPr/>
          <p:nvPr/>
        </p:nvSpPr>
        <p:spPr>
          <a:xfrm>
            <a:off x="548640" y="3666744"/>
            <a:ext cx="11094415" cy="676656"/>
          </a:xfrm>
          <a:prstGeom prst="rect">
            <a:avLst/>
          </a:prstGeom>
          <a:solidFill>
            <a:srgbClr val="141A31"/>
          </a:solidFill>
          <a:ln w="9525">
            <a:solidFill>
              <a:srgbClr val="2A3456"/>
            </a:solidFill>
            <a:prstDash val="solid"/>
          </a:ln>
        </p:spPr>
      </p:sp>
      <p:pic>
        <p:nvPicPr>
          <p:cNvPr id="22" name="Image 2" descr="preencoded.png">    </p:cNvPr>
          <p:cNvPicPr>
            <a:picLocks noChangeAspect="1"/>
          </p:cNvPicPr>
          <p:nvPr/>
        </p:nvPicPr>
        <p:blipFill>
          <a:blip r:embed="rId3"/>
          <a:stretch>
            <a:fillRect/>
          </a:stretch>
        </p:blipFill>
        <p:spPr>
          <a:xfrm>
            <a:off x="822960" y="3849624"/>
            <a:ext cx="310896" cy="310896"/>
          </a:xfrm>
          <a:prstGeom prst="rect">
            <a:avLst/>
          </a:prstGeom>
        </p:spPr>
      </p:pic>
      <p:sp>
        <p:nvSpPr>
          <p:cNvPr id="23" name="Text 18"/>
          <p:cNvSpPr/>
          <p:nvPr/>
        </p:nvSpPr>
        <p:spPr>
          <a:xfrm>
            <a:off x="1325880" y="3666744"/>
            <a:ext cx="4754880" cy="676656"/>
          </a:xfrm>
          <a:prstGeom prst="rect">
            <a:avLst/>
          </a:prstGeom>
          <a:noFill/>
          <a:ln/>
        </p:spPr>
        <p:txBody>
          <a:bodyPr wrap="square" lIns="0" tIns="0" rIns="0" bIns="0" rtlCol="0" anchor="ctr"/>
          <a:lstStyle/>
          <a:p>
            <a:pPr indent="0" marL="0">
              <a:buNone/>
            </a:pPr>
            <a:r>
              <a:rPr lang="en-US" sz="1600" dirty="0">
                <a:solidFill>
                  <a:srgbClr val="8A97B0"/>
                </a:solidFill>
                <a:latin typeface="Calibri" pitchFamily="34" charset="0"/>
                <a:ea typeface="Calibri" pitchFamily="34" charset="-122"/>
                <a:cs typeface="Calibri" pitchFamily="34" charset="-120"/>
              </a:rPr>
              <a:t>Cost is roughly fixed infrastructure</a:t>
            </a:r>
            <a:endParaRPr lang="en-US" sz="1600" dirty="0"/>
          </a:p>
        </p:txBody>
      </p:sp>
      <p:sp>
        <p:nvSpPr>
          <p:cNvPr id="24" name="Text 19"/>
          <p:cNvSpPr/>
          <p:nvPr/>
        </p:nvSpPr>
        <p:spPr>
          <a:xfrm>
            <a:off x="6355080" y="3666744"/>
            <a:ext cx="5120640" cy="676656"/>
          </a:xfrm>
          <a:prstGeom prst="rect">
            <a:avLst/>
          </a:prstGeom>
          <a:noFill/>
          <a:ln/>
        </p:spPr>
        <p:txBody>
          <a:bodyPr wrap="square" lIns="0" tIns="0" rIns="0" bIns="0" rtlCol="0" anchor="ctr"/>
          <a:lstStyle/>
          <a:p>
            <a:pPr indent="0" marL="0">
              <a:buNone/>
            </a:pPr>
            <a:r>
              <a:rPr lang="en-US" sz="1600" b="1" dirty="0">
                <a:solidFill>
                  <a:srgbClr val="F8FAFC"/>
                </a:solidFill>
                <a:latin typeface="Calibri" pitchFamily="34" charset="0"/>
                <a:ea typeface="Calibri" pitchFamily="34" charset="-122"/>
                <a:cs typeface="Calibri" pitchFamily="34" charset="-120"/>
              </a:rPr>
              <a:t>Every request costs money, measured in tokens</a:t>
            </a:r>
            <a:endParaRPr lang="en-US" sz="1600" dirty="0"/>
          </a:p>
        </p:txBody>
      </p:sp>
      <p:sp>
        <p:nvSpPr>
          <p:cNvPr id="25" name="Shape 20"/>
          <p:cNvSpPr/>
          <p:nvPr/>
        </p:nvSpPr>
        <p:spPr>
          <a:xfrm>
            <a:off x="548640" y="4471416"/>
            <a:ext cx="11094415" cy="676656"/>
          </a:xfrm>
          <a:prstGeom prst="rect">
            <a:avLst/>
          </a:prstGeom>
          <a:solidFill>
            <a:srgbClr val="141A31"/>
          </a:solidFill>
          <a:ln w="9525">
            <a:solidFill>
              <a:srgbClr val="2A3456"/>
            </a:solidFill>
            <a:prstDash val="solid"/>
          </a:ln>
        </p:spPr>
      </p:sp>
      <p:pic>
        <p:nvPicPr>
          <p:cNvPr id="26" name="Image 3" descr="preencoded.png">    </p:cNvPr>
          <p:cNvPicPr>
            <a:picLocks noChangeAspect="1"/>
          </p:cNvPicPr>
          <p:nvPr/>
        </p:nvPicPr>
        <p:blipFill>
          <a:blip r:embed="rId4"/>
          <a:stretch>
            <a:fillRect/>
          </a:stretch>
        </p:blipFill>
        <p:spPr>
          <a:xfrm>
            <a:off x="822960" y="4654296"/>
            <a:ext cx="310896" cy="310896"/>
          </a:xfrm>
          <a:prstGeom prst="rect">
            <a:avLst/>
          </a:prstGeom>
        </p:spPr>
      </p:pic>
      <p:sp>
        <p:nvSpPr>
          <p:cNvPr id="27" name="Text 21"/>
          <p:cNvSpPr/>
          <p:nvPr/>
        </p:nvSpPr>
        <p:spPr>
          <a:xfrm>
            <a:off x="1325880" y="4471416"/>
            <a:ext cx="4754880" cy="676656"/>
          </a:xfrm>
          <a:prstGeom prst="rect">
            <a:avLst/>
          </a:prstGeom>
          <a:noFill/>
          <a:ln/>
        </p:spPr>
        <p:txBody>
          <a:bodyPr wrap="square" lIns="0" tIns="0" rIns="0" bIns="0" rtlCol="0" anchor="ctr"/>
          <a:lstStyle/>
          <a:p>
            <a:pPr indent="0" marL="0">
              <a:buNone/>
            </a:pPr>
            <a:r>
              <a:rPr lang="en-US" sz="1600" dirty="0">
                <a:solidFill>
                  <a:srgbClr val="8A97B0"/>
                </a:solidFill>
                <a:latin typeface="Calibri" pitchFamily="34" charset="0"/>
                <a:ea typeface="Calibri" pitchFamily="34" charset="-122"/>
                <a:cs typeface="Calibri" pitchFamily="34" charset="-120"/>
              </a:rPr>
              <a:t>Logic lives in code</a:t>
            </a:r>
            <a:endParaRPr lang="en-US" sz="1600" dirty="0"/>
          </a:p>
        </p:txBody>
      </p:sp>
      <p:sp>
        <p:nvSpPr>
          <p:cNvPr id="28" name="Text 22"/>
          <p:cNvSpPr/>
          <p:nvPr/>
        </p:nvSpPr>
        <p:spPr>
          <a:xfrm>
            <a:off x="6355080" y="4471416"/>
            <a:ext cx="5120640" cy="676656"/>
          </a:xfrm>
          <a:prstGeom prst="rect">
            <a:avLst/>
          </a:prstGeom>
          <a:noFill/>
          <a:ln/>
        </p:spPr>
        <p:txBody>
          <a:bodyPr wrap="square" lIns="0" tIns="0" rIns="0" bIns="0" rtlCol="0" anchor="ctr"/>
          <a:lstStyle/>
          <a:p>
            <a:pPr indent="0" marL="0">
              <a:buNone/>
            </a:pPr>
            <a:r>
              <a:rPr lang="en-US" sz="1600" b="1" dirty="0">
                <a:solidFill>
                  <a:srgbClr val="F8FAFC"/>
                </a:solidFill>
                <a:latin typeface="Calibri" pitchFamily="34" charset="0"/>
                <a:ea typeface="Calibri" pitchFamily="34" charset="-122"/>
                <a:cs typeface="Calibri" pitchFamily="34" charset="-120"/>
              </a:rPr>
              <a:t>Logic lives in prompts, models and tools</a:t>
            </a:r>
            <a:endParaRPr lang="en-US" sz="1600" dirty="0"/>
          </a:p>
        </p:txBody>
      </p:sp>
      <p:sp>
        <p:nvSpPr>
          <p:cNvPr id="29" name="Shape 23"/>
          <p:cNvSpPr/>
          <p:nvPr/>
        </p:nvSpPr>
        <p:spPr>
          <a:xfrm>
            <a:off x="548640" y="5276088"/>
            <a:ext cx="11094415" cy="676656"/>
          </a:xfrm>
          <a:prstGeom prst="rect">
            <a:avLst/>
          </a:prstGeom>
          <a:solidFill>
            <a:srgbClr val="141A31"/>
          </a:solidFill>
          <a:ln w="9525">
            <a:solidFill>
              <a:srgbClr val="2A3456"/>
            </a:solidFill>
            <a:prstDash val="solid"/>
          </a:ln>
        </p:spPr>
      </p:sp>
      <p:pic>
        <p:nvPicPr>
          <p:cNvPr id="30" name="Image 4" descr="preencoded.png">    </p:cNvPr>
          <p:cNvPicPr>
            <a:picLocks noChangeAspect="1"/>
          </p:cNvPicPr>
          <p:nvPr/>
        </p:nvPicPr>
        <p:blipFill>
          <a:blip r:embed="rId5"/>
          <a:stretch>
            <a:fillRect/>
          </a:stretch>
        </p:blipFill>
        <p:spPr>
          <a:xfrm>
            <a:off x="822960" y="5458968"/>
            <a:ext cx="310896" cy="310896"/>
          </a:xfrm>
          <a:prstGeom prst="rect">
            <a:avLst/>
          </a:prstGeom>
        </p:spPr>
      </p:pic>
      <p:sp>
        <p:nvSpPr>
          <p:cNvPr id="31" name="Text 24"/>
          <p:cNvSpPr/>
          <p:nvPr/>
        </p:nvSpPr>
        <p:spPr>
          <a:xfrm>
            <a:off x="1325880" y="5276088"/>
            <a:ext cx="4754880" cy="676656"/>
          </a:xfrm>
          <a:prstGeom prst="rect">
            <a:avLst/>
          </a:prstGeom>
          <a:noFill/>
          <a:ln/>
        </p:spPr>
        <p:txBody>
          <a:bodyPr wrap="square" lIns="0" tIns="0" rIns="0" bIns="0" rtlCol="0" anchor="ctr"/>
          <a:lstStyle/>
          <a:p>
            <a:pPr indent="0" marL="0">
              <a:buNone/>
            </a:pPr>
            <a:r>
              <a:rPr lang="en-US" sz="1600" dirty="0">
                <a:solidFill>
                  <a:srgbClr val="8A97B0"/>
                </a:solidFill>
                <a:latin typeface="Calibri" pitchFamily="34" charset="0"/>
                <a:ea typeface="Calibri" pitchFamily="34" charset="-122"/>
                <a:cs typeface="Calibri" pitchFamily="34" charset="-120"/>
              </a:rPr>
              <a:t>Milliseconds, predictable</a:t>
            </a:r>
            <a:endParaRPr lang="en-US" sz="1600" dirty="0"/>
          </a:p>
        </p:txBody>
      </p:sp>
      <p:sp>
        <p:nvSpPr>
          <p:cNvPr id="32" name="Text 25"/>
          <p:cNvSpPr/>
          <p:nvPr/>
        </p:nvSpPr>
        <p:spPr>
          <a:xfrm>
            <a:off x="6355080" y="5276088"/>
            <a:ext cx="5120640" cy="676656"/>
          </a:xfrm>
          <a:prstGeom prst="rect">
            <a:avLst/>
          </a:prstGeom>
          <a:noFill/>
          <a:ln/>
        </p:spPr>
        <p:txBody>
          <a:bodyPr wrap="square" lIns="0" tIns="0" rIns="0" bIns="0" rtlCol="0" anchor="ctr"/>
          <a:lstStyle/>
          <a:p>
            <a:pPr indent="0" marL="0">
              <a:buNone/>
            </a:pPr>
            <a:r>
              <a:rPr lang="en-US" sz="1600" b="1" dirty="0">
                <a:solidFill>
                  <a:srgbClr val="F8FAFC"/>
                </a:solidFill>
                <a:latin typeface="Calibri" pitchFamily="34" charset="0"/>
                <a:ea typeface="Calibri" pitchFamily="34" charset="-122"/>
                <a:cs typeface="Calibri" pitchFamily="34" charset="-120"/>
              </a:rPr>
              <a:t>Seconds, highly variable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08</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WHERE THINGS GO WRONG</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An agent is a chain of decisions</a:t>
            </a:r>
            <a:endParaRPr lang="en-US" sz="3200" dirty="0"/>
          </a:p>
        </p:txBody>
      </p:sp>
      <p:sp>
        <p:nvSpPr>
          <p:cNvPr id="10" name="Text 8"/>
          <p:cNvSpPr/>
          <p:nvPr/>
        </p:nvSpPr>
        <p:spPr>
          <a:xfrm>
            <a:off x="548640" y="1371600"/>
            <a:ext cx="11094415" cy="365760"/>
          </a:xfrm>
          <a:prstGeom prst="rect">
            <a:avLst/>
          </a:prstGeom>
          <a:noFill/>
          <a:ln/>
        </p:spPr>
        <p:txBody>
          <a:bodyPr wrap="square" lIns="0" tIns="0" rIns="0" bIns="0" rtlCol="0" anchor="ctr"/>
          <a:lstStyle/>
          <a:p>
            <a:pPr indent="0" marL="0">
              <a:buNone/>
            </a:pPr>
            <a:r>
              <a:rPr lang="en-US" sz="1500" dirty="0">
                <a:solidFill>
                  <a:srgbClr val="8A97B0"/>
                </a:solidFill>
                <a:latin typeface="Calibri" pitchFamily="34" charset="0"/>
                <a:ea typeface="Calibri" pitchFamily="34" charset="-122"/>
                <a:cs typeface="Calibri" pitchFamily="34" charset="-120"/>
              </a:rPr>
              <a:t>Five to twenty steps per request. Any one of them can ruin the final answer.</a:t>
            </a:r>
            <a:endParaRPr lang="en-US" sz="1500" dirty="0"/>
          </a:p>
        </p:txBody>
      </p:sp>
      <p:sp>
        <p:nvSpPr>
          <p:cNvPr id="11" name="Shape 9"/>
          <p:cNvSpPr/>
          <p:nvPr/>
        </p:nvSpPr>
        <p:spPr>
          <a:xfrm>
            <a:off x="548640" y="2926080"/>
            <a:ext cx="1353312" cy="914400"/>
          </a:xfrm>
          <a:prstGeom prst="roundRect">
            <a:avLst>
              <a:gd name="adj" fmla="val 10000"/>
            </a:avLst>
          </a:prstGeom>
          <a:solidFill>
            <a:srgbClr val="141A31"/>
          </a:solidFill>
          <a:ln w="19050">
            <a:solidFill>
              <a:srgbClr val="8A97B0"/>
            </a:solidFill>
            <a:prstDash val="solid"/>
          </a:ln>
        </p:spPr>
      </p:sp>
      <p:sp>
        <p:nvSpPr>
          <p:cNvPr id="12" name="Text 10"/>
          <p:cNvSpPr/>
          <p:nvPr/>
        </p:nvSpPr>
        <p:spPr>
          <a:xfrm>
            <a:off x="548640" y="2926080"/>
            <a:ext cx="1353312" cy="914400"/>
          </a:xfrm>
          <a:prstGeom prst="rect">
            <a:avLst/>
          </a:prstGeom>
          <a:noFill/>
          <a:ln/>
        </p:spPr>
        <p:txBody>
          <a:bodyPr wrap="square" lIns="0" tIns="0" rIns="0" bIns="0" rtlCol="0" anchor="ctr"/>
          <a:lstStyle/>
          <a:p>
            <a:pPr algn="ctr" indent="0" marL="0">
              <a:buNone/>
            </a:pPr>
            <a:r>
              <a:rPr lang="en-US" sz="1300" dirty="0">
                <a:solidFill>
                  <a:srgbClr val="F8FAFC"/>
                </a:solidFill>
                <a:latin typeface="Consolas" pitchFamily="34" charset="0"/>
                <a:ea typeface="Consolas" pitchFamily="34" charset="-122"/>
                <a:cs typeface="Consolas" pitchFamily="34" charset="-120"/>
              </a:rPr>
              <a:t>User</a:t>
            </a:r>
            <a:endParaRPr lang="en-US" sz="1300" dirty="0"/>
          </a:p>
        </p:txBody>
      </p:sp>
      <p:sp>
        <p:nvSpPr>
          <p:cNvPr id="13" name="Shape 11"/>
          <p:cNvSpPr/>
          <p:nvPr/>
        </p:nvSpPr>
        <p:spPr>
          <a:xfrm>
            <a:off x="1929384" y="3383280"/>
            <a:ext cx="192024" cy="0"/>
          </a:xfrm>
          <a:prstGeom prst="line">
            <a:avLst/>
          </a:prstGeom>
          <a:noFill/>
          <a:ln w="19050">
            <a:solidFill>
              <a:srgbClr val="8A97B0"/>
            </a:solidFill>
            <a:prstDash val="solid"/>
            <a:tailEnd type="triangle"/>
          </a:ln>
        </p:spPr>
      </p:sp>
      <p:sp>
        <p:nvSpPr>
          <p:cNvPr id="14" name="Shape 12"/>
          <p:cNvSpPr/>
          <p:nvPr/>
        </p:nvSpPr>
        <p:spPr>
          <a:xfrm>
            <a:off x="2148840" y="2926080"/>
            <a:ext cx="1353312" cy="914400"/>
          </a:xfrm>
          <a:prstGeom prst="roundRect">
            <a:avLst>
              <a:gd name="adj" fmla="val 10000"/>
            </a:avLst>
          </a:prstGeom>
          <a:solidFill>
            <a:srgbClr val="141A31"/>
          </a:solidFill>
          <a:ln w="19050">
            <a:solidFill>
              <a:srgbClr val="8B5CF6"/>
            </a:solidFill>
            <a:prstDash val="solid"/>
          </a:ln>
        </p:spPr>
      </p:sp>
      <p:sp>
        <p:nvSpPr>
          <p:cNvPr id="15" name="Text 13"/>
          <p:cNvSpPr/>
          <p:nvPr/>
        </p:nvSpPr>
        <p:spPr>
          <a:xfrm>
            <a:off x="2148840" y="2926080"/>
            <a:ext cx="1353312" cy="914400"/>
          </a:xfrm>
          <a:prstGeom prst="rect">
            <a:avLst/>
          </a:prstGeom>
          <a:noFill/>
          <a:ln/>
        </p:spPr>
        <p:txBody>
          <a:bodyPr wrap="square" lIns="0" tIns="0" rIns="0" bIns="0" rtlCol="0" anchor="ctr"/>
          <a:lstStyle/>
          <a:p>
            <a:pPr algn="ctr" indent="0" marL="0">
              <a:buNone/>
            </a:pPr>
            <a:r>
              <a:rPr lang="en-US" sz="1300" dirty="0">
                <a:solidFill>
                  <a:srgbClr val="F8FAFC"/>
                </a:solidFill>
                <a:latin typeface="Consolas" pitchFamily="34" charset="0"/>
                <a:ea typeface="Consolas" pitchFamily="34" charset="-122"/>
                <a:cs typeface="Consolas" pitchFamily="34" charset="-120"/>
              </a:rPr>
              <a:t>Plan</a:t>
            </a:r>
            <a:endParaRPr lang="en-US" sz="1300" dirty="0"/>
          </a:p>
        </p:txBody>
      </p:sp>
      <p:sp>
        <p:nvSpPr>
          <p:cNvPr id="16" name="Shape 14"/>
          <p:cNvSpPr/>
          <p:nvPr/>
        </p:nvSpPr>
        <p:spPr>
          <a:xfrm>
            <a:off x="3529584" y="3383280"/>
            <a:ext cx="192024" cy="0"/>
          </a:xfrm>
          <a:prstGeom prst="line">
            <a:avLst/>
          </a:prstGeom>
          <a:noFill/>
          <a:ln w="19050">
            <a:solidFill>
              <a:srgbClr val="8A97B0"/>
            </a:solidFill>
            <a:prstDash val="solid"/>
            <a:tailEnd type="triangle"/>
          </a:ln>
        </p:spPr>
      </p:sp>
      <p:sp>
        <p:nvSpPr>
          <p:cNvPr id="17" name="Shape 15"/>
          <p:cNvSpPr/>
          <p:nvPr/>
        </p:nvSpPr>
        <p:spPr>
          <a:xfrm>
            <a:off x="3749040" y="2926080"/>
            <a:ext cx="1353312" cy="914400"/>
          </a:xfrm>
          <a:prstGeom prst="roundRect">
            <a:avLst>
              <a:gd name="adj" fmla="val 10000"/>
            </a:avLst>
          </a:prstGeom>
          <a:solidFill>
            <a:srgbClr val="141A31"/>
          </a:solidFill>
          <a:ln w="19050">
            <a:solidFill>
              <a:srgbClr val="22D3EE"/>
            </a:solidFill>
            <a:prstDash val="solid"/>
          </a:ln>
        </p:spPr>
      </p:sp>
      <p:sp>
        <p:nvSpPr>
          <p:cNvPr id="18" name="Text 16"/>
          <p:cNvSpPr/>
          <p:nvPr/>
        </p:nvSpPr>
        <p:spPr>
          <a:xfrm>
            <a:off x="3749040" y="2926080"/>
            <a:ext cx="1353312" cy="914400"/>
          </a:xfrm>
          <a:prstGeom prst="rect">
            <a:avLst/>
          </a:prstGeom>
          <a:noFill/>
          <a:ln/>
        </p:spPr>
        <p:txBody>
          <a:bodyPr wrap="square" lIns="0" tIns="0" rIns="0" bIns="0" rtlCol="0" anchor="ctr"/>
          <a:lstStyle/>
          <a:p>
            <a:pPr algn="ctr" indent="0" marL="0">
              <a:buNone/>
            </a:pPr>
            <a:r>
              <a:rPr lang="en-US" sz="1300" dirty="0">
                <a:solidFill>
                  <a:srgbClr val="F8FAFC"/>
                </a:solidFill>
                <a:latin typeface="Consolas" pitchFamily="34" charset="0"/>
                <a:ea typeface="Consolas" pitchFamily="34" charset="-122"/>
                <a:cs typeface="Consolas" pitchFamily="34" charset="-120"/>
              </a:rPr>
              <a:t>search_docs</a:t>
            </a:r>
            <a:endParaRPr lang="en-US" sz="1300" dirty="0"/>
          </a:p>
        </p:txBody>
      </p:sp>
      <p:sp>
        <p:nvSpPr>
          <p:cNvPr id="19" name="Shape 17"/>
          <p:cNvSpPr/>
          <p:nvPr/>
        </p:nvSpPr>
        <p:spPr>
          <a:xfrm>
            <a:off x="5129784" y="3383280"/>
            <a:ext cx="192024" cy="0"/>
          </a:xfrm>
          <a:prstGeom prst="line">
            <a:avLst/>
          </a:prstGeom>
          <a:noFill/>
          <a:ln w="19050">
            <a:solidFill>
              <a:srgbClr val="8A97B0"/>
            </a:solidFill>
            <a:prstDash val="solid"/>
            <a:tailEnd type="triangle"/>
          </a:ln>
        </p:spPr>
      </p:sp>
      <p:sp>
        <p:nvSpPr>
          <p:cNvPr id="20" name="Shape 18"/>
          <p:cNvSpPr/>
          <p:nvPr/>
        </p:nvSpPr>
        <p:spPr>
          <a:xfrm>
            <a:off x="5349240" y="2926080"/>
            <a:ext cx="1353312" cy="914400"/>
          </a:xfrm>
          <a:prstGeom prst="roundRect">
            <a:avLst>
              <a:gd name="adj" fmla="val 10000"/>
            </a:avLst>
          </a:prstGeom>
          <a:solidFill>
            <a:srgbClr val="141A31"/>
          </a:solidFill>
          <a:ln w="19050">
            <a:solidFill>
              <a:srgbClr val="F5B53F"/>
            </a:solidFill>
            <a:prstDash val="solid"/>
          </a:ln>
        </p:spPr>
      </p:sp>
      <p:sp>
        <p:nvSpPr>
          <p:cNvPr id="21" name="Text 19"/>
          <p:cNvSpPr/>
          <p:nvPr/>
        </p:nvSpPr>
        <p:spPr>
          <a:xfrm>
            <a:off x="5349240" y="2926080"/>
            <a:ext cx="1353312" cy="914400"/>
          </a:xfrm>
          <a:prstGeom prst="rect">
            <a:avLst/>
          </a:prstGeom>
          <a:noFill/>
          <a:ln/>
        </p:spPr>
        <p:txBody>
          <a:bodyPr wrap="square" lIns="0" tIns="0" rIns="0" bIns="0" rtlCol="0" anchor="ctr"/>
          <a:lstStyle/>
          <a:p>
            <a:pPr algn="ctr" indent="0" marL="0">
              <a:buNone/>
            </a:pPr>
            <a:r>
              <a:rPr lang="en-US" sz="1300" dirty="0">
                <a:solidFill>
                  <a:srgbClr val="F8FAFC"/>
                </a:solidFill>
                <a:latin typeface="Consolas" pitchFamily="34" charset="0"/>
                <a:ea typeface="Consolas" pitchFamily="34" charset="-122"/>
                <a:cs typeface="Consolas" pitchFamily="34" charset="-120"/>
              </a:rPr>
              <a:t>get_weather</a:t>
            </a:r>
            <a:endParaRPr lang="en-US" sz="1300" dirty="0"/>
          </a:p>
        </p:txBody>
      </p:sp>
      <p:sp>
        <p:nvSpPr>
          <p:cNvPr id="22" name="Shape 20"/>
          <p:cNvSpPr/>
          <p:nvPr/>
        </p:nvSpPr>
        <p:spPr>
          <a:xfrm>
            <a:off x="6729984" y="3383280"/>
            <a:ext cx="192024" cy="0"/>
          </a:xfrm>
          <a:prstGeom prst="line">
            <a:avLst/>
          </a:prstGeom>
          <a:noFill/>
          <a:ln w="19050">
            <a:solidFill>
              <a:srgbClr val="8A97B0"/>
            </a:solidFill>
            <a:prstDash val="solid"/>
            <a:tailEnd type="triangle"/>
          </a:ln>
        </p:spPr>
      </p:sp>
      <p:sp>
        <p:nvSpPr>
          <p:cNvPr id="23" name="Shape 21"/>
          <p:cNvSpPr/>
          <p:nvPr/>
        </p:nvSpPr>
        <p:spPr>
          <a:xfrm>
            <a:off x="6949440" y="2926080"/>
            <a:ext cx="1353312" cy="914400"/>
          </a:xfrm>
          <a:prstGeom prst="roundRect">
            <a:avLst>
              <a:gd name="adj" fmla="val 10000"/>
            </a:avLst>
          </a:prstGeom>
          <a:solidFill>
            <a:srgbClr val="141A31"/>
          </a:solidFill>
          <a:ln w="19050">
            <a:solidFill>
              <a:srgbClr val="2DD4BF"/>
            </a:solidFill>
            <a:prstDash val="solid"/>
          </a:ln>
        </p:spPr>
      </p:sp>
      <p:sp>
        <p:nvSpPr>
          <p:cNvPr id="24" name="Text 22"/>
          <p:cNvSpPr/>
          <p:nvPr/>
        </p:nvSpPr>
        <p:spPr>
          <a:xfrm>
            <a:off x="6949440" y="2926080"/>
            <a:ext cx="1353312" cy="914400"/>
          </a:xfrm>
          <a:prstGeom prst="rect">
            <a:avLst/>
          </a:prstGeom>
          <a:noFill/>
          <a:ln/>
        </p:spPr>
        <p:txBody>
          <a:bodyPr wrap="square" lIns="0" tIns="0" rIns="0" bIns="0" rtlCol="0" anchor="ctr"/>
          <a:lstStyle/>
          <a:p>
            <a:pPr algn="ctr" indent="0" marL="0">
              <a:buNone/>
            </a:pPr>
            <a:r>
              <a:rPr lang="en-US" sz="1300" dirty="0">
                <a:solidFill>
                  <a:srgbClr val="F8FAFC"/>
                </a:solidFill>
                <a:latin typeface="Consolas" pitchFamily="34" charset="0"/>
                <a:ea typeface="Consolas" pitchFamily="34" charset="-122"/>
                <a:cs typeface="Consolas" pitchFamily="34" charset="-120"/>
              </a:rPr>
              <a:t>LLM answer</a:t>
            </a:r>
            <a:endParaRPr lang="en-US" sz="1300" dirty="0"/>
          </a:p>
        </p:txBody>
      </p:sp>
      <p:sp>
        <p:nvSpPr>
          <p:cNvPr id="25" name="Shape 23"/>
          <p:cNvSpPr/>
          <p:nvPr/>
        </p:nvSpPr>
        <p:spPr>
          <a:xfrm>
            <a:off x="8330184" y="3383280"/>
            <a:ext cx="192024" cy="0"/>
          </a:xfrm>
          <a:prstGeom prst="line">
            <a:avLst/>
          </a:prstGeom>
          <a:noFill/>
          <a:ln w="19050">
            <a:solidFill>
              <a:srgbClr val="8A97B0"/>
            </a:solidFill>
            <a:prstDash val="solid"/>
            <a:tailEnd type="triangle"/>
          </a:ln>
        </p:spPr>
      </p:sp>
      <p:sp>
        <p:nvSpPr>
          <p:cNvPr id="26" name="Shape 24"/>
          <p:cNvSpPr/>
          <p:nvPr/>
        </p:nvSpPr>
        <p:spPr>
          <a:xfrm>
            <a:off x="8549640" y="2926080"/>
            <a:ext cx="1353312" cy="914400"/>
          </a:xfrm>
          <a:prstGeom prst="roundRect">
            <a:avLst>
              <a:gd name="adj" fmla="val 10000"/>
            </a:avLst>
          </a:prstGeom>
          <a:solidFill>
            <a:srgbClr val="141A31"/>
          </a:solidFill>
          <a:ln w="19050">
            <a:solidFill>
              <a:srgbClr val="F472B6"/>
            </a:solidFill>
            <a:prstDash val="solid"/>
          </a:ln>
        </p:spPr>
      </p:sp>
      <p:sp>
        <p:nvSpPr>
          <p:cNvPr id="27" name="Text 25"/>
          <p:cNvSpPr/>
          <p:nvPr/>
        </p:nvSpPr>
        <p:spPr>
          <a:xfrm>
            <a:off x="8549640" y="2926080"/>
            <a:ext cx="1353312" cy="914400"/>
          </a:xfrm>
          <a:prstGeom prst="rect">
            <a:avLst/>
          </a:prstGeom>
          <a:noFill/>
          <a:ln/>
        </p:spPr>
        <p:txBody>
          <a:bodyPr wrap="square" lIns="0" tIns="0" rIns="0" bIns="0" rtlCol="0" anchor="ctr"/>
          <a:lstStyle/>
          <a:p>
            <a:pPr algn="ctr" indent="0" marL="0">
              <a:buNone/>
            </a:pPr>
            <a:r>
              <a:rPr lang="en-US" sz="1300" dirty="0">
                <a:solidFill>
                  <a:srgbClr val="F8FAFC"/>
                </a:solidFill>
                <a:latin typeface="Consolas" pitchFamily="34" charset="0"/>
                <a:ea typeface="Consolas" pitchFamily="34" charset="-122"/>
                <a:cs typeface="Consolas" pitchFamily="34" charset="-120"/>
              </a:rPr>
              <a:t>Guardrail</a:t>
            </a:r>
            <a:endParaRPr lang="en-US" sz="1300" dirty="0"/>
          </a:p>
        </p:txBody>
      </p:sp>
      <p:sp>
        <p:nvSpPr>
          <p:cNvPr id="28" name="Shape 26"/>
          <p:cNvSpPr/>
          <p:nvPr/>
        </p:nvSpPr>
        <p:spPr>
          <a:xfrm>
            <a:off x="9930384" y="3383280"/>
            <a:ext cx="192024" cy="0"/>
          </a:xfrm>
          <a:prstGeom prst="line">
            <a:avLst/>
          </a:prstGeom>
          <a:noFill/>
          <a:ln w="19050">
            <a:solidFill>
              <a:srgbClr val="8A97B0"/>
            </a:solidFill>
            <a:prstDash val="solid"/>
            <a:tailEnd type="triangle"/>
          </a:ln>
        </p:spPr>
      </p:sp>
      <p:sp>
        <p:nvSpPr>
          <p:cNvPr id="29" name="Shape 27"/>
          <p:cNvSpPr/>
          <p:nvPr/>
        </p:nvSpPr>
        <p:spPr>
          <a:xfrm>
            <a:off x="10149840" y="2926080"/>
            <a:ext cx="1353312" cy="914400"/>
          </a:xfrm>
          <a:prstGeom prst="roundRect">
            <a:avLst>
              <a:gd name="adj" fmla="val 10000"/>
            </a:avLst>
          </a:prstGeom>
          <a:solidFill>
            <a:srgbClr val="141A31"/>
          </a:solidFill>
          <a:ln w="19050">
            <a:solidFill>
              <a:srgbClr val="8A97B0"/>
            </a:solidFill>
            <a:prstDash val="solid"/>
          </a:ln>
        </p:spPr>
      </p:sp>
      <p:sp>
        <p:nvSpPr>
          <p:cNvPr id="30" name="Text 28"/>
          <p:cNvSpPr/>
          <p:nvPr/>
        </p:nvSpPr>
        <p:spPr>
          <a:xfrm>
            <a:off x="10149840" y="2926080"/>
            <a:ext cx="1353312" cy="914400"/>
          </a:xfrm>
          <a:prstGeom prst="rect">
            <a:avLst/>
          </a:prstGeom>
          <a:noFill/>
          <a:ln/>
        </p:spPr>
        <p:txBody>
          <a:bodyPr wrap="square" lIns="0" tIns="0" rIns="0" bIns="0" rtlCol="0" anchor="ctr"/>
          <a:lstStyle/>
          <a:p>
            <a:pPr algn="ctr" indent="0" marL="0">
              <a:buNone/>
            </a:pPr>
            <a:r>
              <a:rPr lang="en-US" sz="1300" dirty="0">
                <a:solidFill>
                  <a:srgbClr val="F8FAFC"/>
                </a:solidFill>
                <a:latin typeface="Consolas" pitchFamily="34" charset="0"/>
                <a:ea typeface="Consolas" pitchFamily="34" charset="-122"/>
                <a:cs typeface="Consolas" pitchFamily="34" charset="-120"/>
              </a:rPr>
              <a:t>Response</a:t>
            </a:r>
            <a:endParaRPr lang="en-US" sz="1300" dirty="0"/>
          </a:p>
        </p:txBody>
      </p:sp>
      <p:sp>
        <p:nvSpPr>
          <p:cNvPr id="31" name="Shape 29"/>
          <p:cNvSpPr/>
          <p:nvPr/>
        </p:nvSpPr>
        <p:spPr>
          <a:xfrm>
            <a:off x="4425696" y="3886200"/>
            <a:ext cx="0" cy="502920"/>
          </a:xfrm>
          <a:prstGeom prst="line">
            <a:avLst/>
          </a:prstGeom>
          <a:noFill/>
          <a:ln w="12700">
            <a:solidFill>
              <a:srgbClr val="F43F5E"/>
            </a:solidFill>
            <a:prstDash val="dash"/>
          </a:ln>
        </p:spPr>
      </p:sp>
      <p:sp>
        <p:nvSpPr>
          <p:cNvPr id="32" name="Text 30"/>
          <p:cNvSpPr/>
          <p:nvPr/>
        </p:nvSpPr>
        <p:spPr>
          <a:xfrm>
            <a:off x="3520440" y="4480560"/>
            <a:ext cx="1810512" cy="640080"/>
          </a:xfrm>
          <a:prstGeom prst="rect">
            <a:avLst/>
          </a:prstGeom>
          <a:noFill/>
          <a:ln/>
        </p:spPr>
        <p:txBody>
          <a:bodyPr wrap="square" lIns="0" tIns="0" rIns="0" bIns="0" rtlCol="0" anchor="t"/>
          <a:lstStyle/>
          <a:p>
            <a:pPr algn="ctr" indent="0" marL="0">
              <a:buNone/>
            </a:pPr>
            <a:r>
              <a:rPr lang="en-US" sz="1200" dirty="0">
                <a:solidFill>
                  <a:srgbClr val="F43F5E"/>
                </a:solidFill>
                <a:latin typeface="Calibri" pitchFamily="34" charset="0"/>
                <a:ea typeface="Calibri" pitchFamily="34" charset="-122"/>
                <a:cs typeface="Calibri" pitchFamily="34" charset="-120"/>
              </a:rPr>
              <a:t>Wrong or outdated document</a:t>
            </a:r>
            <a:endParaRPr lang="en-US" sz="1200" dirty="0"/>
          </a:p>
        </p:txBody>
      </p:sp>
      <p:sp>
        <p:nvSpPr>
          <p:cNvPr id="33" name="Shape 31"/>
          <p:cNvSpPr/>
          <p:nvPr/>
        </p:nvSpPr>
        <p:spPr>
          <a:xfrm>
            <a:off x="6025896" y="3886200"/>
            <a:ext cx="0" cy="502920"/>
          </a:xfrm>
          <a:prstGeom prst="line">
            <a:avLst/>
          </a:prstGeom>
          <a:noFill/>
          <a:ln w="12700">
            <a:solidFill>
              <a:srgbClr val="F43F5E"/>
            </a:solidFill>
            <a:prstDash val="dash"/>
          </a:ln>
        </p:spPr>
      </p:sp>
      <p:sp>
        <p:nvSpPr>
          <p:cNvPr id="34" name="Text 32"/>
          <p:cNvSpPr/>
          <p:nvPr/>
        </p:nvSpPr>
        <p:spPr>
          <a:xfrm>
            <a:off x="5120640" y="4480560"/>
            <a:ext cx="1810512" cy="640080"/>
          </a:xfrm>
          <a:prstGeom prst="rect">
            <a:avLst/>
          </a:prstGeom>
          <a:noFill/>
          <a:ln/>
        </p:spPr>
        <p:txBody>
          <a:bodyPr wrap="square" lIns="0" tIns="0" rIns="0" bIns="0" rtlCol="0" anchor="t"/>
          <a:lstStyle/>
          <a:p>
            <a:pPr algn="ctr" indent="0" marL="0">
              <a:buNone/>
            </a:pPr>
            <a:r>
              <a:rPr lang="en-US" sz="1200" dirty="0">
                <a:solidFill>
                  <a:srgbClr val="F43F5E"/>
                </a:solidFill>
                <a:latin typeface="Calibri" pitchFamily="34" charset="0"/>
                <a:ea typeface="Calibri" pitchFamily="34" charset="-122"/>
                <a:cs typeface="Calibri" pitchFamily="34" charset="-120"/>
              </a:rPr>
              <a:t>Timeout, retries, bad data</a:t>
            </a:r>
            <a:endParaRPr lang="en-US" sz="1200" dirty="0"/>
          </a:p>
        </p:txBody>
      </p:sp>
      <p:sp>
        <p:nvSpPr>
          <p:cNvPr id="35" name="Shape 33"/>
          <p:cNvSpPr/>
          <p:nvPr/>
        </p:nvSpPr>
        <p:spPr>
          <a:xfrm>
            <a:off x="7626096" y="3886200"/>
            <a:ext cx="0" cy="502920"/>
          </a:xfrm>
          <a:prstGeom prst="line">
            <a:avLst/>
          </a:prstGeom>
          <a:noFill/>
          <a:ln w="12700">
            <a:solidFill>
              <a:srgbClr val="F43F5E"/>
            </a:solidFill>
            <a:prstDash val="dash"/>
          </a:ln>
        </p:spPr>
      </p:sp>
      <p:sp>
        <p:nvSpPr>
          <p:cNvPr id="36" name="Text 34"/>
          <p:cNvSpPr/>
          <p:nvPr/>
        </p:nvSpPr>
        <p:spPr>
          <a:xfrm>
            <a:off x="6720840" y="4480560"/>
            <a:ext cx="1810512" cy="640080"/>
          </a:xfrm>
          <a:prstGeom prst="rect">
            <a:avLst/>
          </a:prstGeom>
          <a:noFill/>
          <a:ln/>
        </p:spPr>
        <p:txBody>
          <a:bodyPr wrap="square" lIns="0" tIns="0" rIns="0" bIns="0" rtlCol="0" anchor="t"/>
          <a:lstStyle/>
          <a:p>
            <a:pPr algn="ctr" indent="0" marL="0">
              <a:buNone/>
            </a:pPr>
            <a:r>
              <a:rPr lang="en-US" sz="1200" dirty="0">
                <a:solidFill>
                  <a:srgbClr val="F43F5E"/>
                </a:solidFill>
                <a:latin typeface="Calibri" pitchFamily="34" charset="0"/>
                <a:ea typeface="Calibri" pitchFamily="34" charset="-122"/>
                <a:cs typeface="Calibri" pitchFamily="34" charset="-120"/>
              </a:rPr>
              <a:t>Hallucination, lost context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09</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SIX QUESTIONS</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What AI observability answers</a:t>
            </a:r>
            <a:endParaRPr lang="en-US" sz="3200" dirty="0"/>
          </a:p>
        </p:txBody>
      </p:sp>
      <p:sp>
        <p:nvSpPr>
          <p:cNvPr id="10" name="Shape 8"/>
          <p:cNvSpPr/>
          <p:nvPr/>
        </p:nvSpPr>
        <p:spPr>
          <a:xfrm>
            <a:off x="548640" y="1828800"/>
            <a:ext cx="3520440" cy="1874520"/>
          </a:xfrm>
          <a:prstGeom prst="rect">
            <a:avLst/>
          </a:prstGeom>
          <a:solidFill>
            <a:srgbClr val="141A31"/>
          </a:solidFill>
          <a:ln w="9525">
            <a:solidFill>
              <a:srgbClr val="2A3456"/>
            </a:solidFill>
            <a:prstDash val="solid"/>
          </a:ln>
        </p:spPr>
      </p:sp>
      <p:sp>
        <p:nvSpPr>
          <p:cNvPr id="11" name="Shape 9"/>
          <p:cNvSpPr/>
          <p:nvPr/>
        </p:nvSpPr>
        <p:spPr>
          <a:xfrm>
            <a:off x="868680" y="2121408"/>
            <a:ext cx="566928" cy="566928"/>
          </a:xfrm>
          <a:prstGeom prst="ellipse">
            <a:avLst/>
          </a:prstGeom>
          <a:solidFill>
            <a:srgbClr val="1B2340"/>
          </a:solidFill>
          <a:ln w="9525">
            <a:solidFill>
              <a:srgbClr val="2A3456"/>
            </a:solidFill>
            <a:prstDash val="solid"/>
          </a:ln>
        </p:spPr>
      </p:sp>
      <p:pic>
        <p:nvPicPr>
          <p:cNvPr id="12" name="Image 0" descr="preencoded.png">    </p:cNvPr>
          <p:cNvPicPr>
            <a:picLocks noChangeAspect="1"/>
          </p:cNvPicPr>
          <p:nvPr/>
        </p:nvPicPr>
        <p:blipFill>
          <a:blip r:embed="rId1"/>
          <a:stretch>
            <a:fillRect/>
          </a:stretch>
        </p:blipFill>
        <p:spPr>
          <a:xfrm>
            <a:off x="1005840" y="2258568"/>
            <a:ext cx="292608" cy="292608"/>
          </a:xfrm>
          <a:prstGeom prst="rect">
            <a:avLst/>
          </a:prstGeom>
        </p:spPr>
      </p:pic>
      <p:sp>
        <p:nvSpPr>
          <p:cNvPr id="13" name="Text 10"/>
          <p:cNvSpPr/>
          <p:nvPr/>
        </p:nvSpPr>
        <p:spPr>
          <a:xfrm>
            <a:off x="868680" y="2816352"/>
            <a:ext cx="297180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Debugging</a:t>
            </a:r>
            <a:endParaRPr lang="en-US" sz="1800" dirty="0"/>
          </a:p>
        </p:txBody>
      </p:sp>
      <p:sp>
        <p:nvSpPr>
          <p:cNvPr id="14" name="Text 11"/>
          <p:cNvSpPr/>
          <p:nvPr/>
        </p:nvSpPr>
        <p:spPr>
          <a:xfrm>
            <a:off x="868680" y="3154680"/>
            <a:ext cx="2971800" cy="5029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Which step failed, and with what input?</a:t>
            </a:r>
            <a:endParaRPr lang="en-US" sz="1300" dirty="0"/>
          </a:p>
        </p:txBody>
      </p:sp>
      <p:sp>
        <p:nvSpPr>
          <p:cNvPr id="15" name="Shape 12"/>
          <p:cNvSpPr/>
          <p:nvPr/>
        </p:nvSpPr>
        <p:spPr>
          <a:xfrm>
            <a:off x="4297680" y="1828800"/>
            <a:ext cx="3520440" cy="1874520"/>
          </a:xfrm>
          <a:prstGeom prst="rect">
            <a:avLst/>
          </a:prstGeom>
          <a:solidFill>
            <a:srgbClr val="141A31"/>
          </a:solidFill>
          <a:ln w="9525">
            <a:solidFill>
              <a:srgbClr val="2A3456"/>
            </a:solidFill>
            <a:prstDash val="solid"/>
          </a:ln>
        </p:spPr>
      </p:sp>
      <p:sp>
        <p:nvSpPr>
          <p:cNvPr id="16" name="Shape 13"/>
          <p:cNvSpPr/>
          <p:nvPr/>
        </p:nvSpPr>
        <p:spPr>
          <a:xfrm>
            <a:off x="4617720" y="2121408"/>
            <a:ext cx="566928" cy="566928"/>
          </a:xfrm>
          <a:prstGeom prst="ellipse">
            <a:avLst/>
          </a:prstGeom>
          <a:solidFill>
            <a:srgbClr val="1B2340"/>
          </a:solidFill>
          <a:ln w="9525">
            <a:solidFill>
              <a:srgbClr val="2A3456"/>
            </a:solidFill>
            <a:prstDash val="solid"/>
          </a:ln>
        </p:spPr>
      </p:sp>
      <p:pic>
        <p:nvPicPr>
          <p:cNvPr id="17" name="Image 1" descr="preencoded.png">    </p:cNvPr>
          <p:cNvPicPr>
            <a:picLocks noChangeAspect="1"/>
          </p:cNvPicPr>
          <p:nvPr/>
        </p:nvPicPr>
        <p:blipFill>
          <a:blip r:embed="rId2"/>
          <a:stretch>
            <a:fillRect/>
          </a:stretch>
        </p:blipFill>
        <p:spPr>
          <a:xfrm>
            <a:off x="4754880" y="2258568"/>
            <a:ext cx="292608" cy="292608"/>
          </a:xfrm>
          <a:prstGeom prst="rect">
            <a:avLst/>
          </a:prstGeom>
        </p:spPr>
      </p:pic>
      <p:sp>
        <p:nvSpPr>
          <p:cNvPr id="18" name="Text 14"/>
          <p:cNvSpPr/>
          <p:nvPr/>
        </p:nvSpPr>
        <p:spPr>
          <a:xfrm>
            <a:off x="4617720" y="2816352"/>
            <a:ext cx="297180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Performance</a:t>
            </a:r>
            <a:endParaRPr lang="en-US" sz="1800" dirty="0"/>
          </a:p>
        </p:txBody>
      </p:sp>
      <p:sp>
        <p:nvSpPr>
          <p:cNvPr id="19" name="Text 15"/>
          <p:cNvSpPr/>
          <p:nvPr/>
        </p:nvSpPr>
        <p:spPr>
          <a:xfrm>
            <a:off x="4617720" y="3154680"/>
            <a:ext cx="2971800" cy="5029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Where did the eight seconds go?</a:t>
            </a:r>
            <a:endParaRPr lang="en-US" sz="1300" dirty="0"/>
          </a:p>
        </p:txBody>
      </p:sp>
      <p:sp>
        <p:nvSpPr>
          <p:cNvPr id="20" name="Shape 16"/>
          <p:cNvSpPr/>
          <p:nvPr/>
        </p:nvSpPr>
        <p:spPr>
          <a:xfrm>
            <a:off x="8046720" y="1828800"/>
            <a:ext cx="3520440" cy="1874520"/>
          </a:xfrm>
          <a:prstGeom prst="rect">
            <a:avLst/>
          </a:prstGeom>
          <a:solidFill>
            <a:srgbClr val="141A31"/>
          </a:solidFill>
          <a:ln w="9525">
            <a:solidFill>
              <a:srgbClr val="2A3456"/>
            </a:solidFill>
            <a:prstDash val="solid"/>
          </a:ln>
        </p:spPr>
      </p:sp>
      <p:sp>
        <p:nvSpPr>
          <p:cNvPr id="21" name="Shape 17"/>
          <p:cNvSpPr/>
          <p:nvPr/>
        </p:nvSpPr>
        <p:spPr>
          <a:xfrm>
            <a:off x="8366760" y="2121408"/>
            <a:ext cx="566928" cy="566928"/>
          </a:xfrm>
          <a:prstGeom prst="ellipse">
            <a:avLst/>
          </a:prstGeom>
          <a:solidFill>
            <a:srgbClr val="1B2340"/>
          </a:solidFill>
          <a:ln w="9525">
            <a:solidFill>
              <a:srgbClr val="2A3456"/>
            </a:solidFill>
            <a:prstDash val="solid"/>
          </a:ln>
        </p:spPr>
      </p:sp>
      <p:pic>
        <p:nvPicPr>
          <p:cNvPr id="22" name="Image 2" descr="preencoded.png">    </p:cNvPr>
          <p:cNvPicPr>
            <a:picLocks noChangeAspect="1"/>
          </p:cNvPicPr>
          <p:nvPr/>
        </p:nvPicPr>
        <p:blipFill>
          <a:blip r:embed="rId3"/>
          <a:stretch>
            <a:fillRect/>
          </a:stretch>
        </p:blipFill>
        <p:spPr>
          <a:xfrm>
            <a:off x="8503920" y="2258568"/>
            <a:ext cx="292608" cy="292608"/>
          </a:xfrm>
          <a:prstGeom prst="rect">
            <a:avLst/>
          </a:prstGeom>
        </p:spPr>
      </p:pic>
      <p:sp>
        <p:nvSpPr>
          <p:cNvPr id="23" name="Text 18"/>
          <p:cNvSpPr/>
          <p:nvPr/>
        </p:nvSpPr>
        <p:spPr>
          <a:xfrm>
            <a:off x="8366760" y="2816352"/>
            <a:ext cx="297180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Cost</a:t>
            </a:r>
            <a:endParaRPr lang="en-US" sz="1800" dirty="0"/>
          </a:p>
        </p:txBody>
      </p:sp>
      <p:sp>
        <p:nvSpPr>
          <p:cNvPr id="24" name="Text 19"/>
          <p:cNvSpPr/>
          <p:nvPr/>
        </p:nvSpPr>
        <p:spPr>
          <a:xfrm>
            <a:off x="8366760" y="3154680"/>
            <a:ext cx="2971800" cy="5029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Which feature, user or model burns the budget?</a:t>
            </a:r>
            <a:endParaRPr lang="en-US" sz="1300" dirty="0"/>
          </a:p>
        </p:txBody>
      </p:sp>
      <p:sp>
        <p:nvSpPr>
          <p:cNvPr id="25" name="Shape 20"/>
          <p:cNvSpPr/>
          <p:nvPr/>
        </p:nvSpPr>
        <p:spPr>
          <a:xfrm>
            <a:off x="548640" y="3931920"/>
            <a:ext cx="3520440" cy="1874520"/>
          </a:xfrm>
          <a:prstGeom prst="rect">
            <a:avLst/>
          </a:prstGeom>
          <a:solidFill>
            <a:srgbClr val="141A31"/>
          </a:solidFill>
          <a:ln w="9525">
            <a:solidFill>
              <a:srgbClr val="2A3456"/>
            </a:solidFill>
            <a:prstDash val="solid"/>
          </a:ln>
        </p:spPr>
      </p:sp>
      <p:sp>
        <p:nvSpPr>
          <p:cNvPr id="26" name="Shape 21"/>
          <p:cNvSpPr/>
          <p:nvPr/>
        </p:nvSpPr>
        <p:spPr>
          <a:xfrm>
            <a:off x="868680" y="4224528"/>
            <a:ext cx="566928" cy="566928"/>
          </a:xfrm>
          <a:prstGeom prst="ellipse">
            <a:avLst/>
          </a:prstGeom>
          <a:solidFill>
            <a:srgbClr val="1B2340"/>
          </a:solidFill>
          <a:ln w="9525">
            <a:solidFill>
              <a:srgbClr val="2A3456"/>
            </a:solidFill>
            <a:prstDash val="solid"/>
          </a:ln>
        </p:spPr>
      </p:sp>
      <p:pic>
        <p:nvPicPr>
          <p:cNvPr id="27" name="Image 3" descr="preencoded.png">    </p:cNvPr>
          <p:cNvPicPr>
            <a:picLocks noChangeAspect="1"/>
          </p:cNvPicPr>
          <p:nvPr/>
        </p:nvPicPr>
        <p:blipFill>
          <a:blip r:embed="rId4"/>
          <a:stretch>
            <a:fillRect/>
          </a:stretch>
        </p:blipFill>
        <p:spPr>
          <a:xfrm>
            <a:off x="1005840" y="4361688"/>
            <a:ext cx="292608" cy="292608"/>
          </a:xfrm>
          <a:prstGeom prst="rect">
            <a:avLst/>
          </a:prstGeom>
        </p:spPr>
      </p:pic>
      <p:sp>
        <p:nvSpPr>
          <p:cNvPr id="28" name="Text 22"/>
          <p:cNvSpPr/>
          <p:nvPr/>
        </p:nvSpPr>
        <p:spPr>
          <a:xfrm>
            <a:off x="868680" y="4919472"/>
            <a:ext cx="297180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Quality</a:t>
            </a:r>
            <a:endParaRPr lang="en-US" sz="1800" dirty="0"/>
          </a:p>
        </p:txBody>
      </p:sp>
      <p:sp>
        <p:nvSpPr>
          <p:cNvPr id="29" name="Text 23"/>
          <p:cNvSpPr/>
          <p:nvPr/>
        </p:nvSpPr>
        <p:spPr>
          <a:xfrm>
            <a:off x="868680" y="5257800"/>
            <a:ext cx="2971800" cy="5029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Did answers get worse after the prompt change?</a:t>
            </a:r>
            <a:endParaRPr lang="en-US" sz="1300" dirty="0"/>
          </a:p>
        </p:txBody>
      </p:sp>
      <p:sp>
        <p:nvSpPr>
          <p:cNvPr id="30" name="Shape 24"/>
          <p:cNvSpPr/>
          <p:nvPr/>
        </p:nvSpPr>
        <p:spPr>
          <a:xfrm>
            <a:off x="4297680" y="3931920"/>
            <a:ext cx="3520440" cy="1874520"/>
          </a:xfrm>
          <a:prstGeom prst="rect">
            <a:avLst/>
          </a:prstGeom>
          <a:solidFill>
            <a:srgbClr val="141A31"/>
          </a:solidFill>
          <a:ln w="9525">
            <a:solidFill>
              <a:srgbClr val="2A3456"/>
            </a:solidFill>
            <a:prstDash val="solid"/>
          </a:ln>
        </p:spPr>
      </p:sp>
      <p:sp>
        <p:nvSpPr>
          <p:cNvPr id="31" name="Shape 25"/>
          <p:cNvSpPr/>
          <p:nvPr/>
        </p:nvSpPr>
        <p:spPr>
          <a:xfrm>
            <a:off x="4617720" y="4224528"/>
            <a:ext cx="566928" cy="566928"/>
          </a:xfrm>
          <a:prstGeom prst="ellipse">
            <a:avLst/>
          </a:prstGeom>
          <a:solidFill>
            <a:srgbClr val="1B2340"/>
          </a:solidFill>
          <a:ln w="9525">
            <a:solidFill>
              <a:srgbClr val="2A3456"/>
            </a:solidFill>
            <a:prstDash val="solid"/>
          </a:ln>
        </p:spPr>
      </p:sp>
      <p:pic>
        <p:nvPicPr>
          <p:cNvPr id="32" name="Image 4" descr="preencoded.png">    </p:cNvPr>
          <p:cNvPicPr>
            <a:picLocks noChangeAspect="1"/>
          </p:cNvPicPr>
          <p:nvPr/>
        </p:nvPicPr>
        <p:blipFill>
          <a:blip r:embed="rId5"/>
          <a:stretch>
            <a:fillRect/>
          </a:stretch>
        </p:blipFill>
        <p:spPr>
          <a:xfrm>
            <a:off x="4754880" y="4361688"/>
            <a:ext cx="292608" cy="292608"/>
          </a:xfrm>
          <a:prstGeom prst="rect">
            <a:avLst/>
          </a:prstGeom>
        </p:spPr>
      </p:pic>
      <p:sp>
        <p:nvSpPr>
          <p:cNvPr id="33" name="Text 26"/>
          <p:cNvSpPr/>
          <p:nvPr/>
        </p:nvSpPr>
        <p:spPr>
          <a:xfrm>
            <a:off x="4617720" y="4919472"/>
            <a:ext cx="297180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Safety</a:t>
            </a:r>
            <a:endParaRPr lang="en-US" sz="1800" dirty="0"/>
          </a:p>
        </p:txBody>
      </p:sp>
      <p:sp>
        <p:nvSpPr>
          <p:cNvPr id="34" name="Text 27"/>
          <p:cNvSpPr/>
          <p:nvPr/>
        </p:nvSpPr>
        <p:spPr>
          <a:xfrm>
            <a:off x="4617720" y="5257800"/>
            <a:ext cx="2971800" cy="5029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PII leaks, prompt injection, policy violations</a:t>
            </a:r>
            <a:endParaRPr lang="en-US" sz="1300" dirty="0"/>
          </a:p>
        </p:txBody>
      </p:sp>
      <p:sp>
        <p:nvSpPr>
          <p:cNvPr id="35" name="Shape 28"/>
          <p:cNvSpPr/>
          <p:nvPr/>
        </p:nvSpPr>
        <p:spPr>
          <a:xfrm>
            <a:off x="8046720" y="3931920"/>
            <a:ext cx="3520440" cy="1874520"/>
          </a:xfrm>
          <a:prstGeom prst="rect">
            <a:avLst/>
          </a:prstGeom>
          <a:solidFill>
            <a:srgbClr val="141A31"/>
          </a:solidFill>
          <a:ln w="9525">
            <a:solidFill>
              <a:srgbClr val="2A3456"/>
            </a:solidFill>
            <a:prstDash val="solid"/>
          </a:ln>
        </p:spPr>
      </p:sp>
      <p:sp>
        <p:nvSpPr>
          <p:cNvPr id="36" name="Shape 29"/>
          <p:cNvSpPr/>
          <p:nvPr/>
        </p:nvSpPr>
        <p:spPr>
          <a:xfrm>
            <a:off x="8366760" y="4224528"/>
            <a:ext cx="566928" cy="566928"/>
          </a:xfrm>
          <a:prstGeom prst="ellipse">
            <a:avLst/>
          </a:prstGeom>
          <a:solidFill>
            <a:srgbClr val="1B2340"/>
          </a:solidFill>
          <a:ln w="9525">
            <a:solidFill>
              <a:srgbClr val="2A3456"/>
            </a:solidFill>
            <a:prstDash val="solid"/>
          </a:ln>
        </p:spPr>
      </p:sp>
      <p:pic>
        <p:nvPicPr>
          <p:cNvPr id="37" name="Image 5" descr="preencoded.png">    </p:cNvPr>
          <p:cNvPicPr>
            <a:picLocks noChangeAspect="1"/>
          </p:cNvPicPr>
          <p:nvPr/>
        </p:nvPicPr>
        <p:blipFill>
          <a:blip r:embed="rId6"/>
          <a:stretch>
            <a:fillRect/>
          </a:stretch>
        </p:blipFill>
        <p:spPr>
          <a:xfrm>
            <a:off x="8503920" y="4361688"/>
            <a:ext cx="292608" cy="292608"/>
          </a:xfrm>
          <a:prstGeom prst="rect">
            <a:avLst/>
          </a:prstGeom>
        </p:spPr>
      </p:pic>
      <p:sp>
        <p:nvSpPr>
          <p:cNvPr id="38" name="Text 30"/>
          <p:cNvSpPr/>
          <p:nvPr/>
        </p:nvSpPr>
        <p:spPr>
          <a:xfrm>
            <a:off x="8366760" y="4919472"/>
            <a:ext cx="297180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Product</a:t>
            </a:r>
            <a:endParaRPr lang="en-US" sz="1800" dirty="0"/>
          </a:p>
        </p:txBody>
      </p:sp>
      <p:sp>
        <p:nvSpPr>
          <p:cNvPr id="39" name="Text 31"/>
          <p:cNvSpPr/>
          <p:nvPr/>
        </p:nvSpPr>
        <p:spPr>
          <a:xfrm>
            <a:off x="8366760" y="5257800"/>
            <a:ext cx="2971800" cy="5029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What are users actually asking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463040"/>
            <a:ext cx="3657600" cy="1463040"/>
          </a:xfrm>
          <a:prstGeom prst="rect">
            <a:avLst/>
          </a:prstGeom>
          <a:noFill/>
          <a:ln/>
        </p:spPr>
        <p:txBody>
          <a:bodyPr wrap="square" lIns="0" tIns="0" rIns="0" bIns="0" rtlCol="0" anchor="ctr"/>
          <a:lstStyle/>
          <a:p>
            <a:pPr indent="0" marL="0">
              <a:buNone/>
            </a:pPr>
            <a:r>
              <a:rPr lang="en-US" sz="11000" b="1" dirty="0">
                <a:solidFill>
                  <a:srgbClr val="1B2340"/>
                </a:solidFill>
                <a:latin typeface="Georgia" pitchFamily="34" charset="0"/>
                <a:ea typeface="Georgia" pitchFamily="34" charset="-122"/>
                <a:cs typeface="Georgia" pitchFamily="34" charset="-120"/>
              </a:rPr>
              <a:t>02</a:t>
            </a:r>
            <a:endParaRPr lang="en-US" sz="11000" dirty="0"/>
          </a:p>
        </p:txBody>
      </p:sp>
      <p:sp>
        <p:nvSpPr>
          <p:cNvPr id="3" name="Text 1"/>
          <p:cNvSpPr/>
          <p:nvPr/>
        </p:nvSpPr>
        <p:spPr>
          <a:xfrm>
            <a:off x="548640" y="2971800"/>
            <a:ext cx="8229600" cy="822960"/>
          </a:xfrm>
          <a:prstGeom prst="rect">
            <a:avLst/>
          </a:prstGeom>
          <a:noFill/>
          <a:ln/>
        </p:spPr>
        <p:txBody>
          <a:bodyPr wrap="square" lIns="0" tIns="0" rIns="0" bIns="0" rtlCol="0" anchor="ctr"/>
          <a:lstStyle/>
          <a:p>
            <a:pPr indent="0" marL="0">
              <a:buNone/>
            </a:pPr>
            <a:r>
              <a:rPr lang="en-US" sz="4400" b="1" dirty="0">
                <a:solidFill>
                  <a:srgbClr val="F8FAFC"/>
                </a:solidFill>
                <a:latin typeface="Georgia" pitchFamily="34" charset="0"/>
                <a:ea typeface="Georgia" pitchFamily="34" charset="-122"/>
                <a:cs typeface="Georgia" pitchFamily="34" charset="-120"/>
              </a:rPr>
              <a:t>The four signals</a:t>
            </a:r>
            <a:endParaRPr lang="en-US" sz="4400" dirty="0"/>
          </a:p>
        </p:txBody>
      </p:sp>
      <p:sp>
        <p:nvSpPr>
          <p:cNvPr id="4" name="Text 2"/>
          <p:cNvSpPr/>
          <p:nvPr/>
        </p:nvSpPr>
        <p:spPr>
          <a:xfrm>
            <a:off x="548640" y="3840480"/>
            <a:ext cx="8229600" cy="457200"/>
          </a:xfrm>
          <a:prstGeom prst="rect">
            <a:avLst/>
          </a:prstGeom>
          <a:noFill/>
          <a:ln/>
        </p:spPr>
        <p:txBody>
          <a:bodyPr wrap="square" lIns="0" tIns="0" rIns="0" bIns="0" rtlCol="0" anchor="ctr"/>
          <a:lstStyle/>
          <a:p>
            <a:pPr indent="0" marL="0">
              <a:buNone/>
            </a:pPr>
            <a:r>
              <a:rPr lang="en-US" sz="1800" dirty="0">
                <a:solidFill>
                  <a:srgbClr val="8A97B0"/>
                </a:solidFill>
                <a:latin typeface="Calibri" pitchFamily="34" charset="0"/>
                <a:ea typeface="Calibri" pitchFamily="34" charset="-122"/>
                <a:cs typeface="Calibri" pitchFamily="34" charset="-120"/>
              </a:rPr>
              <a:t>Logs, metrics, traces and spans, on one function.</a:t>
            </a:r>
            <a:endParaRPr lang="en-US" sz="1800" dirty="0"/>
          </a:p>
        </p:txBody>
      </p:sp>
      <p:sp>
        <p:nvSpPr>
          <p:cNvPr id="5" name="Shape 3"/>
          <p:cNvSpPr/>
          <p:nvPr/>
        </p:nvSpPr>
        <p:spPr>
          <a:xfrm>
            <a:off x="8351215" y="914400"/>
            <a:ext cx="3291840" cy="153619"/>
          </a:xfrm>
          <a:prstGeom prst="roundRect">
            <a:avLst>
              <a:gd name="adj" fmla="val 17857"/>
            </a:avLst>
          </a:prstGeom>
          <a:solidFill>
            <a:srgbClr val="8B5CF6"/>
          </a:solidFill>
          <a:ln w="12700">
            <a:solidFill>
              <a:srgbClr val="8B5CF6"/>
            </a:solidFill>
            <a:prstDash val="solid"/>
          </a:ln>
        </p:spPr>
      </p:sp>
      <p:sp>
        <p:nvSpPr>
          <p:cNvPr id="6" name="Shape 4"/>
          <p:cNvSpPr/>
          <p:nvPr/>
        </p:nvSpPr>
        <p:spPr>
          <a:xfrm>
            <a:off x="8482889" y="1199693"/>
            <a:ext cx="724205" cy="153619"/>
          </a:xfrm>
          <a:prstGeom prst="roundRect">
            <a:avLst>
              <a:gd name="adj" fmla="val 17857"/>
            </a:avLst>
          </a:prstGeom>
          <a:solidFill>
            <a:srgbClr val="22D3EE"/>
          </a:solidFill>
          <a:ln w="12700">
            <a:solidFill>
              <a:srgbClr val="22D3EE"/>
            </a:solidFill>
            <a:prstDash val="solid"/>
          </a:ln>
        </p:spPr>
      </p:sp>
      <p:sp>
        <p:nvSpPr>
          <p:cNvPr id="7" name="Shape 5"/>
          <p:cNvSpPr/>
          <p:nvPr/>
        </p:nvSpPr>
        <p:spPr>
          <a:xfrm>
            <a:off x="9240012" y="1484986"/>
            <a:ext cx="1185062" cy="153619"/>
          </a:xfrm>
          <a:prstGeom prst="roundRect">
            <a:avLst>
              <a:gd name="adj" fmla="val 17857"/>
            </a:avLst>
          </a:prstGeom>
          <a:solidFill>
            <a:srgbClr val="F5B53F"/>
          </a:solidFill>
          <a:ln w="12700">
            <a:solidFill>
              <a:srgbClr val="F5B53F"/>
            </a:solidFill>
            <a:prstDash val="solid"/>
          </a:ln>
        </p:spPr>
      </p:sp>
      <p:sp>
        <p:nvSpPr>
          <p:cNvPr id="8" name="Shape 6"/>
          <p:cNvSpPr/>
          <p:nvPr/>
        </p:nvSpPr>
        <p:spPr>
          <a:xfrm>
            <a:off x="10457993" y="1770278"/>
            <a:ext cx="1119226" cy="153619"/>
          </a:xfrm>
          <a:prstGeom prst="roundRect">
            <a:avLst>
              <a:gd name="adj" fmla="val 17857"/>
            </a:avLst>
          </a:prstGeom>
          <a:solidFill>
            <a:srgbClr val="2DD4BF"/>
          </a:solidFill>
          <a:ln w="12700">
            <a:solidFill>
              <a:srgbClr val="2DD4BF"/>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11</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VOCABULARY</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Four signals, four questions</a:t>
            </a:r>
            <a:endParaRPr lang="en-US" sz="3200" dirty="0"/>
          </a:p>
        </p:txBody>
      </p:sp>
      <p:sp>
        <p:nvSpPr>
          <p:cNvPr id="10" name="Shape 8"/>
          <p:cNvSpPr/>
          <p:nvPr/>
        </p:nvSpPr>
        <p:spPr>
          <a:xfrm>
            <a:off x="548640" y="1828800"/>
            <a:ext cx="2606040" cy="3931920"/>
          </a:xfrm>
          <a:prstGeom prst="rect">
            <a:avLst/>
          </a:prstGeom>
          <a:solidFill>
            <a:srgbClr val="141A31"/>
          </a:solidFill>
          <a:ln w="9525">
            <a:solidFill>
              <a:srgbClr val="2A3456"/>
            </a:solidFill>
            <a:prstDash val="solid"/>
          </a:ln>
        </p:spPr>
      </p:sp>
      <p:sp>
        <p:nvSpPr>
          <p:cNvPr id="11" name="Shape 9"/>
          <p:cNvSpPr/>
          <p:nvPr/>
        </p:nvSpPr>
        <p:spPr>
          <a:xfrm>
            <a:off x="548640" y="1828800"/>
            <a:ext cx="54864" cy="3931920"/>
          </a:xfrm>
          <a:prstGeom prst="rect">
            <a:avLst/>
          </a:prstGeom>
          <a:solidFill>
            <a:srgbClr val="22D3EE"/>
          </a:solidFill>
          <a:ln w="12700">
            <a:solidFill>
              <a:srgbClr val="22D3EE"/>
            </a:solidFill>
            <a:prstDash val="solid"/>
          </a:ln>
        </p:spPr>
      </p:sp>
      <p:pic>
        <p:nvPicPr>
          <p:cNvPr id="12" name="Image 0" descr="preencoded.png">    </p:cNvPr>
          <p:cNvPicPr>
            <a:picLocks noChangeAspect="1"/>
          </p:cNvPicPr>
          <p:nvPr/>
        </p:nvPicPr>
        <p:blipFill>
          <a:blip r:embed="rId1"/>
          <a:stretch>
            <a:fillRect/>
          </a:stretch>
        </p:blipFill>
        <p:spPr>
          <a:xfrm>
            <a:off x="914400" y="2194560"/>
            <a:ext cx="457200" cy="457200"/>
          </a:xfrm>
          <a:prstGeom prst="rect">
            <a:avLst/>
          </a:prstGeom>
        </p:spPr>
      </p:pic>
      <p:sp>
        <p:nvSpPr>
          <p:cNvPr id="13" name="Text 10"/>
          <p:cNvSpPr/>
          <p:nvPr/>
        </p:nvSpPr>
        <p:spPr>
          <a:xfrm>
            <a:off x="914400" y="2880360"/>
            <a:ext cx="2057400" cy="548640"/>
          </a:xfrm>
          <a:prstGeom prst="rect">
            <a:avLst/>
          </a:prstGeom>
          <a:noFill/>
          <a:ln/>
        </p:spPr>
        <p:txBody>
          <a:bodyPr wrap="square" lIns="0" tIns="0" rIns="0" bIns="0" rtlCol="0" anchor="ctr"/>
          <a:lstStyle/>
          <a:p>
            <a:pPr indent="0" marL="0">
              <a:buNone/>
            </a:pPr>
            <a:r>
              <a:rPr lang="en-US" sz="2800" b="1" dirty="0">
                <a:solidFill>
                  <a:srgbClr val="F8FAFC"/>
                </a:solidFill>
                <a:latin typeface="Georgia" pitchFamily="34" charset="0"/>
                <a:ea typeface="Georgia" pitchFamily="34" charset="-122"/>
                <a:cs typeface="Georgia" pitchFamily="34" charset="-120"/>
              </a:rPr>
              <a:t>Logs</a:t>
            </a:r>
            <a:endParaRPr lang="en-US" sz="2800" dirty="0"/>
          </a:p>
        </p:txBody>
      </p:sp>
      <p:sp>
        <p:nvSpPr>
          <p:cNvPr id="14" name="Text 11"/>
          <p:cNvSpPr/>
          <p:nvPr/>
        </p:nvSpPr>
        <p:spPr>
          <a:xfrm>
            <a:off x="914400" y="3474720"/>
            <a:ext cx="2057400" cy="457200"/>
          </a:xfrm>
          <a:prstGeom prst="rect">
            <a:avLst/>
          </a:prstGeom>
          <a:noFill/>
          <a:ln/>
        </p:spPr>
        <p:txBody>
          <a:bodyPr wrap="square" lIns="0" tIns="0" rIns="0" bIns="0" rtlCol="0" anchor="ctr"/>
          <a:lstStyle/>
          <a:p>
            <a:pPr indent="0" marL="0">
              <a:buNone/>
            </a:pPr>
            <a:r>
              <a:rPr lang="en-US" sz="1700" i="1" dirty="0">
                <a:solidFill>
                  <a:srgbClr val="22D3EE"/>
                </a:solidFill>
                <a:latin typeface="Georgia" pitchFamily="34" charset="0"/>
                <a:ea typeface="Georgia" pitchFamily="34" charset="-122"/>
                <a:cs typeface="Georgia" pitchFamily="34" charset="-120"/>
              </a:rPr>
              <a:t>What happened?</a:t>
            </a:r>
            <a:endParaRPr lang="en-US" sz="1700" dirty="0"/>
          </a:p>
        </p:txBody>
      </p:sp>
      <p:sp>
        <p:nvSpPr>
          <p:cNvPr id="15" name="Text 12"/>
          <p:cNvSpPr/>
          <p:nvPr/>
        </p:nvSpPr>
        <p:spPr>
          <a:xfrm>
            <a:off x="914400" y="4069080"/>
            <a:ext cx="2011680" cy="10972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Timestamped events with rich detail</a:t>
            </a:r>
            <a:endParaRPr lang="en-US" sz="1500" dirty="0"/>
          </a:p>
        </p:txBody>
      </p:sp>
      <p:sp>
        <p:nvSpPr>
          <p:cNvPr id="16" name="Shape 13"/>
          <p:cNvSpPr/>
          <p:nvPr/>
        </p:nvSpPr>
        <p:spPr>
          <a:xfrm>
            <a:off x="3355848" y="1828800"/>
            <a:ext cx="2606040" cy="3931920"/>
          </a:xfrm>
          <a:prstGeom prst="rect">
            <a:avLst/>
          </a:prstGeom>
          <a:solidFill>
            <a:srgbClr val="141A31"/>
          </a:solidFill>
          <a:ln w="9525">
            <a:solidFill>
              <a:srgbClr val="2A3456"/>
            </a:solidFill>
            <a:prstDash val="solid"/>
          </a:ln>
        </p:spPr>
      </p:sp>
      <p:sp>
        <p:nvSpPr>
          <p:cNvPr id="17" name="Shape 14"/>
          <p:cNvSpPr/>
          <p:nvPr/>
        </p:nvSpPr>
        <p:spPr>
          <a:xfrm>
            <a:off x="3355848" y="1828800"/>
            <a:ext cx="54864" cy="3931920"/>
          </a:xfrm>
          <a:prstGeom prst="rect">
            <a:avLst/>
          </a:prstGeom>
          <a:solidFill>
            <a:srgbClr val="F5B53F"/>
          </a:solidFill>
          <a:ln w="12700">
            <a:solidFill>
              <a:srgbClr val="F5B53F"/>
            </a:solidFill>
            <a:prstDash val="solid"/>
          </a:ln>
        </p:spPr>
      </p:sp>
      <p:pic>
        <p:nvPicPr>
          <p:cNvPr id="18" name="Image 1" descr="preencoded.png">    </p:cNvPr>
          <p:cNvPicPr>
            <a:picLocks noChangeAspect="1"/>
          </p:cNvPicPr>
          <p:nvPr/>
        </p:nvPicPr>
        <p:blipFill>
          <a:blip r:embed="rId2"/>
          <a:stretch>
            <a:fillRect/>
          </a:stretch>
        </p:blipFill>
        <p:spPr>
          <a:xfrm>
            <a:off x="3721608" y="2194560"/>
            <a:ext cx="457200" cy="457200"/>
          </a:xfrm>
          <a:prstGeom prst="rect">
            <a:avLst/>
          </a:prstGeom>
        </p:spPr>
      </p:pic>
      <p:sp>
        <p:nvSpPr>
          <p:cNvPr id="19" name="Text 15"/>
          <p:cNvSpPr/>
          <p:nvPr/>
        </p:nvSpPr>
        <p:spPr>
          <a:xfrm>
            <a:off x="3721608" y="2880360"/>
            <a:ext cx="2057400" cy="548640"/>
          </a:xfrm>
          <a:prstGeom prst="rect">
            <a:avLst/>
          </a:prstGeom>
          <a:noFill/>
          <a:ln/>
        </p:spPr>
        <p:txBody>
          <a:bodyPr wrap="square" lIns="0" tIns="0" rIns="0" bIns="0" rtlCol="0" anchor="ctr"/>
          <a:lstStyle/>
          <a:p>
            <a:pPr indent="0" marL="0">
              <a:buNone/>
            </a:pPr>
            <a:r>
              <a:rPr lang="en-US" sz="2800" b="1" dirty="0">
                <a:solidFill>
                  <a:srgbClr val="F8FAFC"/>
                </a:solidFill>
                <a:latin typeface="Georgia" pitchFamily="34" charset="0"/>
                <a:ea typeface="Georgia" pitchFamily="34" charset="-122"/>
                <a:cs typeface="Georgia" pitchFamily="34" charset="-120"/>
              </a:rPr>
              <a:t>Metrics</a:t>
            </a:r>
            <a:endParaRPr lang="en-US" sz="2800" dirty="0"/>
          </a:p>
        </p:txBody>
      </p:sp>
      <p:sp>
        <p:nvSpPr>
          <p:cNvPr id="20" name="Text 16"/>
          <p:cNvSpPr/>
          <p:nvPr/>
        </p:nvSpPr>
        <p:spPr>
          <a:xfrm>
            <a:off x="3721608" y="3474720"/>
            <a:ext cx="2057400" cy="457200"/>
          </a:xfrm>
          <a:prstGeom prst="rect">
            <a:avLst/>
          </a:prstGeom>
          <a:noFill/>
          <a:ln/>
        </p:spPr>
        <p:txBody>
          <a:bodyPr wrap="square" lIns="0" tIns="0" rIns="0" bIns="0" rtlCol="0" anchor="ctr"/>
          <a:lstStyle/>
          <a:p>
            <a:pPr indent="0" marL="0">
              <a:buNone/>
            </a:pPr>
            <a:r>
              <a:rPr lang="en-US" sz="1700" i="1" dirty="0">
                <a:solidFill>
                  <a:srgbClr val="F5B53F"/>
                </a:solidFill>
                <a:latin typeface="Georgia" pitchFamily="34" charset="0"/>
                <a:ea typeface="Georgia" pitchFamily="34" charset="-122"/>
                <a:cs typeface="Georgia" pitchFamily="34" charset="-120"/>
              </a:rPr>
              <a:t>How much, how often?</a:t>
            </a:r>
            <a:endParaRPr lang="en-US" sz="1700" dirty="0"/>
          </a:p>
        </p:txBody>
      </p:sp>
      <p:sp>
        <p:nvSpPr>
          <p:cNvPr id="21" name="Text 17"/>
          <p:cNvSpPr/>
          <p:nvPr/>
        </p:nvSpPr>
        <p:spPr>
          <a:xfrm>
            <a:off x="3721608" y="4069080"/>
            <a:ext cx="2011680" cy="10972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Numbers aggregated over time</a:t>
            </a:r>
            <a:endParaRPr lang="en-US" sz="1500" dirty="0"/>
          </a:p>
        </p:txBody>
      </p:sp>
      <p:sp>
        <p:nvSpPr>
          <p:cNvPr id="22" name="Shape 18"/>
          <p:cNvSpPr/>
          <p:nvPr/>
        </p:nvSpPr>
        <p:spPr>
          <a:xfrm>
            <a:off x="6163056" y="1828800"/>
            <a:ext cx="2606040" cy="3931920"/>
          </a:xfrm>
          <a:prstGeom prst="rect">
            <a:avLst/>
          </a:prstGeom>
          <a:solidFill>
            <a:srgbClr val="141A31"/>
          </a:solidFill>
          <a:ln w="9525">
            <a:solidFill>
              <a:srgbClr val="2A3456"/>
            </a:solidFill>
            <a:prstDash val="solid"/>
          </a:ln>
        </p:spPr>
      </p:sp>
      <p:sp>
        <p:nvSpPr>
          <p:cNvPr id="23" name="Shape 19"/>
          <p:cNvSpPr/>
          <p:nvPr/>
        </p:nvSpPr>
        <p:spPr>
          <a:xfrm>
            <a:off x="6163056" y="1828800"/>
            <a:ext cx="54864" cy="3931920"/>
          </a:xfrm>
          <a:prstGeom prst="rect">
            <a:avLst/>
          </a:prstGeom>
          <a:solidFill>
            <a:srgbClr val="8B5CF6"/>
          </a:solidFill>
          <a:ln w="12700">
            <a:solidFill>
              <a:srgbClr val="8B5CF6"/>
            </a:solidFill>
            <a:prstDash val="solid"/>
          </a:ln>
        </p:spPr>
      </p:sp>
      <p:pic>
        <p:nvPicPr>
          <p:cNvPr id="24" name="Image 2" descr="preencoded.png">    </p:cNvPr>
          <p:cNvPicPr>
            <a:picLocks noChangeAspect="1"/>
          </p:cNvPicPr>
          <p:nvPr/>
        </p:nvPicPr>
        <p:blipFill>
          <a:blip r:embed="rId3"/>
          <a:stretch>
            <a:fillRect/>
          </a:stretch>
        </p:blipFill>
        <p:spPr>
          <a:xfrm>
            <a:off x="6528816" y="2194560"/>
            <a:ext cx="457200" cy="457200"/>
          </a:xfrm>
          <a:prstGeom prst="rect">
            <a:avLst/>
          </a:prstGeom>
        </p:spPr>
      </p:pic>
      <p:sp>
        <p:nvSpPr>
          <p:cNvPr id="25" name="Text 20"/>
          <p:cNvSpPr/>
          <p:nvPr/>
        </p:nvSpPr>
        <p:spPr>
          <a:xfrm>
            <a:off x="6528816" y="2880360"/>
            <a:ext cx="2057400" cy="548640"/>
          </a:xfrm>
          <a:prstGeom prst="rect">
            <a:avLst/>
          </a:prstGeom>
          <a:noFill/>
          <a:ln/>
        </p:spPr>
        <p:txBody>
          <a:bodyPr wrap="square" lIns="0" tIns="0" rIns="0" bIns="0" rtlCol="0" anchor="ctr"/>
          <a:lstStyle/>
          <a:p>
            <a:pPr indent="0" marL="0">
              <a:buNone/>
            </a:pPr>
            <a:r>
              <a:rPr lang="en-US" sz="2800" b="1" dirty="0">
                <a:solidFill>
                  <a:srgbClr val="F8FAFC"/>
                </a:solidFill>
                <a:latin typeface="Georgia" pitchFamily="34" charset="0"/>
                <a:ea typeface="Georgia" pitchFamily="34" charset="-122"/>
                <a:cs typeface="Georgia" pitchFamily="34" charset="-120"/>
              </a:rPr>
              <a:t>Traces</a:t>
            </a:r>
            <a:endParaRPr lang="en-US" sz="2800" dirty="0"/>
          </a:p>
        </p:txBody>
      </p:sp>
      <p:sp>
        <p:nvSpPr>
          <p:cNvPr id="26" name="Text 21"/>
          <p:cNvSpPr/>
          <p:nvPr/>
        </p:nvSpPr>
        <p:spPr>
          <a:xfrm>
            <a:off x="6528816" y="3474720"/>
            <a:ext cx="2057400" cy="457200"/>
          </a:xfrm>
          <a:prstGeom prst="rect">
            <a:avLst/>
          </a:prstGeom>
          <a:noFill/>
          <a:ln/>
        </p:spPr>
        <p:txBody>
          <a:bodyPr wrap="square" lIns="0" tIns="0" rIns="0" bIns="0" rtlCol="0" anchor="ctr"/>
          <a:lstStyle/>
          <a:p>
            <a:pPr indent="0" marL="0">
              <a:buNone/>
            </a:pPr>
            <a:r>
              <a:rPr lang="en-US" sz="1700" i="1" dirty="0">
                <a:solidFill>
                  <a:srgbClr val="8B5CF6"/>
                </a:solidFill>
                <a:latin typeface="Georgia" pitchFamily="34" charset="0"/>
                <a:ea typeface="Georgia" pitchFamily="34" charset="-122"/>
                <a:cs typeface="Georgia" pitchFamily="34" charset="-120"/>
              </a:rPr>
              <a:t>Where, and why?</a:t>
            </a:r>
            <a:endParaRPr lang="en-US" sz="1700" dirty="0"/>
          </a:p>
        </p:txBody>
      </p:sp>
      <p:sp>
        <p:nvSpPr>
          <p:cNvPr id="27" name="Text 22"/>
          <p:cNvSpPr/>
          <p:nvPr/>
        </p:nvSpPr>
        <p:spPr>
          <a:xfrm>
            <a:off x="6528816" y="4069080"/>
            <a:ext cx="2011680" cy="10972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The full journey of one request</a:t>
            </a:r>
            <a:endParaRPr lang="en-US" sz="1500" dirty="0"/>
          </a:p>
        </p:txBody>
      </p:sp>
      <p:sp>
        <p:nvSpPr>
          <p:cNvPr id="28" name="Shape 23"/>
          <p:cNvSpPr/>
          <p:nvPr/>
        </p:nvSpPr>
        <p:spPr>
          <a:xfrm>
            <a:off x="8970264" y="1828800"/>
            <a:ext cx="2606040" cy="3931920"/>
          </a:xfrm>
          <a:prstGeom prst="rect">
            <a:avLst/>
          </a:prstGeom>
          <a:solidFill>
            <a:srgbClr val="141A31"/>
          </a:solidFill>
          <a:ln w="9525">
            <a:solidFill>
              <a:srgbClr val="2A3456"/>
            </a:solidFill>
            <a:prstDash val="solid"/>
          </a:ln>
        </p:spPr>
      </p:sp>
      <p:sp>
        <p:nvSpPr>
          <p:cNvPr id="29" name="Shape 24"/>
          <p:cNvSpPr/>
          <p:nvPr/>
        </p:nvSpPr>
        <p:spPr>
          <a:xfrm>
            <a:off x="8970264" y="1828800"/>
            <a:ext cx="54864" cy="3931920"/>
          </a:xfrm>
          <a:prstGeom prst="rect">
            <a:avLst/>
          </a:prstGeom>
          <a:solidFill>
            <a:srgbClr val="2DD4BF"/>
          </a:solidFill>
          <a:ln w="12700">
            <a:solidFill>
              <a:srgbClr val="2DD4BF"/>
            </a:solidFill>
            <a:prstDash val="solid"/>
          </a:ln>
        </p:spPr>
      </p:sp>
      <p:pic>
        <p:nvPicPr>
          <p:cNvPr id="30" name="Image 3" descr="preencoded.png">    </p:cNvPr>
          <p:cNvPicPr>
            <a:picLocks noChangeAspect="1"/>
          </p:cNvPicPr>
          <p:nvPr/>
        </p:nvPicPr>
        <p:blipFill>
          <a:blip r:embed="rId4"/>
          <a:stretch>
            <a:fillRect/>
          </a:stretch>
        </p:blipFill>
        <p:spPr>
          <a:xfrm>
            <a:off x="9336024" y="2194560"/>
            <a:ext cx="457200" cy="457200"/>
          </a:xfrm>
          <a:prstGeom prst="rect">
            <a:avLst/>
          </a:prstGeom>
        </p:spPr>
      </p:pic>
      <p:sp>
        <p:nvSpPr>
          <p:cNvPr id="31" name="Text 25"/>
          <p:cNvSpPr/>
          <p:nvPr/>
        </p:nvSpPr>
        <p:spPr>
          <a:xfrm>
            <a:off x="9336024" y="2880360"/>
            <a:ext cx="2057400" cy="548640"/>
          </a:xfrm>
          <a:prstGeom prst="rect">
            <a:avLst/>
          </a:prstGeom>
          <a:noFill/>
          <a:ln/>
        </p:spPr>
        <p:txBody>
          <a:bodyPr wrap="square" lIns="0" tIns="0" rIns="0" bIns="0" rtlCol="0" anchor="ctr"/>
          <a:lstStyle/>
          <a:p>
            <a:pPr indent="0" marL="0">
              <a:buNone/>
            </a:pPr>
            <a:r>
              <a:rPr lang="en-US" sz="2800" b="1" dirty="0">
                <a:solidFill>
                  <a:srgbClr val="F8FAFC"/>
                </a:solidFill>
                <a:latin typeface="Georgia" pitchFamily="34" charset="0"/>
                <a:ea typeface="Georgia" pitchFamily="34" charset="-122"/>
                <a:cs typeface="Georgia" pitchFamily="34" charset="-120"/>
              </a:rPr>
              <a:t>Spans</a:t>
            </a:r>
            <a:endParaRPr lang="en-US" sz="2800" dirty="0"/>
          </a:p>
        </p:txBody>
      </p:sp>
      <p:sp>
        <p:nvSpPr>
          <p:cNvPr id="32" name="Text 26"/>
          <p:cNvSpPr/>
          <p:nvPr/>
        </p:nvSpPr>
        <p:spPr>
          <a:xfrm>
            <a:off x="9336024" y="3474720"/>
            <a:ext cx="2057400" cy="457200"/>
          </a:xfrm>
          <a:prstGeom prst="rect">
            <a:avLst/>
          </a:prstGeom>
          <a:noFill/>
          <a:ln/>
        </p:spPr>
        <p:txBody>
          <a:bodyPr wrap="square" lIns="0" tIns="0" rIns="0" bIns="0" rtlCol="0" anchor="ctr"/>
          <a:lstStyle/>
          <a:p>
            <a:pPr indent="0" marL="0">
              <a:buNone/>
            </a:pPr>
            <a:r>
              <a:rPr lang="en-US" sz="1700" i="1" dirty="0">
                <a:solidFill>
                  <a:srgbClr val="2DD4BF"/>
                </a:solidFill>
                <a:latin typeface="Georgia" pitchFamily="34" charset="0"/>
                <a:ea typeface="Georgia" pitchFamily="34" charset="-122"/>
                <a:cs typeface="Georgia" pitchFamily="34" charset="-120"/>
              </a:rPr>
              <a:t>Which step?</a:t>
            </a:r>
            <a:endParaRPr lang="en-US" sz="1700" dirty="0"/>
          </a:p>
        </p:txBody>
      </p:sp>
      <p:sp>
        <p:nvSpPr>
          <p:cNvPr id="33" name="Text 27"/>
          <p:cNvSpPr/>
          <p:nvPr/>
        </p:nvSpPr>
        <p:spPr>
          <a:xfrm>
            <a:off x="9336024" y="4069080"/>
            <a:ext cx="2011680" cy="10972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One timed operation inside a trace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12</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THE RUNNING EXAMPLE</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One tiny weather assistant</a:t>
            </a:r>
            <a:endParaRPr lang="en-US" sz="3200" dirty="0"/>
          </a:p>
        </p:txBody>
      </p:sp>
      <p:sp>
        <p:nvSpPr>
          <p:cNvPr id="10" name="Shape 8"/>
          <p:cNvSpPr/>
          <p:nvPr/>
        </p:nvSpPr>
        <p:spPr>
          <a:xfrm>
            <a:off x="548640" y="1828800"/>
            <a:ext cx="6583680" cy="3291840"/>
          </a:xfrm>
          <a:prstGeom prst="rect">
            <a:avLst/>
          </a:prstGeom>
          <a:solidFill>
            <a:srgbClr val="0F1428"/>
          </a:solidFill>
          <a:ln w="9525">
            <a:solidFill>
              <a:srgbClr val="2A3456"/>
            </a:solidFill>
            <a:prstDash val="solid"/>
          </a:ln>
        </p:spPr>
      </p:sp>
      <p:sp>
        <p:nvSpPr>
          <p:cNvPr id="11" name="Text 9"/>
          <p:cNvSpPr/>
          <p:nvPr/>
        </p:nvSpPr>
        <p:spPr>
          <a:xfrm>
            <a:off x="777240" y="2011680"/>
            <a:ext cx="6126480" cy="2926080"/>
          </a:xfrm>
          <a:prstGeom prst="rect">
            <a:avLst/>
          </a:prstGeom>
          <a:noFill/>
          <a:ln/>
        </p:spPr>
        <p:txBody>
          <a:bodyPr wrap="square" lIns="0" tIns="0" rIns="0" bIns="0" rtlCol="0" anchor="t"/>
          <a:lstStyle/>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get_weather</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(city):</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    return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FAKE_WEATHER[city]          </a:t>
            </a:r>
            <a:pPr indent="0" marL="0">
              <a:spcAft>
                <a:spcPts val="200"/>
              </a:spcAft>
              <a:buNone/>
            </a:pPr>
            <a:r>
              <a:rPr lang="en-US" sz="1400" dirty="0">
                <a:solidFill>
                  <a:srgbClr val="8A97B0"/>
                </a:solidFill>
                <a:latin typeface="Consolas" pitchFamily="34" charset="0"/>
                <a:ea typeface="Consolas" pitchFamily="34" charset="-122"/>
                <a:cs typeface="Consolas" pitchFamily="34" charset="-120"/>
              </a:rPr>
              <a:t># step 1</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ask_ai</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(question):</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    return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call gpt-4o-mini            </a:t>
            </a:r>
            <a:pPr indent="0" marL="0">
              <a:spcAft>
                <a:spcPts val="200"/>
              </a:spcAft>
              <a:buNone/>
            </a:pPr>
            <a:r>
              <a:rPr lang="en-US" sz="1400" dirty="0">
                <a:solidFill>
                  <a:srgbClr val="8A97B0"/>
                </a:solidFill>
                <a:latin typeface="Consolas" pitchFamily="34" charset="0"/>
                <a:ea typeface="Consolas" pitchFamily="34" charset="-122"/>
                <a:cs typeface="Consolas" pitchFamily="34" charset="-120"/>
              </a:rPr>
              <a:t># step 2</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weather_assistant</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(city):</a:t>
            </a:r>
            <a:endParaRPr lang="en-US" sz="1400" dirty="0"/>
          </a:p>
          <a:p>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    weather = get_weather(city)</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    return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ask_ai(</a:t>
            </a:r>
            <a:pPr indent="0" marL="0">
              <a:spcAft>
                <a:spcPts val="200"/>
              </a:spcAft>
              <a:buNone/>
            </a:pPr>
            <a:r>
              <a:rPr lang="en-US" sz="1400" dirty="0">
                <a:solidFill>
                  <a:srgbClr val="2DD4BF"/>
                </a:solidFill>
                <a:latin typeface="Consolas" pitchFamily="34" charset="0"/>
                <a:ea typeface="Consolas" pitchFamily="34" charset="-122"/>
                <a:cs typeface="Consolas" pitchFamily="34" charset="-120"/>
              </a:rPr>
              <a:t>f"Weather is {weather}. Umbrella?"</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a:t>
            </a:r>
            <a:endParaRPr lang="en-US" sz="1400" dirty="0"/>
          </a:p>
        </p:txBody>
      </p:sp>
      <p:sp>
        <p:nvSpPr>
          <p:cNvPr id="12" name="Text 10"/>
          <p:cNvSpPr/>
          <p:nvPr/>
        </p:nvSpPr>
        <p:spPr>
          <a:xfrm>
            <a:off x="7589520" y="1920240"/>
            <a:ext cx="4023360" cy="1645920"/>
          </a:xfrm>
          <a:prstGeom prst="rect">
            <a:avLst/>
          </a:prstGeom>
          <a:noFill/>
          <a:ln/>
        </p:spPr>
        <p:txBody>
          <a:bodyPr wrap="square" lIns="0" tIns="0" rIns="0" bIns="0" rtlCol="0" anchor="t"/>
          <a:lstStyle/>
          <a:p>
            <a:pPr indent="0" marL="0">
              <a:buNone/>
            </a:pPr>
            <a:r>
              <a:rPr lang="en-US" sz="2400" i="1" dirty="0">
                <a:solidFill>
                  <a:srgbClr val="F8FAFC"/>
                </a:solidFill>
                <a:latin typeface="Georgia" pitchFamily="34" charset="0"/>
                <a:ea typeface="Georgia" pitchFamily="34" charset="-122"/>
                <a:cs typeface="Georgia" pitchFamily="34" charset="-120"/>
              </a:rPr>
              <a:t>“It’s rainy in Paris. Should I carry an umbrella?”</a:t>
            </a:r>
            <a:endParaRPr lang="en-US" sz="2400" dirty="0"/>
          </a:p>
        </p:txBody>
      </p:sp>
      <p:sp>
        <p:nvSpPr>
          <p:cNvPr id="13" name="Shape 11"/>
          <p:cNvSpPr/>
          <p:nvPr/>
        </p:nvSpPr>
        <p:spPr>
          <a:xfrm>
            <a:off x="7589520" y="3794760"/>
            <a:ext cx="1463040" cy="329184"/>
          </a:xfrm>
          <a:prstGeom prst="roundRect">
            <a:avLst>
              <a:gd name="adj" fmla="val 50000"/>
            </a:avLst>
          </a:prstGeom>
          <a:solidFill>
            <a:srgbClr val="1B2340"/>
          </a:solidFill>
          <a:ln w="12700">
            <a:solidFill>
              <a:srgbClr val="F5B53F"/>
            </a:solidFill>
            <a:prstDash val="solid"/>
          </a:ln>
        </p:spPr>
      </p:sp>
      <p:sp>
        <p:nvSpPr>
          <p:cNvPr id="14" name="Text 12"/>
          <p:cNvSpPr/>
          <p:nvPr/>
        </p:nvSpPr>
        <p:spPr>
          <a:xfrm>
            <a:off x="7589520" y="3794760"/>
            <a:ext cx="1463040" cy="329184"/>
          </a:xfrm>
          <a:prstGeom prst="rect">
            <a:avLst/>
          </a:prstGeom>
          <a:noFill/>
          <a:ln/>
        </p:spPr>
        <p:txBody>
          <a:bodyPr wrap="square" lIns="0" tIns="0" rIns="0" bIns="0" rtlCol="0" anchor="ctr"/>
          <a:lstStyle/>
          <a:p>
            <a:pPr algn="ctr" indent="0" marL="0">
              <a:buNone/>
            </a:pPr>
            <a:r>
              <a:rPr lang="en-US" sz="1100" dirty="0">
                <a:solidFill>
                  <a:srgbClr val="F5B53F"/>
                </a:solidFill>
                <a:latin typeface="Consolas" pitchFamily="34" charset="0"/>
                <a:ea typeface="Consolas" pitchFamily="34" charset="-122"/>
                <a:cs typeface="Consolas" pitchFamily="34" charset="-120"/>
              </a:rPr>
              <a:t>get_weather</a:t>
            </a:r>
            <a:endParaRPr lang="en-US" sz="1100" dirty="0"/>
          </a:p>
        </p:txBody>
      </p:sp>
      <p:sp>
        <p:nvSpPr>
          <p:cNvPr id="15" name="Text 13"/>
          <p:cNvSpPr/>
          <p:nvPr/>
        </p:nvSpPr>
        <p:spPr>
          <a:xfrm>
            <a:off x="9189720" y="3794760"/>
            <a:ext cx="2560320" cy="329184"/>
          </a:xfrm>
          <a:prstGeom prst="rect">
            <a:avLst/>
          </a:prstGeom>
          <a:noFill/>
          <a:ln/>
        </p:spPr>
        <p:txBody>
          <a:bodyPr wrap="square" lIns="0" tIns="0" rIns="0" bIns="0" rtlCol="0" anchor="ctr"/>
          <a:lstStyle/>
          <a:p>
            <a:pPr indent="0" marL="0">
              <a:buNone/>
            </a:pPr>
            <a:r>
              <a:rPr lang="en-US" sz="1300" dirty="0">
                <a:solidFill>
                  <a:srgbClr val="8A97B0"/>
                </a:solidFill>
                <a:latin typeface="Calibri" pitchFamily="34" charset="0"/>
                <a:ea typeface="Calibri" pitchFamily="34" charset="-122"/>
                <a:cs typeface="Calibri" pitchFamily="34" charset="-120"/>
              </a:rPr>
              <a:t>looks up the weather</a:t>
            </a:r>
            <a:endParaRPr lang="en-US" sz="1300" dirty="0"/>
          </a:p>
        </p:txBody>
      </p:sp>
      <p:sp>
        <p:nvSpPr>
          <p:cNvPr id="16" name="Shape 14"/>
          <p:cNvSpPr/>
          <p:nvPr/>
        </p:nvSpPr>
        <p:spPr>
          <a:xfrm>
            <a:off x="7589520" y="4251960"/>
            <a:ext cx="1463040" cy="329184"/>
          </a:xfrm>
          <a:prstGeom prst="roundRect">
            <a:avLst>
              <a:gd name="adj" fmla="val 50000"/>
            </a:avLst>
          </a:prstGeom>
          <a:solidFill>
            <a:srgbClr val="1B2340"/>
          </a:solidFill>
          <a:ln w="12700">
            <a:solidFill>
              <a:srgbClr val="2DD4BF"/>
            </a:solidFill>
            <a:prstDash val="solid"/>
          </a:ln>
        </p:spPr>
      </p:sp>
      <p:sp>
        <p:nvSpPr>
          <p:cNvPr id="17" name="Text 15"/>
          <p:cNvSpPr/>
          <p:nvPr/>
        </p:nvSpPr>
        <p:spPr>
          <a:xfrm>
            <a:off x="7589520" y="4251960"/>
            <a:ext cx="1463040" cy="329184"/>
          </a:xfrm>
          <a:prstGeom prst="rect">
            <a:avLst/>
          </a:prstGeom>
          <a:noFill/>
          <a:ln/>
        </p:spPr>
        <p:txBody>
          <a:bodyPr wrap="square" lIns="0" tIns="0" rIns="0" bIns="0" rtlCol="0" anchor="ctr"/>
          <a:lstStyle/>
          <a:p>
            <a:pPr algn="ctr" indent="0" marL="0">
              <a:buNone/>
            </a:pPr>
            <a:r>
              <a:rPr lang="en-US" sz="1100" dirty="0">
                <a:solidFill>
                  <a:srgbClr val="2DD4BF"/>
                </a:solidFill>
                <a:latin typeface="Consolas" pitchFamily="34" charset="0"/>
                <a:ea typeface="Consolas" pitchFamily="34" charset="-122"/>
                <a:cs typeface="Consolas" pitchFamily="34" charset="-120"/>
              </a:rPr>
              <a:t>ask_ai</a:t>
            </a:r>
            <a:endParaRPr lang="en-US" sz="1100" dirty="0"/>
          </a:p>
        </p:txBody>
      </p:sp>
      <p:sp>
        <p:nvSpPr>
          <p:cNvPr id="18" name="Text 16"/>
          <p:cNvSpPr/>
          <p:nvPr/>
        </p:nvSpPr>
        <p:spPr>
          <a:xfrm>
            <a:off x="9189720" y="4251960"/>
            <a:ext cx="2560320" cy="329184"/>
          </a:xfrm>
          <a:prstGeom prst="rect">
            <a:avLst/>
          </a:prstGeom>
          <a:noFill/>
          <a:ln/>
        </p:spPr>
        <p:txBody>
          <a:bodyPr wrap="square" lIns="0" tIns="0" rIns="0" bIns="0" rtlCol="0" anchor="ctr"/>
          <a:lstStyle/>
          <a:p>
            <a:pPr indent="0" marL="0">
              <a:buNone/>
            </a:pPr>
            <a:r>
              <a:rPr lang="en-US" sz="1300" dirty="0">
                <a:solidFill>
                  <a:srgbClr val="8A97B0"/>
                </a:solidFill>
                <a:latin typeface="Calibri" pitchFamily="34" charset="0"/>
                <a:ea typeface="Calibri" pitchFamily="34" charset="-122"/>
                <a:cs typeface="Calibri" pitchFamily="34" charset="-120"/>
              </a:rPr>
              <a:t>asks the AI model, costs tokens</a:t>
            </a:r>
            <a:endParaRPr lang="en-US" sz="1300" dirty="0"/>
          </a:p>
        </p:txBody>
      </p:sp>
      <p:sp>
        <p:nvSpPr>
          <p:cNvPr id="19" name="Text 17"/>
          <p:cNvSpPr/>
          <p:nvPr/>
        </p:nvSpPr>
        <p:spPr>
          <a:xfrm>
            <a:off x="548640" y="5120640"/>
            <a:ext cx="10058400" cy="457200"/>
          </a:xfrm>
          <a:prstGeom prst="rect">
            <a:avLst/>
          </a:prstGeom>
          <a:noFill/>
          <a:ln/>
        </p:spPr>
        <p:txBody>
          <a:bodyPr wrap="square" lIns="0" tIns="0" rIns="0" bIns="0" rtlCol="0" anchor="t"/>
          <a:lstStyle/>
          <a:p>
            <a:pPr indent="0" marL="0">
              <a:buNone/>
            </a:pPr>
            <a:r>
              <a:rPr lang="en-US" sz="1400" i="1" dirty="0">
                <a:solidFill>
                  <a:srgbClr val="8A97B0"/>
                </a:solidFill>
                <a:latin typeface="Calibri" pitchFamily="34" charset="0"/>
                <a:ea typeface="Calibri" pitchFamily="34" charset="-122"/>
                <a:cs typeface="Calibri" pitchFamily="34" charset="-120"/>
              </a:rPr>
              <a:t>Two steps, plain Python. This exact function is in notebook 01, and we trace it in Langfuse and LangSmith later.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13</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SIGNAL 1</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Logs: what happened</a:t>
            </a:r>
            <a:endParaRPr lang="en-US" sz="3200" dirty="0"/>
          </a:p>
        </p:txBody>
      </p:sp>
      <p:sp>
        <p:nvSpPr>
          <p:cNvPr id="10" name="Shape 8"/>
          <p:cNvSpPr/>
          <p:nvPr/>
        </p:nvSpPr>
        <p:spPr>
          <a:xfrm>
            <a:off x="548640" y="1828800"/>
            <a:ext cx="6949440" cy="3566160"/>
          </a:xfrm>
          <a:prstGeom prst="rect">
            <a:avLst/>
          </a:prstGeom>
          <a:solidFill>
            <a:srgbClr val="0F1428"/>
          </a:solidFill>
          <a:ln w="9525">
            <a:solidFill>
              <a:srgbClr val="2A3456"/>
            </a:solidFill>
            <a:prstDash val="solid"/>
          </a:ln>
        </p:spPr>
      </p:sp>
      <p:sp>
        <p:nvSpPr>
          <p:cNvPr id="11" name="Text 9"/>
          <p:cNvSpPr/>
          <p:nvPr/>
        </p:nvSpPr>
        <p:spPr>
          <a:xfrm>
            <a:off x="777240" y="2011680"/>
            <a:ext cx="6492240" cy="3200400"/>
          </a:xfrm>
          <a:prstGeom prst="rect">
            <a:avLst/>
          </a:prstGeom>
          <a:noFill/>
          <a:ln/>
        </p:spPr>
        <p:txBody>
          <a:bodyPr wrap="square" lIns="0" tIns="0" rIns="0" bIns="0" rtlCol="0" anchor="t"/>
          <a:lstStyle/>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19:02:11.746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INFO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request received  city="London"</a:t>
            </a:r>
            <a:endParaRPr lang="en-US" sz="1300" dirty="0"/>
          </a:p>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19:02:11.747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INFO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request received  city="Tokyo"</a:t>
            </a:r>
            <a:endParaRPr lang="en-US" sz="1300" dirty="0"/>
          </a:p>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19:02:11.747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INFO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request received  city="Dubai"</a:t>
            </a:r>
            <a:endParaRPr lang="en-US" sz="1300" dirty="0"/>
          </a:p>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19:02:11.874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INFO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docs retrieved  count=1</a:t>
            </a:r>
            <a:endParaRPr lang="en-US" sz="1300" dirty="0"/>
          </a:p>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19:02:11.880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INFO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docs retrieved  count=1</a:t>
            </a:r>
            <a:endParaRPr lang="en-US" sz="1300" dirty="0"/>
          </a:p>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19:02:12.931  </a:t>
            </a:r>
            <a:pPr indent="0" marL="0">
              <a:spcAft>
                <a:spcPts val="200"/>
              </a:spcAft>
              <a:buNone/>
            </a:pPr>
            <a:r>
              <a:rPr lang="en-US" sz="1300" dirty="0">
                <a:solidFill>
                  <a:srgbClr val="F43F5E"/>
                </a:solidFill>
                <a:latin typeface="Consolas" pitchFamily="34" charset="0"/>
                <a:ea typeface="Consolas" pitchFamily="34" charset="-122"/>
                <a:cs typeface="Consolas" pitchFamily="34" charset="-120"/>
              </a:rPr>
              <a:t>ERROR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weather failed  timeout</a:t>
            </a:r>
            <a:endParaRPr lang="en-US" sz="1300" dirty="0"/>
          </a:p>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19:02:13.402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INFO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llm answered  tokens=97</a:t>
            </a:r>
            <a:endParaRPr lang="en-US" sz="1300" dirty="0"/>
          </a:p>
          <a:p>
            <a:pPr indent="0" marL="0">
              <a:spcAft>
                <a:spcPts val="200"/>
              </a:spcAft>
              <a:buNone/>
            </a:pPr>
            <a:r>
              <a:rPr lang="en-US" sz="1300" dirty="0">
                <a:solidFill>
                  <a:srgbClr val="8A97B0"/>
                </a:solidFill>
                <a:latin typeface="Consolas" pitchFamily="34" charset="0"/>
                <a:ea typeface="Consolas" pitchFamily="34" charset="-122"/>
                <a:cs typeface="Consolas" pitchFamily="34" charset="-120"/>
              </a:rPr>
              <a:t>19:02:13.655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INFO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llm answered  tokens=104</a:t>
            </a:r>
            <a:endParaRPr lang="en-US" sz="1300" dirty="0"/>
          </a:p>
        </p:txBody>
      </p:sp>
      <p:sp>
        <p:nvSpPr>
          <p:cNvPr id="12" name="Shape 10"/>
          <p:cNvSpPr/>
          <p:nvPr/>
        </p:nvSpPr>
        <p:spPr>
          <a:xfrm>
            <a:off x="7818120" y="1828800"/>
            <a:ext cx="3822192" cy="1600200"/>
          </a:xfrm>
          <a:prstGeom prst="rect">
            <a:avLst/>
          </a:prstGeom>
          <a:solidFill>
            <a:srgbClr val="141A31"/>
          </a:solidFill>
          <a:ln w="9525">
            <a:solidFill>
              <a:srgbClr val="2A3456"/>
            </a:solidFill>
            <a:prstDash val="solid"/>
          </a:ln>
        </p:spPr>
      </p:sp>
      <p:sp>
        <p:nvSpPr>
          <p:cNvPr id="13" name="Shape 11"/>
          <p:cNvSpPr/>
          <p:nvPr/>
        </p:nvSpPr>
        <p:spPr>
          <a:xfrm>
            <a:off x="7818120" y="1828800"/>
            <a:ext cx="54864" cy="1600200"/>
          </a:xfrm>
          <a:prstGeom prst="rect">
            <a:avLst/>
          </a:prstGeom>
          <a:solidFill>
            <a:srgbClr val="2DD4BF"/>
          </a:solidFill>
          <a:ln w="12700">
            <a:solidFill>
              <a:srgbClr val="2DD4BF"/>
            </a:solidFill>
            <a:prstDash val="solid"/>
          </a:ln>
        </p:spPr>
      </p:sp>
      <p:sp>
        <p:nvSpPr>
          <p:cNvPr id="14" name="Text 12"/>
          <p:cNvSpPr/>
          <p:nvPr/>
        </p:nvSpPr>
        <p:spPr>
          <a:xfrm>
            <a:off x="8092440" y="2011680"/>
            <a:ext cx="2743200" cy="274320"/>
          </a:xfrm>
          <a:prstGeom prst="rect">
            <a:avLst/>
          </a:prstGeom>
          <a:noFill/>
          <a:ln/>
        </p:spPr>
        <p:txBody>
          <a:bodyPr wrap="square" lIns="0" tIns="0" rIns="0" bIns="0" rtlCol="0" anchor="t"/>
          <a:lstStyle/>
          <a:p>
            <a:pPr indent="0" marL="0">
              <a:buNone/>
            </a:pPr>
            <a:r>
              <a:rPr lang="en-US" sz="1100" b="1" spc="300" kern="0" dirty="0">
                <a:solidFill>
                  <a:srgbClr val="2DD4BF"/>
                </a:solidFill>
                <a:latin typeface="Calibri" pitchFamily="34" charset="0"/>
                <a:ea typeface="Calibri" pitchFamily="34" charset="-122"/>
                <a:cs typeface="Calibri" pitchFamily="34" charset="-120"/>
              </a:rPr>
              <a:t>GOOD AT</a:t>
            </a:r>
            <a:endParaRPr lang="en-US" sz="1100" dirty="0"/>
          </a:p>
        </p:txBody>
      </p:sp>
      <p:sp>
        <p:nvSpPr>
          <p:cNvPr id="15" name="Text 13"/>
          <p:cNvSpPr/>
          <p:nvPr/>
        </p:nvSpPr>
        <p:spPr>
          <a:xfrm>
            <a:off x="8092440" y="2331720"/>
            <a:ext cx="3383280" cy="91440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Rich detail: error messages, parameters, audit trails.</a:t>
            </a:r>
            <a:endParaRPr lang="en-US" sz="1500" dirty="0"/>
          </a:p>
        </p:txBody>
      </p:sp>
      <p:sp>
        <p:nvSpPr>
          <p:cNvPr id="16" name="Shape 14"/>
          <p:cNvSpPr/>
          <p:nvPr/>
        </p:nvSpPr>
        <p:spPr>
          <a:xfrm>
            <a:off x="7818120" y="3657600"/>
            <a:ext cx="3822192" cy="1737360"/>
          </a:xfrm>
          <a:prstGeom prst="rect">
            <a:avLst/>
          </a:prstGeom>
          <a:solidFill>
            <a:srgbClr val="141A31"/>
          </a:solidFill>
          <a:ln w="9525">
            <a:solidFill>
              <a:srgbClr val="2A3456"/>
            </a:solidFill>
            <a:prstDash val="solid"/>
          </a:ln>
        </p:spPr>
      </p:sp>
      <p:sp>
        <p:nvSpPr>
          <p:cNvPr id="17" name="Shape 15"/>
          <p:cNvSpPr/>
          <p:nvPr/>
        </p:nvSpPr>
        <p:spPr>
          <a:xfrm>
            <a:off x="7818120" y="3657600"/>
            <a:ext cx="54864" cy="1737360"/>
          </a:xfrm>
          <a:prstGeom prst="rect">
            <a:avLst/>
          </a:prstGeom>
          <a:solidFill>
            <a:srgbClr val="F43F5E"/>
          </a:solidFill>
          <a:ln w="12700">
            <a:solidFill>
              <a:srgbClr val="F43F5E"/>
            </a:solidFill>
            <a:prstDash val="solid"/>
          </a:ln>
        </p:spPr>
      </p:sp>
      <p:sp>
        <p:nvSpPr>
          <p:cNvPr id="18" name="Text 16"/>
          <p:cNvSpPr/>
          <p:nvPr/>
        </p:nvSpPr>
        <p:spPr>
          <a:xfrm>
            <a:off x="8092440" y="3840480"/>
            <a:ext cx="2743200" cy="274320"/>
          </a:xfrm>
          <a:prstGeom prst="rect">
            <a:avLst/>
          </a:prstGeom>
          <a:noFill/>
          <a:ln/>
        </p:spPr>
        <p:txBody>
          <a:bodyPr wrap="square" lIns="0" tIns="0" rIns="0" bIns="0" rtlCol="0" anchor="t"/>
          <a:lstStyle/>
          <a:p>
            <a:pPr indent="0" marL="0">
              <a:buNone/>
            </a:pPr>
            <a:r>
              <a:rPr lang="en-US" sz="1100" b="1" spc="300" kern="0" dirty="0">
                <a:solidFill>
                  <a:srgbClr val="F43F5E"/>
                </a:solidFill>
                <a:latin typeface="Calibri" pitchFamily="34" charset="0"/>
                <a:ea typeface="Calibri" pitchFamily="34" charset="-122"/>
                <a:cs typeface="Calibri" pitchFamily="34" charset="-120"/>
              </a:rPr>
              <a:t>BLIND SPOT</a:t>
            </a:r>
            <a:endParaRPr lang="en-US" sz="1100" dirty="0"/>
          </a:p>
        </p:txBody>
      </p:sp>
      <p:sp>
        <p:nvSpPr>
          <p:cNvPr id="19" name="Text 17"/>
          <p:cNvSpPr/>
          <p:nvPr/>
        </p:nvSpPr>
        <p:spPr>
          <a:xfrm>
            <a:off x="8092440" y="4160520"/>
            <a:ext cx="3383280" cy="114300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Three users at once. Which “llm answered” belongs to London? Which request did the error break?</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14</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SIGNAL 2</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Metrics: how much, how often</a:t>
            </a:r>
            <a:endParaRPr lang="en-US" sz="3200" dirty="0"/>
          </a:p>
        </p:txBody>
      </p:sp>
      <p:sp>
        <p:nvSpPr>
          <p:cNvPr id="10" name="Text 8"/>
          <p:cNvSpPr/>
          <p:nvPr/>
        </p:nvSpPr>
        <p:spPr>
          <a:xfrm>
            <a:off x="548640" y="1691640"/>
            <a:ext cx="2651760" cy="822960"/>
          </a:xfrm>
          <a:prstGeom prst="rect">
            <a:avLst/>
          </a:prstGeom>
          <a:noFill/>
          <a:ln/>
        </p:spPr>
        <p:txBody>
          <a:bodyPr wrap="square" lIns="0" tIns="0" rIns="0" bIns="0" rtlCol="0" anchor="ctr"/>
          <a:lstStyle/>
          <a:p>
            <a:pPr indent="0" marL="0">
              <a:buNone/>
            </a:pPr>
            <a:r>
              <a:rPr lang="en-US" sz="4600" b="1" dirty="0">
                <a:solidFill>
                  <a:srgbClr val="2DD4BF"/>
                </a:solidFill>
                <a:latin typeface="Georgia" pitchFamily="34" charset="0"/>
                <a:ea typeface="Georgia" pitchFamily="34" charset="-122"/>
                <a:cs typeface="Georgia" pitchFamily="34" charset="-120"/>
              </a:rPr>
              <a:t>1.18s</a:t>
            </a:r>
            <a:endParaRPr lang="en-US" sz="4600" dirty="0"/>
          </a:p>
        </p:txBody>
      </p:sp>
      <p:sp>
        <p:nvSpPr>
          <p:cNvPr id="11" name="Text 9"/>
          <p:cNvSpPr/>
          <p:nvPr/>
        </p:nvSpPr>
        <p:spPr>
          <a:xfrm>
            <a:off x="548640" y="2514600"/>
            <a:ext cx="2651760" cy="3200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p50 latency</a:t>
            </a:r>
            <a:endParaRPr lang="en-US" sz="1300" dirty="0"/>
          </a:p>
        </p:txBody>
      </p:sp>
      <p:sp>
        <p:nvSpPr>
          <p:cNvPr id="12" name="Text 10"/>
          <p:cNvSpPr/>
          <p:nvPr/>
        </p:nvSpPr>
        <p:spPr>
          <a:xfrm>
            <a:off x="3355848" y="1691640"/>
            <a:ext cx="2651760" cy="822960"/>
          </a:xfrm>
          <a:prstGeom prst="rect">
            <a:avLst/>
          </a:prstGeom>
          <a:noFill/>
          <a:ln/>
        </p:spPr>
        <p:txBody>
          <a:bodyPr wrap="square" lIns="0" tIns="0" rIns="0" bIns="0" rtlCol="0" anchor="ctr"/>
          <a:lstStyle/>
          <a:p>
            <a:pPr indent="0" marL="0">
              <a:buNone/>
            </a:pPr>
            <a:r>
              <a:rPr lang="en-US" sz="4600" b="1" dirty="0">
                <a:solidFill>
                  <a:srgbClr val="F5B53F"/>
                </a:solidFill>
                <a:latin typeface="Georgia" pitchFamily="34" charset="0"/>
                <a:ea typeface="Georgia" pitchFamily="34" charset="-122"/>
                <a:cs typeface="Georgia" pitchFamily="34" charset="-120"/>
              </a:rPr>
              <a:t>2.74s</a:t>
            </a:r>
            <a:endParaRPr lang="en-US" sz="4600" dirty="0"/>
          </a:p>
        </p:txBody>
      </p:sp>
      <p:sp>
        <p:nvSpPr>
          <p:cNvPr id="13" name="Text 11"/>
          <p:cNvSpPr/>
          <p:nvPr/>
        </p:nvSpPr>
        <p:spPr>
          <a:xfrm>
            <a:off x="3355848" y="2514600"/>
            <a:ext cx="2651760" cy="3200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p95 latency</a:t>
            </a:r>
            <a:endParaRPr lang="en-US" sz="1300" dirty="0"/>
          </a:p>
        </p:txBody>
      </p:sp>
      <p:sp>
        <p:nvSpPr>
          <p:cNvPr id="14" name="Text 12"/>
          <p:cNvSpPr/>
          <p:nvPr/>
        </p:nvSpPr>
        <p:spPr>
          <a:xfrm>
            <a:off x="6163056" y="1691640"/>
            <a:ext cx="2651760" cy="822960"/>
          </a:xfrm>
          <a:prstGeom prst="rect">
            <a:avLst/>
          </a:prstGeom>
          <a:noFill/>
          <a:ln/>
        </p:spPr>
        <p:txBody>
          <a:bodyPr wrap="square" lIns="0" tIns="0" rIns="0" bIns="0" rtlCol="0" anchor="ctr"/>
          <a:lstStyle/>
          <a:p>
            <a:pPr indent="0" marL="0">
              <a:buNone/>
            </a:pPr>
            <a:r>
              <a:rPr lang="en-US" sz="4600" b="1" dirty="0">
                <a:solidFill>
                  <a:srgbClr val="F43F5E"/>
                </a:solidFill>
                <a:latin typeface="Georgia" pitchFamily="34" charset="0"/>
                <a:ea typeface="Georgia" pitchFamily="34" charset="-122"/>
                <a:cs typeface="Georgia" pitchFamily="34" charset="-120"/>
              </a:rPr>
              <a:t>25%</a:t>
            </a:r>
            <a:endParaRPr lang="en-US" sz="4600" dirty="0"/>
          </a:p>
        </p:txBody>
      </p:sp>
      <p:sp>
        <p:nvSpPr>
          <p:cNvPr id="15" name="Text 13"/>
          <p:cNvSpPr/>
          <p:nvPr/>
        </p:nvSpPr>
        <p:spPr>
          <a:xfrm>
            <a:off x="6163056" y="2514600"/>
            <a:ext cx="2651760" cy="3200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requests failed</a:t>
            </a:r>
            <a:endParaRPr lang="en-US" sz="1300" dirty="0"/>
          </a:p>
        </p:txBody>
      </p:sp>
      <p:sp>
        <p:nvSpPr>
          <p:cNvPr id="16" name="Text 14"/>
          <p:cNvSpPr/>
          <p:nvPr/>
        </p:nvSpPr>
        <p:spPr>
          <a:xfrm>
            <a:off x="8970264" y="1691640"/>
            <a:ext cx="2651760" cy="822960"/>
          </a:xfrm>
          <a:prstGeom prst="rect">
            <a:avLst/>
          </a:prstGeom>
          <a:noFill/>
          <a:ln/>
        </p:spPr>
        <p:txBody>
          <a:bodyPr wrap="square" lIns="0" tIns="0" rIns="0" bIns="0" rtlCol="0" anchor="ctr"/>
          <a:lstStyle/>
          <a:p>
            <a:pPr indent="0" marL="0">
              <a:buNone/>
            </a:pPr>
            <a:r>
              <a:rPr lang="en-US" sz="4600" b="1" dirty="0">
                <a:solidFill>
                  <a:srgbClr val="22D3EE"/>
                </a:solidFill>
                <a:latin typeface="Georgia" pitchFamily="34" charset="0"/>
                <a:ea typeface="Georgia" pitchFamily="34" charset="-122"/>
                <a:cs typeface="Georgia" pitchFamily="34" charset="-120"/>
              </a:rPr>
              <a:t>16</a:t>
            </a:r>
            <a:endParaRPr lang="en-US" sz="4600" dirty="0"/>
          </a:p>
        </p:txBody>
      </p:sp>
      <p:sp>
        <p:nvSpPr>
          <p:cNvPr id="17" name="Text 15"/>
          <p:cNvSpPr/>
          <p:nvPr/>
        </p:nvSpPr>
        <p:spPr>
          <a:xfrm>
            <a:off x="8970264" y="2514600"/>
            <a:ext cx="2651760" cy="3200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requests</a:t>
            </a:r>
            <a:endParaRPr lang="en-US" sz="1300" dirty="0"/>
          </a:p>
        </p:txBody>
      </p:sp>
      <p:pic>
        <p:nvPicPr>
          <p:cNvPr id="18" name="Image 0" descr="/Users/datasense/Desktop/ai-observability/slides/assets/metrics-hist.png">    </p:cNvPr>
          <p:cNvPicPr>
            <a:picLocks noChangeAspect="1"/>
          </p:cNvPicPr>
          <p:nvPr/>
        </p:nvPicPr>
        <p:blipFill>
          <a:blip r:embed="rId1"/>
          <a:stretch>
            <a:fillRect/>
          </a:stretch>
        </p:blipFill>
        <p:spPr>
          <a:xfrm>
            <a:off x="548640" y="3017520"/>
            <a:ext cx="8686800" cy="2829034"/>
          </a:xfrm>
          <a:prstGeom prst="rect">
            <a:avLst/>
          </a:prstGeom>
        </p:spPr>
      </p:pic>
      <p:sp>
        <p:nvSpPr>
          <p:cNvPr id="19" name="Text 16"/>
          <p:cNvSpPr/>
          <p:nvPr/>
        </p:nvSpPr>
        <p:spPr>
          <a:xfrm>
            <a:off x="9464040" y="3200400"/>
            <a:ext cx="2194560" cy="256032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Cheap, aggregated, perfect for dashboards and alerts. But it tells you p95 got worse, not which request or why.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15</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SIGNALS 3 AND 4</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Traces and spans: where, and why</a:t>
            </a:r>
            <a:endParaRPr lang="en-US" sz="3200" dirty="0"/>
          </a:p>
        </p:txBody>
      </p:sp>
      <p:pic>
        <p:nvPicPr>
          <p:cNvPr id="10" name="Image 0" descr="/Users/datasense/Desktop/ai-observability/slides/assets/waterfall-simple.png">    </p:cNvPr>
          <p:cNvPicPr>
            <a:picLocks noChangeAspect="1"/>
          </p:cNvPicPr>
          <p:nvPr/>
        </p:nvPicPr>
        <p:blipFill>
          <a:blip r:embed="rId1"/>
          <a:stretch>
            <a:fillRect/>
          </a:stretch>
        </p:blipFill>
        <p:spPr>
          <a:xfrm>
            <a:off x="548640" y="1828800"/>
            <a:ext cx="6949440" cy="1854946"/>
          </a:xfrm>
          <a:prstGeom prst="rect">
            <a:avLst/>
          </a:prstGeom>
        </p:spPr>
      </p:pic>
      <p:sp>
        <p:nvSpPr>
          <p:cNvPr id="11" name="Shape 8"/>
          <p:cNvSpPr/>
          <p:nvPr/>
        </p:nvSpPr>
        <p:spPr>
          <a:xfrm>
            <a:off x="7818120" y="1691640"/>
            <a:ext cx="3822192" cy="1143000"/>
          </a:xfrm>
          <a:prstGeom prst="rect">
            <a:avLst/>
          </a:prstGeom>
          <a:solidFill>
            <a:srgbClr val="141A31"/>
          </a:solidFill>
          <a:ln w="9525">
            <a:solidFill>
              <a:srgbClr val="2A3456"/>
            </a:solidFill>
            <a:prstDash val="solid"/>
          </a:ln>
        </p:spPr>
      </p:sp>
      <p:sp>
        <p:nvSpPr>
          <p:cNvPr id="12" name="Shape 9"/>
          <p:cNvSpPr/>
          <p:nvPr/>
        </p:nvSpPr>
        <p:spPr>
          <a:xfrm>
            <a:off x="7818120" y="1691640"/>
            <a:ext cx="54864" cy="1143000"/>
          </a:xfrm>
          <a:prstGeom prst="rect">
            <a:avLst/>
          </a:prstGeom>
          <a:solidFill>
            <a:srgbClr val="8B5CF6"/>
          </a:solidFill>
          <a:ln w="12700">
            <a:solidFill>
              <a:srgbClr val="8B5CF6"/>
            </a:solidFill>
            <a:prstDash val="solid"/>
          </a:ln>
        </p:spPr>
      </p:sp>
      <p:sp>
        <p:nvSpPr>
          <p:cNvPr id="13" name="Text 10"/>
          <p:cNvSpPr/>
          <p:nvPr/>
        </p:nvSpPr>
        <p:spPr>
          <a:xfrm>
            <a:off x="8092440" y="1856232"/>
            <a:ext cx="329184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Trace</a:t>
            </a:r>
            <a:endParaRPr lang="en-US" sz="1800" dirty="0"/>
          </a:p>
        </p:txBody>
      </p:sp>
      <p:sp>
        <p:nvSpPr>
          <p:cNvPr id="14" name="Text 11"/>
          <p:cNvSpPr/>
          <p:nvPr/>
        </p:nvSpPr>
        <p:spPr>
          <a:xfrm>
            <a:off x="8092440" y="2221992"/>
            <a:ext cx="338328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One request end to end, one trace_id</a:t>
            </a:r>
            <a:endParaRPr lang="en-US" sz="1300" dirty="0"/>
          </a:p>
        </p:txBody>
      </p:sp>
      <p:sp>
        <p:nvSpPr>
          <p:cNvPr id="15" name="Shape 12"/>
          <p:cNvSpPr/>
          <p:nvPr/>
        </p:nvSpPr>
        <p:spPr>
          <a:xfrm>
            <a:off x="7818120" y="3017520"/>
            <a:ext cx="3822192" cy="1143000"/>
          </a:xfrm>
          <a:prstGeom prst="rect">
            <a:avLst/>
          </a:prstGeom>
          <a:solidFill>
            <a:srgbClr val="141A31"/>
          </a:solidFill>
          <a:ln w="9525">
            <a:solidFill>
              <a:srgbClr val="2A3456"/>
            </a:solidFill>
            <a:prstDash val="solid"/>
          </a:ln>
        </p:spPr>
      </p:sp>
      <p:sp>
        <p:nvSpPr>
          <p:cNvPr id="16" name="Shape 13"/>
          <p:cNvSpPr/>
          <p:nvPr/>
        </p:nvSpPr>
        <p:spPr>
          <a:xfrm>
            <a:off x="7818120" y="3017520"/>
            <a:ext cx="54864" cy="1143000"/>
          </a:xfrm>
          <a:prstGeom prst="rect">
            <a:avLst/>
          </a:prstGeom>
          <a:solidFill>
            <a:srgbClr val="2DD4BF"/>
          </a:solidFill>
          <a:ln w="12700">
            <a:solidFill>
              <a:srgbClr val="2DD4BF"/>
            </a:solidFill>
            <a:prstDash val="solid"/>
          </a:ln>
        </p:spPr>
      </p:sp>
      <p:sp>
        <p:nvSpPr>
          <p:cNvPr id="17" name="Text 14"/>
          <p:cNvSpPr/>
          <p:nvPr/>
        </p:nvSpPr>
        <p:spPr>
          <a:xfrm>
            <a:off x="8092440" y="3182112"/>
            <a:ext cx="329184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Span</a:t>
            </a:r>
            <a:endParaRPr lang="en-US" sz="1800" dirty="0"/>
          </a:p>
        </p:txBody>
      </p:sp>
      <p:sp>
        <p:nvSpPr>
          <p:cNvPr id="18" name="Text 15"/>
          <p:cNvSpPr/>
          <p:nvPr/>
        </p:nvSpPr>
        <p:spPr>
          <a:xfrm>
            <a:off x="8092440" y="3547872"/>
            <a:ext cx="338328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One step: name, start, end, parent, attributes, status</a:t>
            </a:r>
            <a:endParaRPr lang="en-US" sz="1300" dirty="0"/>
          </a:p>
        </p:txBody>
      </p:sp>
      <p:sp>
        <p:nvSpPr>
          <p:cNvPr id="19" name="Shape 16"/>
          <p:cNvSpPr/>
          <p:nvPr/>
        </p:nvSpPr>
        <p:spPr>
          <a:xfrm>
            <a:off x="7818120" y="4343400"/>
            <a:ext cx="3822192" cy="1143000"/>
          </a:xfrm>
          <a:prstGeom prst="rect">
            <a:avLst/>
          </a:prstGeom>
          <a:solidFill>
            <a:srgbClr val="141A31"/>
          </a:solidFill>
          <a:ln w="9525">
            <a:solidFill>
              <a:srgbClr val="2A3456"/>
            </a:solidFill>
            <a:prstDash val="solid"/>
          </a:ln>
        </p:spPr>
      </p:sp>
      <p:sp>
        <p:nvSpPr>
          <p:cNvPr id="20" name="Shape 17"/>
          <p:cNvSpPr/>
          <p:nvPr/>
        </p:nvSpPr>
        <p:spPr>
          <a:xfrm>
            <a:off x="7818120" y="4343400"/>
            <a:ext cx="54864" cy="1143000"/>
          </a:xfrm>
          <a:prstGeom prst="rect">
            <a:avLst/>
          </a:prstGeom>
          <a:solidFill>
            <a:srgbClr val="F5B53F"/>
          </a:solidFill>
          <a:ln w="12700">
            <a:solidFill>
              <a:srgbClr val="F5B53F"/>
            </a:solidFill>
            <a:prstDash val="solid"/>
          </a:ln>
        </p:spPr>
      </p:sp>
      <p:sp>
        <p:nvSpPr>
          <p:cNvPr id="21" name="Text 18"/>
          <p:cNvSpPr/>
          <p:nvPr/>
        </p:nvSpPr>
        <p:spPr>
          <a:xfrm>
            <a:off x="8092440" y="4507992"/>
            <a:ext cx="329184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Nesting</a:t>
            </a:r>
            <a:endParaRPr lang="en-US" sz="1800" dirty="0"/>
          </a:p>
        </p:txBody>
      </p:sp>
      <p:sp>
        <p:nvSpPr>
          <p:cNvPr id="22" name="Text 19"/>
          <p:cNvSpPr/>
          <p:nvPr/>
        </p:nvSpPr>
        <p:spPr>
          <a:xfrm>
            <a:off x="8092440" y="4873752"/>
            <a:ext cx="3383280" cy="5486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Child spans sit inside their parent, so the tree draws itself</a:t>
            </a:r>
            <a:endParaRPr lang="en-US" sz="1300" dirty="0"/>
          </a:p>
        </p:txBody>
      </p:sp>
      <p:sp>
        <p:nvSpPr>
          <p:cNvPr id="23" name="Text 20"/>
          <p:cNvSpPr/>
          <p:nvPr/>
        </p:nvSpPr>
        <p:spPr>
          <a:xfrm>
            <a:off x="548640" y="3886200"/>
            <a:ext cx="6949440" cy="365760"/>
          </a:xfrm>
          <a:prstGeom prst="rect">
            <a:avLst/>
          </a:prstGeom>
          <a:noFill/>
          <a:ln/>
        </p:spPr>
        <p:txBody>
          <a:bodyPr wrap="square" lIns="0" tIns="0" rIns="0" bIns="0" rtlCol="0" anchor="t"/>
          <a:lstStyle/>
          <a:p>
            <a:pPr indent="0" marL="0">
              <a:buNone/>
            </a:pPr>
            <a:r>
              <a:rPr lang="en-US" sz="1200" i="1" dirty="0">
                <a:solidFill>
                  <a:srgbClr val="8A97B0"/>
                </a:solidFill>
                <a:latin typeface="Calibri" pitchFamily="34" charset="0"/>
                <a:ea typeface="Calibri" pitchFamily="34" charset="-122"/>
                <a:cs typeface="Calibri" pitchFamily="34" charset="-120"/>
              </a:rPr>
              <a:t>A real trace of weather_assistant("Tokyo") from notebook 01. Time runs left to right.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16</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UNDER THE HOOD</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Anatomy of a span</a:t>
            </a:r>
            <a:endParaRPr lang="en-US" sz="3200" dirty="0"/>
          </a:p>
        </p:txBody>
      </p:sp>
      <p:sp>
        <p:nvSpPr>
          <p:cNvPr id="10" name="Shape 8"/>
          <p:cNvSpPr/>
          <p:nvPr/>
        </p:nvSpPr>
        <p:spPr>
          <a:xfrm>
            <a:off x="548640" y="1737360"/>
            <a:ext cx="6766560" cy="4480560"/>
          </a:xfrm>
          <a:prstGeom prst="rect">
            <a:avLst/>
          </a:prstGeom>
          <a:solidFill>
            <a:srgbClr val="0F1428"/>
          </a:solidFill>
          <a:ln w="9525">
            <a:solidFill>
              <a:srgbClr val="2A3456"/>
            </a:solidFill>
            <a:prstDash val="solid"/>
          </a:ln>
        </p:spPr>
      </p:sp>
      <p:sp>
        <p:nvSpPr>
          <p:cNvPr id="11" name="Text 9"/>
          <p:cNvSpPr/>
          <p:nvPr/>
        </p:nvSpPr>
        <p:spPr>
          <a:xfrm>
            <a:off x="777240" y="1920240"/>
            <a:ext cx="6309360" cy="4114800"/>
          </a:xfrm>
          <a:prstGeom prst="rect">
            <a:avLst/>
          </a:prstGeom>
          <a:noFill/>
          <a:ln/>
        </p:spPr>
        <p:txBody>
          <a:bodyPr wrap="square" lIns="0" tIns="0" rIns="0" bIns="0" rtlCol="0" anchor="t"/>
          <a:lstStyle/>
          <a:p>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"trace_id": </a:t>
            </a:r>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"4bf92f3577b34da6a3ce929d0e0e4736",</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"span_id": </a:t>
            </a:r>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"00f067aa0ba902b7",</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"parent_span_id": </a:t>
            </a:r>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"a3ce929d0e0e4736",</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"name":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"chat gpt-4o-mini",</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"start / end":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"19:02:13.100" / "19:02:15.200",</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"status":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"OK",</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"attributes": {</a:t>
            </a:r>
            <a:endParaRPr lang="en-US" sz="1300" dirty="0"/>
          </a:p>
          <a:p>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    "gen_ai.operation.name":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"chat",</a:t>
            </a:r>
            <a:endParaRPr lang="en-US" sz="1300" dirty="0"/>
          </a:p>
          <a:p>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    "gen_ai.request.model":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"gpt-4o-mini",</a:t>
            </a:r>
            <a:endParaRPr lang="en-US" sz="1300" dirty="0"/>
          </a:p>
          <a:p>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    "gen_ai.usage.input_tokens": </a:t>
            </a:r>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640,</a:t>
            </a:r>
            <a:endParaRPr lang="en-US" sz="1300" dirty="0"/>
          </a:p>
          <a:p>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    "gen_ai.usage.output_tokens": </a:t>
            </a:r>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172</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a:t>
            </a:r>
            <a:endParaRPr lang="en-US" sz="1300" dirty="0"/>
          </a:p>
        </p:txBody>
      </p:sp>
      <p:sp>
        <p:nvSpPr>
          <p:cNvPr id="12" name="Text 10"/>
          <p:cNvSpPr/>
          <p:nvPr/>
        </p:nvSpPr>
        <p:spPr>
          <a:xfrm>
            <a:off x="7680960" y="1737360"/>
            <a:ext cx="3657600" cy="274320"/>
          </a:xfrm>
          <a:prstGeom prst="rect">
            <a:avLst/>
          </a:prstGeom>
          <a:noFill/>
          <a:ln/>
        </p:spPr>
        <p:txBody>
          <a:bodyPr wrap="square" lIns="0" tIns="0" rIns="0" bIns="0" rtlCol="0" anchor="t"/>
          <a:lstStyle/>
          <a:p>
            <a:pPr indent="0" marL="0">
              <a:buNone/>
            </a:pPr>
            <a:r>
              <a:rPr lang="en-US" sz="1100" b="1" spc="300" kern="0" dirty="0">
                <a:solidFill>
                  <a:srgbClr val="F5B53F"/>
                </a:solidFill>
                <a:latin typeface="Calibri" pitchFamily="34" charset="0"/>
                <a:ea typeface="Calibri" pitchFamily="34" charset="-122"/>
                <a:cs typeface="Calibri" pitchFamily="34" charset="-120"/>
              </a:rPr>
              <a:t>IDENTITY</a:t>
            </a:r>
            <a:endParaRPr lang="en-US" sz="1100" dirty="0"/>
          </a:p>
        </p:txBody>
      </p:sp>
      <p:sp>
        <p:nvSpPr>
          <p:cNvPr id="13" name="Text 11"/>
          <p:cNvSpPr/>
          <p:nvPr/>
        </p:nvSpPr>
        <p:spPr>
          <a:xfrm>
            <a:off x="7680960" y="2057400"/>
            <a:ext cx="3931920" cy="365760"/>
          </a:xfrm>
          <a:prstGeom prst="rect">
            <a:avLst/>
          </a:prstGeom>
          <a:noFill/>
          <a:ln/>
        </p:spPr>
        <p:txBody>
          <a:bodyPr wrap="square" lIns="0" tIns="0" rIns="0" bIns="0" rtlCol="0" anchor="t"/>
          <a:lstStyle/>
          <a:p>
            <a:pPr indent="0" marL="0">
              <a:buNone/>
            </a:pPr>
            <a:r>
              <a:rPr lang="en-US" sz="1500" dirty="0">
                <a:solidFill>
                  <a:srgbClr val="F8FAFC"/>
                </a:solidFill>
                <a:latin typeface="Consolas" pitchFamily="34" charset="0"/>
                <a:ea typeface="Consolas" pitchFamily="34" charset="-122"/>
                <a:cs typeface="Consolas" pitchFamily="34" charset="-120"/>
              </a:rPr>
              <a:t>trace_id + span_id + parent</a:t>
            </a:r>
            <a:endParaRPr lang="en-US" sz="1500" dirty="0"/>
          </a:p>
        </p:txBody>
      </p:sp>
      <p:sp>
        <p:nvSpPr>
          <p:cNvPr id="14" name="Text 12"/>
          <p:cNvSpPr/>
          <p:nvPr/>
        </p:nvSpPr>
        <p:spPr>
          <a:xfrm>
            <a:off x="7680960" y="2468880"/>
            <a:ext cx="3931920" cy="457200"/>
          </a:xfrm>
          <a:prstGeom prst="rect">
            <a:avLst/>
          </a:prstGeom>
          <a:noFill/>
          <a:ln/>
        </p:spPr>
        <p:txBody>
          <a:bodyPr wrap="square" lIns="0" tIns="0" rIns="0" bIns="0" rtlCol="0" anchor="t"/>
          <a:lstStyle/>
          <a:p>
            <a:pPr indent="0" marL="0">
              <a:buNone/>
            </a:pPr>
            <a:r>
              <a:rPr lang="en-US" sz="1400" dirty="0">
                <a:solidFill>
                  <a:srgbClr val="8A97B0"/>
                </a:solidFill>
                <a:latin typeface="Calibri" pitchFamily="34" charset="0"/>
                <a:ea typeface="Calibri" pitchFamily="34" charset="-122"/>
                <a:cs typeface="Calibri" pitchFamily="34" charset="-120"/>
              </a:rPr>
              <a:t>How four flat records become one tree</a:t>
            </a:r>
            <a:endParaRPr lang="en-US" sz="1400" dirty="0"/>
          </a:p>
        </p:txBody>
      </p:sp>
      <p:sp>
        <p:nvSpPr>
          <p:cNvPr id="15" name="Text 13"/>
          <p:cNvSpPr/>
          <p:nvPr/>
        </p:nvSpPr>
        <p:spPr>
          <a:xfrm>
            <a:off x="7680960" y="3246120"/>
            <a:ext cx="3657600" cy="274320"/>
          </a:xfrm>
          <a:prstGeom prst="rect">
            <a:avLst/>
          </a:prstGeom>
          <a:noFill/>
          <a:ln/>
        </p:spPr>
        <p:txBody>
          <a:bodyPr wrap="square" lIns="0" tIns="0" rIns="0" bIns="0" rtlCol="0" anchor="t"/>
          <a:lstStyle/>
          <a:p>
            <a:pPr indent="0" marL="0">
              <a:buNone/>
            </a:pPr>
            <a:r>
              <a:rPr lang="en-US" sz="1100" b="1" spc="300" kern="0" dirty="0">
                <a:solidFill>
                  <a:srgbClr val="2DD4BF"/>
                </a:solidFill>
                <a:latin typeface="Calibri" pitchFamily="34" charset="0"/>
                <a:ea typeface="Calibri" pitchFamily="34" charset="-122"/>
                <a:cs typeface="Calibri" pitchFamily="34" charset="-120"/>
              </a:rPr>
              <a:t>TIMING</a:t>
            </a:r>
            <a:endParaRPr lang="en-US" sz="1100" dirty="0"/>
          </a:p>
        </p:txBody>
      </p:sp>
      <p:sp>
        <p:nvSpPr>
          <p:cNvPr id="16" name="Text 14"/>
          <p:cNvSpPr/>
          <p:nvPr/>
        </p:nvSpPr>
        <p:spPr>
          <a:xfrm>
            <a:off x="7680960" y="3566160"/>
            <a:ext cx="3931920" cy="365760"/>
          </a:xfrm>
          <a:prstGeom prst="rect">
            <a:avLst/>
          </a:prstGeom>
          <a:noFill/>
          <a:ln/>
        </p:spPr>
        <p:txBody>
          <a:bodyPr wrap="square" lIns="0" tIns="0" rIns="0" bIns="0" rtlCol="0" anchor="t"/>
          <a:lstStyle/>
          <a:p>
            <a:pPr indent="0" marL="0">
              <a:buNone/>
            </a:pPr>
            <a:r>
              <a:rPr lang="en-US" sz="1500" dirty="0">
                <a:solidFill>
                  <a:srgbClr val="F8FAFC"/>
                </a:solidFill>
                <a:latin typeface="Consolas" pitchFamily="34" charset="0"/>
                <a:ea typeface="Consolas" pitchFamily="34" charset="-122"/>
                <a:cs typeface="Consolas" pitchFamily="34" charset="-120"/>
              </a:rPr>
              <a:t>start, end, status</a:t>
            </a:r>
            <a:endParaRPr lang="en-US" sz="1500" dirty="0"/>
          </a:p>
        </p:txBody>
      </p:sp>
      <p:sp>
        <p:nvSpPr>
          <p:cNvPr id="17" name="Text 15"/>
          <p:cNvSpPr/>
          <p:nvPr/>
        </p:nvSpPr>
        <p:spPr>
          <a:xfrm>
            <a:off x="7680960" y="3977640"/>
            <a:ext cx="3931920" cy="457200"/>
          </a:xfrm>
          <a:prstGeom prst="rect">
            <a:avLst/>
          </a:prstGeom>
          <a:noFill/>
          <a:ln/>
        </p:spPr>
        <p:txBody>
          <a:bodyPr wrap="square" lIns="0" tIns="0" rIns="0" bIns="0" rtlCol="0" anchor="t"/>
          <a:lstStyle/>
          <a:p>
            <a:pPr indent="0" marL="0">
              <a:buNone/>
            </a:pPr>
            <a:r>
              <a:rPr lang="en-US" sz="1400" dirty="0">
                <a:solidFill>
                  <a:srgbClr val="8A97B0"/>
                </a:solidFill>
                <a:latin typeface="Calibri" pitchFamily="34" charset="0"/>
                <a:ea typeface="Calibri" pitchFamily="34" charset="-122"/>
                <a:cs typeface="Calibri" pitchFamily="34" charset="-120"/>
              </a:rPr>
              <a:t>Latency and errors per step</a:t>
            </a:r>
            <a:endParaRPr lang="en-US" sz="1400" dirty="0"/>
          </a:p>
        </p:txBody>
      </p:sp>
      <p:sp>
        <p:nvSpPr>
          <p:cNvPr id="18" name="Text 16"/>
          <p:cNvSpPr/>
          <p:nvPr/>
        </p:nvSpPr>
        <p:spPr>
          <a:xfrm>
            <a:off x="7680960" y="4754880"/>
            <a:ext cx="3657600" cy="274320"/>
          </a:xfrm>
          <a:prstGeom prst="rect">
            <a:avLst/>
          </a:prstGeom>
          <a:noFill/>
          <a:ln/>
        </p:spPr>
        <p:txBody>
          <a:bodyPr wrap="square" lIns="0" tIns="0" rIns="0" bIns="0" rtlCol="0" anchor="t"/>
          <a:lstStyle/>
          <a:p>
            <a:pPr indent="0" marL="0">
              <a:buNone/>
            </a:pPr>
            <a:r>
              <a:rPr lang="en-US" sz="1100" b="1" spc="300" kern="0" dirty="0">
                <a:solidFill>
                  <a:srgbClr val="8B5CF6"/>
                </a:solidFill>
                <a:latin typeface="Calibri" pitchFamily="34" charset="0"/>
                <a:ea typeface="Calibri" pitchFamily="34" charset="-122"/>
                <a:cs typeface="Calibri" pitchFamily="34" charset="-120"/>
              </a:rPr>
              <a:t>ATTRIBUTES</a:t>
            </a:r>
            <a:endParaRPr lang="en-US" sz="1100" dirty="0"/>
          </a:p>
        </p:txBody>
      </p:sp>
      <p:sp>
        <p:nvSpPr>
          <p:cNvPr id="19" name="Text 17"/>
          <p:cNvSpPr/>
          <p:nvPr/>
        </p:nvSpPr>
        <p:spPr>
          <a:xfrm>
            <a:off x="7680960" y="5074920"/>
            <a:ext cx="3931920" cy="365760"/>
          </a:xfrm>
          <a:prstGeom prst="rect">
            <a:avLst/>
          </a:prstGeom>
          <a:noFill/>
          <a:ln/>
        </p:spPr>
        <p:txBody>
          <a:bodyPr wrap="square" lIns="0" tIns="0" rIns="0" bIns="0" rtlCol="0" anchor="t"/>
          <a:lstStyle/>
          <a:p>
            <a:pPr indent="0" marL="0">
              <a:buNone/>
            </a:pPr>
            <a:r>
              <a:rPr lang="en-US" sz="1500" dirty="0">
                <a:solidFill>
                  <a:srgbClr val="F8FAFC"/>
                </a:solidFill>
                <a:latin typeface="Consolas" pitchFamily="34" charset="0"/>
                <a:ea typeface="Consolas" pitchFamily="34" charset="-122"/>
                <a:cs typeface="Consolas" pitchFamily="34" charset="-120"/>
              </a:rPr>
              <a:t>gen_ai.*</a:t>
            </a:r>
            <a:endParaRPr lang="en-US" sz="1500" dirty="0"/>
          </a:p>
        </p:txBody>
      </p:sp>
      <p:sp>
        <p:nvSpPr>
          <p:cNvPr id="20" name="Text 18"/>
          <p:cNvSpPr/>
          <p:nvPr/>
        </p:nvSpPr>
        <p:spPr>
          <a:xfrm>
            <a:off x="7680960" y="5486400"/>
            <a:ext cx="3931920" cy="457200"/>
          </a:xfrm>
          <a:prstGeom prst="rect">
            <a:avLst/>
          </a:prstGeom>
          <a:noFill/>
          <a:ln/>
        </p:spPr>
        <p:txBody>
          <a:bodyPr wrap="square" lIns="0" tIns="0" rIns="0" bIns="0" rtlCol="0" anchor="t"/>
          <a:lstStyle/>
          <a:p>
            <a:pPr indent="0" marL="0">
              <a:buNone/>
            </a:pPr>
            <a:r>
              <a:rPr lang="en-US" sz="1400" dirty="0">
                <a:solidFill>
                  <a:srgbClr val="8A97B0"/>
                </a:solidFill>
                <a:latin typeface="Calibri" pitchFamily="34" charset="0"/>
                <a:ea typeface="Calibri" pitchFamily="34" charset="-122"/>
                <a:cs typeface="Calibri" pitchFamily="34" charset="-120"/>
              </a:rPr>
              <a:t>Model, tokens, and from them, cost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463040"/>
            <a:ext cx="3657600" cy="1463040"/>
          </a:xfrm>
          <a:prstGeom prst="rect">
            <a:avLst/>
          </a:prstGeom>
          <a:noFill/>
          <a:ln/>
        </p:spPr>
        <p:txBody>
          <a:bodyPr wrap="square" lIns="0" tIns="0" rIns="0" bIns="0" rtlCol="0" anchor="ctr"/>
          <a:lstStyle/>
          <a:p>
            <a:pPr indent="0" marL="0">
              <a:buNone/>
            </a:pPr>
            <a:r>
              <a:rPr lang="en-US" sz="11000" b="1" dirty="0">
                <a:solidFill>
                  <a:srgbClr val="1B2340"/>
                </a:solidFill>
                <a:latin typeface="Georgia" pitchFamily="34" charset="0"/>
                <a:ea typeface="Georgia" pitchFamily="34" charset="-122"/>
                <a:cs typeface="Georgia" pitchFamily="34" charset="-120"/>
              </a:rPr>
              <a:t>03</a:t>
            </a:r>
            <a:endParaRPr lang="en-US" sz="11000" dirty="0"/>
          </a:p>
        </p:txBody>
      </p:sp>
      <p:sp>
        <p:nvSpPr>
          <p:cNvPr id="3" name="Text 1"/>
          <p:cNvSpPr/>
          <p:nvPr/>
        </p:nvSpPr>
        <p:spPr>
          <a:xfrm>
            <a:off x="548640" y="2971800"/>
            <a:ext cx="8229600" cy="822960"/>
          </a:xfrm>
          <a:prstGeom prst="rect">
            <a:avLst/>
          </a:prstGeom>
          <a:noFill/>
          <a:ln/>
        </p:spPr>
        <p:txBody>
          <a:bodyPr wrap="square" lIns="0" tIns="0" rIns="0" bIns="0" rtlCol="0" anchor="ctr"/>
          <a:lstStyle/>
          <a:p>
            <a:pPr indent="0" marL="0">
              <a:buNone/>
            </a:pPr>
            <a:r>
              <a:rPr lang="en-US" sz="4400" b="1" dirty="0">
                <a:solidFill>
                  <a:srgbClr val="F8FAFC"/>
                </a:solidFill>
                <a:latin typeface="Georgia" pitchFamily="34" charset="0"/>
                <a:ea typeface="Georgia" pitchFamily="34" charset="-122"/>
                <a:cs typeface="Georgia" pitchFamily="34" charset="-120"/>
              </a:rPr>
              <a:t>OpenTelemetry</a:t>
            </a:r>
            <a:endParaRPr lang="en-US" sz="4400" dirty="0"/>
          </a:p>
        </p:txBody>
      </p:sp>
      <p:sp>
        <p:nvSpPr>
          <p:cNvPr id="4" name="Text 2"/>
          <p:cNvSpPr/>
          <p:nvPr/>
        </p:nvSpPr>
        <p:spPr>
          <a:xfrm>
            <a:off x="548640" y="3840480"/>
            <a:ext cx="8229600" cy="457200"/>
          </a:xfrm>
          <a:prstGeom prst="rect">
            <a:avLst/>
          </a:prstGeom>
          <a:noFill/>
          <a:ln/>
        </p:spPr>
        <p:txBody>
          <a:bodyPr wrap="square" lIns="0" tIns="0" rIns="0" bIns="0" rtlCol="0" anchor="ctr"/>
          <a:lstStyle/>
          <a:p>
            <a:pPr indent="0" marL="0">
              <a:buNone/>
            </a:pPr>
            <a:r>
              <a:rPr lang="en-US" sz="1800" dirty="0">
                <a:solidFill>
                  <a:srgbClr val="8A97B0"/>
                </a:solidFill>
                <a:latin typeface="Calibri" pitchFamily="34" charset="0"/>
                <a:ea typeface="Calibri" pitchFamily="34" charset="-122"/>
                <a:cs typeface="Calibri" pitchFamily="34" charset="-120"/>
              </a:rPr>
              <a:t>Instrument once, export anywhere.</a:t>
            </a:r>
            <a:endParaRPr lang="en-US" sz="1800" dirty="0"/>
          </a:p>
        </p:txBody>
      </p:sp>
      <p:sp>
        <p:nvSpPr>
          <p:cNvPr id="5" name="Shape 3"/>
          <p:cNvSpPr/>
          <p:nvPr/>
        </p:nvSpPr>
        <p:spPr>
          <a:xfrm>
            <a:off x="8351215" y="914400"/>
            <a:ext cx="3291840" cy="153619"/>
          </a:xfrm>
          <a:prstGeom prst="roundRect">
            <a:avLst>
              <a:gd name="adj" fmla="val 17857"/>
            </a:avLst>
          </a:prstGeom>
          <a:solidFill>
            <a:srgbClr val="8B5CF6"/>
          </a:solidFill>
          <a:ln w="12700">
            <a:solidFill>
              <a:srgbClr val="8B5CF6"/>
            </a:solidFill>
            <a:prstDash val="solid"/>
          </a:ln>
        </p:spPr>
      </p:sp>
      <p:sp>
        <p:nvSpPr>
          <p:cNvPr id="6" name="Shape 4"/>
          <p:cNvSpPr/>
          <p:nvPr/>
        </p:nvSpPr>
        <p:spPr>
          <a:xfrm>
            <a:off x="8482889" y="1199693"/>
            <a:ext cx="724205" cy="153619"/>
          </a:xfrm>
          <a:prstGeom prst="roundRect">
            <a:avLst>
              <a:gd name="adj" fmla="val 17857"/>
            </a:avLst>
          </a:prstGeom>
          <a:solidFill>
            <a:srgbClr val="22D3EE"/>
          </a:solidFill>
          <a:ln w="12700">
            <a:solidFill>
              <a:srgbClr val="22D3EE"/>
            </a:solidFill>
            <a:prstDash val="solid"/>
          </a:ln>
        </p:spPr>
      </p:sp>
      <p:sp>
        <p:nvSpPr>
          <p:cNvPr id="7" name="Shape 5"/>
          <p:cNvSpPr/>
          <p:nvPr/>
        </p:nvSpPr>
        <p:spPr>
          <a:xfrm>
            <a:off x="9240012" y="1484986"/>
            <a:ext cx="1185062" cy="153619"/>
          </a:xfrm>
          <a:prstGeom prst="roundRect">
            <a:avLst>
              <a:gd name="adj" fmla="val 17857"/>
            </a:avLst>
          </a:prstGeom>
          <a:solidFill>
            <a:srgbClr val="F5B53F"/>
          </a:solidFill>
          <a:ln w="12700">
            <a:solidFill>
              <a:srgbClr val="F5B53F"/>
            </a:solidFill>
            <a:prstDash val="solid"/>
          </a:ln>
        </p:spPr>
      </p:sp>
      <p:sp>
        <p:nvSpPr>
          <p:cNvPr id="8" name="Shape 6"/>
          <p:cNvSpPr/>
          <p:nvPr/>
        </p:nvSpPr>
        <p:spPr>
          <a:xfrm>
            <a:off x="10457993" y="1770278"/>
            <a:ext cx="1119226" cy="153619"/>
          </a:xfrm>
          <a:prstGeom prst="roundRect">
            <a:avLst>
              <a:gd name="adj" fmla="val 17857"/>
            </a:avLst>
          </a:prstGeom>
          <a:solidFill>
            <a:srgbClr val="2DD4BF"/>
          </a:solidFill>
          <a:ln w="12700">
            <a:solidFill>
              <a:srgbClr val="2DD4BF"/>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18</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THE OPEN STANDARD</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What is OpenTelemetry?</a:t>
            </a:r>
            <a:endParaRPr lang="en-US" sz="3200" dirty="0"/>
          </a:p>
        </p:txBody>
      </p:sp>
      <p:sp>
        <p:nvSpPr>
          <p:cNvPr id="10" name="Text 8"/>
          <p:cNvSpPr/>
          <p:nvPr/>
        </p:nvSpPr>
        <p:spPr>
          <a:xfrm>
            <a:off x="548640" y="1371600"/>
            <a:ext cx="11094415" cy="365760"/>
          </a:xfrm>
          <a:prstGeom prst="rect">
            <a:avLst/>
          </a:prstGeom>
          <a:noFill/>
          <a:ln/>
        </p:spPr>
        <p:txBody>
          <a:bodyPr wrap="square" lIns="0" tIns="0" rIns="0" bIns="0" rtlCol="0" anchor="ctr"/>
          <a:lstStyle/>
          <a:p>
            <a:pPr indent="0" marL="0">
              <a:buNone/>
            </a:pPr>
            <a:r>
              <a:rPr lang="en-US" sz="1500" dirty="0">
                <a:solidFill>
                  <a:srgbClr val="8A97B0"/>
                </a:solidFill>
                <a:latin typeface="Calibri" pitchFamily="34" charset="0"/>
                <a:ea typeface="Calibri" pitchFamily="34" charset="-122"/>
                <a:cs typeface="Calibri" pitchFamily="34" charset="-120"/>
              </a:rPr>
              <a:t>An open source, vendor-neutral CNCF project, supported by every major observability vendor.</a:t>
            </a:r>
            <a:endParaRPr lang="en-US" sz="1500" dirty="0"/>
          </a:p>
        </p:txBody>
      </p:sp>
      <p:pic>
        <p:nvPicPr>
          <p:cNvPr id="11" name="Image 0" descr="/Users/datasense/Desktop/ai-observability/slides/assets/logo-otel-color.png">    </p:cNvPr>
          <p:cNvPicPr>
            <a:picLocks noChangeAspect="1"/>
          </p:cNvPicPr>
          <p:nvPr/>
        </p:nvPicPr>
        <p:blipFill>
          <a:blip r:embed="rId1"/>
          <a:stretch>
            <a:fillRect/>
          </a:stretch>
        </p:blipFill>
        <p:spPr>
          <a:xfrm>
            <a:off x="10454335" y="1783080"/>
            <a:ext cx="1005840" cy="1005840"/>
          </a:xfrm>
          <a:prstGeom prst="rect">
            <a:avLst/>
          </a:prstGeom>
        </p:spPr>
      </p:pic>
      <p:sp>
        <p:nvSpPr>
          <p:cNvPr id="12" name="Shape 9"/>
          <p:cNvSpPr/>
          <p:nvPr/>
        </p:nvSpPr>
        <p:spPr>
          <a:xfrm>
            <a:off x="548640" y="2971800"/>
            <a:ext cx="2606040" cy="2377440"/>
          </a:xfrm>
          <a:prstGeom prst="rect">
            <a:avLst/>
          </a:prstGeom>
          <a:solidFill>
            <a:srgbClr val="141A31"/>
          </a:solidFill>
          <a:ln w="9525">
            <a:solidFill>
              <a:srgbClr val="2A3456"/>
            </a:solidFill>
            <a:prstDash val="solid"/>
          </a:ln>
        </p:spPr>
      </p:sp>
      <p:sp>
        <p:nvSpPr>
          <p:cNvPr id="13" name="Shape 10"/>
          <p:cNvSpPr/>
          <p:nvPr/>
        </p:nvSpPr>
        <p:spPr>
          <a:xfrm>
            <a:off x="548640" y="2971800"/>
            <a:ext cx="54864" cy="2377440"/>
          </a:xfrm>
          <a:prstGeom prst="rect">
            <a:avLst/>
          </a:prstGeom>
          <a:solidFill>
            <a:srgbClr val="8B5CF6"/>
          </a:solidFill>
          <a:ln w="12700">
            <a:solidFill>
              <a:srgbClr val="8B5CF6"/>
            </a:solidFill>
            <a:prstDash val="solid"/>
          </a:ln>
        </p:spPr>
      </p:sp>
      <p:sp>
        <p:nvSpPr>
          <p:cNvPr id="14" name="Text 11"/>
          <p:cNvSpPr/>
          <p:nvPr/>
        </p:nvSpPr>
        <p:spPr>
          <a:xfrm>
            <a:off x="868680" y="3291840"/>
            <a:ext cx="2103120" cy="73152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API + SDK</a:t>
            </a:r>
            <a:endParaRPr lang="en-US" sz="2000" dirty="0"/>
          </a:p>
        </p:txBody>
      </p:sp>
      <p:sp>
        <p:nvSpPr>
          <p:cNvPr id="15" name="Text 12"/>
          <p:cNvSpPr/>
          <p:nvPr/>
        </p:nvSpPr>
        <p:spPr>
          <a:xfrm>
            <a:off x="868680" y="4069080"/>
            <a:ext cx="2103120" cy="1097280"/>
          </a:xfrm>
          <a:prstGeom prst="rect">
            <a:avLst/>
          </a:prstGeom>
          <a:noFill/>
          <a:ln/>
        </p:spPr>
        <p:txBody>
          <a:bodyPr wrap="square" lIns="0" tIns="0" rIns="0" bIns="0" rtlCol="0" anchor="t"/>
          <a:lstStyle/>
          <a:p>
            <a:pPr indent="0" marL="0">
              <a:buNone/>
            </a:pPr>
            <a:r>
              <a:rPr lang="en-US" sz="1400" dirty="0">
                <a:solidFill>
                  <a:srgbClr val="8A97B0"/>
                </a:solidFill>
                <a:latin typeface="Calibri" pitchFamily="34" charset="0"/>
                <a:ea typeface="Calibri" pitchFamily="34" charset="-122"/>
                <a:cs typeface="Calibri" pitchFamily="34" charset="-120"/>
              </a:rPr>
              <a:t>Create spans, metrics and logs in your code</a:t>
            </a:r>
            <a:endParaRPr lang="en-US" sz="1400" dirty="0"/>
          </a:p>
        </p:txBody>
      </p:sp>
      <p:sp>
        <p:nvSpPr>
          <p:cNvPr id="16" name="Shape 13"/>
          <p:cNvSpPr/>
          <p:nvPr/>
        </p:nvSpPr>
        <p:spPr>
          <a:xfrm>
            <a:off x="3355848" y="2971800"/>
            <a:ext cx="2606040" cy="2377440"/>
          </a:xfrm>
          <a:prstGeom prst="rect">
            <a:avLst/>
          </a:prstGeom>
          <a:solidFill>
            <a:srgbClr val="141A31"/>
          </a:solidFill>
          <a:ln w="9525">
            <a:solidFill>
              <a:srgbClr val="2A3456"/>
            </a:solidFill>
            <a:prstDash val="solid"/>
          </a:ln>
        </p:spPr>
      </p:sp>
      <p:sp>
        <p:nvSpPr>
          <p:cNvPr id="17" name="Shape 14"/>
          <p:cNvSpPr/>
          <p:nvPr/>
        </p:nvSpPr>
        <p:spPr>
          <a:xfrm>
            <a:off x="3355848" y="2971800"/>
            <a:ext cx="54864" cy="2377440"/>
          </a:xfrm>
          <a:prstGeom prst="rect">
            <a:avLst/>
          </a:prstGeom>
          <a:solidFill>
            <a:srgbClr val="F5B53F"/>
          </a:solidFill>
          <a:ln w="12700">
            <a:solidFill>
              <a:srgbClr val="F5B53F"/>
            </a:solidFill>
            <a:prstDash val="solid"/>
          </a:ln>
        </p:spPr>
      </p:sp>
      <p:sp>
        <p:nvSpPr>
          <p:cNvPr id="18" name="Text 15"/>
          <p:cNvSpPr/>
          <p:nvPr/>
        </p:nvSpPr>
        <p:spPr>
          <a:xfrm>
            <a:off x="3675888" y="3291840"/>
            <a:ext cx="2103120" cy="73152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OTLP</a:t>
            </a:r>
            <a:endParaRPr lang="en-US" sz="2000" dirty="0"/>
          </a:p>
        </p:txBody>
      </p:sp>
      <p:sp>
        <p:nvSpPr>
          <p:cNvPr id="19" name="Text 16"/>
          <p:cNvSpPr/>
          <p:nvPr/>
        </p:nvSpPr>
        <p:spPr>
          <a:xfrm>
            <a:off x="3675888" y="4069080"/>
            <a:ext cx="2103120" cy="1097280"/>
          </a:xfrm>
          <a:prstGeom prst="rect">
            <a:avLst/>
          </a:prstGeom>
          <a:noFill/>
          <a:ln/>
        </p:spPr>
        <p:txBody>
          <a:bodyPr wrap="square" lIns="0" tIns="0" rIns="0" bIns="0" rtlCol="0" anchor="t"/>
          <a:lstStyle/>
          <a:p>
            <a:pPr indent="0" marL="0">
              <a:buNone/>
            </a:pPr>
            <a:r>
              <a:rPr lang="en-US" sz="1400" dirty="0">
                <a:solidFill>
                  <a:srgbClr val="8A97B0"/>
                </a:solidFill>
                <a:latin typeface="Calibri" pitchFamily="34" charset="0"/>
                <a:ea typeface="Calibri" pitchFamily="34" charset="-122"/>
                <a:cs typeface="Calibri" pitchFamily="34" charset="-120"/>
              </a:rPr>
              <a:t>The wire protocol that ships them, over HTTP or gRPC</a:t>
            </a:r>
            <a:endParaRPr lang="en-US" sz="1400" dirty="0"/>
          </a:p>
        </p:txBody>
      </p:sp>
      <p:sp>
        <p:nvSpPr>
          <p:cNvPr id="20" name="Shape 17"/>
          <p:cNvSpPr/>
          <p:nvPr/>
        </p:nvSpPr>
        <p:spPr>
          <a:xfrm>
            <a:off x="6163056" y="2971800"/>
            <a:ext cx="2606040" cy="2377440"/>
          </a:xfrm>
          <a:prstGeom prst="rect">
            <a:avLst/>
          </a:prstGeom>
          <a:solidFill>
            <a:srgbClr val="141A31"/>
          </a:solidFill>
          <a:ln w="9525">
            <a:solidFill>
              <a:srgbClr val="2A3456"/>
            </a:solidFill>
            <a:prstDash val="solid"/>
          </a:ln>
        </p:spPr>
      </p:sp>
      <p:sp>
        <p:nvSpPr>
          <p:cNvPr id="21" name="Shape 18"/>
          <p:cNvSpPr/>
          <p:nvPr/>
        </p:nvSpPr>
        <p:spPr>
          <a:xfrm>
            <a:off x="6163056" y="2971800"/>
            <a:ext cx="54864" cy="2377440"/>
          </a:xfrm>
          <a:prstGeom prst="rect">
            <a:avLst/>
          </a:prstGeom>
          <a:solidFill>
            <a:srgbClr val="2DD4BF"/>
          </a:solidFill>
          <a:ln w="12700">
            <a:solidFill>
              <a:srgbClr val="2DD4BF"/>
            </a:solidFill>
            <a:prstDash val="solid"/>
          </a:ln>
        </p:spPr>
      </p:sp>
      <p:sp>
        <p:nvSpPr>
          <p:cNvPr id="22" name="Text 19"/>
          <p:cNvSpPr/>
          <p:nvPr/>
        </p:nvSpPr>
        <p:spPr>
          <a:xfrm>
            <a:off x="6483096" y="3291840"/>
            <a:ext cx="2103120" cy="73152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Collector</a:t>
            </a:r>
            <a:endParaRPr lang="en-US" sz="2000" dirty="0"/>
          </a:p>
        </p:txBody>
      </p:sp>
      <p:sp>
        <p:nvSpPr>
          <p:cNvPr id="23" name="Text 20"/>
          <p:cNvSpPr/>
          <p:nvPr/>
        </p:nvSpPr>
        <p:spPr>
          <a:xfrm>
            <a:off x="6483096" y="4069080"/>
            <a:ext cx="2103120" cy="1097280"/>
          </a:xfrm>
          <a:prstGeom prst="rect">
            <a:avLst/>
          </a:prstGeom>
          <a:noFill/>
          <a:ln/>
        </p:spPr>
        <p:txBody>
          <a:bodyPr wrap="square" lIns="0" tIns="0" rIns="0" bIns="0" rtlCol="0" anchor="t"/>
          <a:lstStyle/>
          <a:p>
            <a:pPr indent="0" marL="0">
              <a:buNone/>
            </a:pPr>
            <a:r>
              <a:rPr lang="en-US" sz="1400" dirty="0">
                <a:solidFill>
                  <a:srgbClr val="8A97B0"/>
                </a:solidFill>
                <a:latin typeface="Calibri" pitchFamily="34" charset="0"/>
                <a:ea typeface="Calibri" pitchFamily="34" charset="-122"/>
                <a:cs typeface="Calibri" pitchFamily="34" charset="-120"/>
              </a:rPr>
              <a:t>Optional process that filters, redacts, samples and routes</a:t>
            </a:r>
            <a:endParaRPr lang="en-US" sz="1400" dirty="0"/>
          </a:p>
        </p:txBody>
      </p:sp>
      <p:sp>
        <p:nvSpPr>
          <p:cNvPr id="24" name="Shape 21"/>
          <p:cNvSpPr/>
          <p:nvPr/>
        </p:nvSpPr>
        <p:spPr>
          <a:xfrm>
            <a:off x="8970264" y="2971800"/>
            <a:ext cx="2606040" cy="2377440"/>
          </a:xfrm>
          <a:prstGeom prst="rect">
            <a:avLst/>
          </a:prstGeom>
          <a:solidFill>
            <a:srgbClr val="141A31"/>
          </a:solidFill>
          <a:ln w="9525">
            <a:solidFill>
              <a:srgbClr val="2A3456"/>
            </a:solidFill>
            <a:prstDash val="solid"/>
          </a:ln>
        </p:spPr>
      </p:sp>
      <p:sp>
        <p:nvSpPr>
          <p:cNvPr id="25" name="Shape 22"/>
          <p:cNvSpPr/>
          <p:nvPr/>
        </p:nvSpPr>
        <p:spPr>
          <a:xfrm>
            <a:off x="8970264" y="2971800"/>
            <a:ext cx="54864" cy="2377440"/>
          </a:xfrm>
          <a:prstGeom prst="rect">
            <a:avLst/>
          </a:prstGeom>
          <a:solidFill>
            <a:srgbClr val="22D3EE"/>
          </a:solidFill>
          <a:ln w="12700">
            <a:solidFill>
              <a:srgbClr val="22D3EE"/>
            </a:solidFill>
            <a:prstDash val="solid"/>
          </a:ln>
        </p:spPr>
      </p:sp>
      <p:sp>
        <p:nvSpPr>
          <p:cNvPr id="26" name="Text 23"/>
          <p:cNvSpPr/>
          <p:nvPr/>
        </p:nvSpPr>
        <p:spPr>
          <a:xfrm>
            <a:off x="9290304" y="3291840"/>
            <a:ext cx="2103120" cy="73152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Semantic conventions</a:t>
            </a:r>
            <a:endParaRPr lang="en-US" sz="2000" dirty="0"/>
          </a:p>
        </p:txBody>
      </p:sp>
      <p:sp>
        <p:nvSpPr>
          <p:cNvPr id="27" name="Text 24"/>
          <p:cNvSpPr/>
          <p:nvPr/>
        </p:nvSpPr>
        <p:spPr>
          <a:xfrm>
            <a:off x="9290304" y="4069080"/>
            <a:ext cx="2103120" cy="1097280"/>
          </a:xfrm>
          <a:prstGeom prst="rect">
            <a:avLst/>
          </a:prstGeom>
          <a:noFill/>
          <a:ln/>
        </p:spPr>
        <p:txBody>
          <a:bodyPr wrap="square" lIns="0" tIns="0" rIns="0" bIns="0" rtlCol="0" anchor="t"/>
          <a:lstStyle/>
          <a:p>
            <a:pPr indent="0" marL="0">
              <a:buNone/>
            </a:pPr>
            <a:r>
              <a:rPr lang="en-US" sz="1400" dirty="0">
                <a:solidFill>
                  <a:srgbClr val="8A97B0"/>
                </a:solidFill>
                <a:latin typeface="Calibri" pitchFamily="34" charset="0"/>
                <a:ea typeface="Calibri" pitchFamily="34" charset="-122"/>
                <a:cs typeface="Calibri" pitchFamily="34" charset="-120"/>
              </a:rPr>
              <a:t>Agreed names, such as gen_ai.request.model</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19</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HOW TELEMETRY FLOWS</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From your process to any backend</a:t>
            </a:r>
            <a:endParaRPr lang="en-US" sz="3200" dirty="0"/>
          </a:p>
        </p:txBody>
      </p:sp>
      <p:pic>
        <p:nvPicPr>
          <p:cNvPr id="10" name="Image 0" descr="/Users/datasense/Desktop/ai-observability/slides/assets/otel-pipeline.png">    </p:cNvPr>
          <p:cNvPicPr>
            <a:picLocks noChangeAspect="1"/>
          </p:cNvPicPr>
          <p:nvPr/>
        </p:nvPicPr>
        <p:blipFill>
          <a:blip r:embed="rId1"/>
          <a:stretch>
            <a:fillRect/>
          </a:stretch>
        </p:blipFill>
        <p:spPr>
          <a:xfrm>
            <a:off x="685800" y="1600200"/>
            <a:ext cx="10820095" cy="378703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20</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IN CODE</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Creating spans with OpenTelemetry</a:t>
            </a:r>
            <a:endParaRPr lang="en-US" sz="3200" dirty="0"/>
          </a:p>
        </p:txBody>
      </p:sp>
      <p:sp>
        <p:nvSpPr>
          <p:cNvPr id="10" name="Shape 8"/>
          <p:cNvSpPr/>
          <p:nvPr/>
        </p:nvSpPr>
        <p:spPr>
          <a:xfrm>
            <a:off x="548640" y="1737360"/>
            <a:ext cx="7406640" cy="3931920"/>
          </a:xfrm>
          <a:prstGeom prst="rect">
            <a:avLst/>
          </a:prstGeom>
          <a:solidFill>
            <a:srgbClr val="0F1428"/>
          </a:solidFill>
          <a:ln w="9525">
            <a:solidFill>
              <a:srgbClr val="2A3456"/>
            </a:solidFill>
            <a:prstDash val="solid"/>
          </a:ln>
        </p:spPr>
      </p:sp>
      <p:sp>
        <p:nvSpPr>
          <p:cNvPr id="11" name="Text 9"/>
          <p:cNvSpPr/>
          <p:nvPr/>
        </p:nvSpPr>
        <p:spPr>
          <a:xfrm>
            <a:off x="777240" y="1920240"/>
            <a:ext cx="6949440" cy="3566160"/>
          </a:xfrm>
          <a:prstGeom prst="rect">
            <a:avLst/>
          </a:prstGeom>
          <a:noFill/>
          <a:ln/>
        </p:spPr>
        <p:txBody>
          <a:bodyPr wrap="square" lIns="0" tIns="0" rIns="0" bIns="0" rtlCol="0" anchor="t"/>
          <a:lstStyle/>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weather_assistant</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(city):</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    with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tracer.start_as_current_span(</a:t>
            </a:r>
            <a:pPr indent="0" marL="0">
              <a:spcAft>
                <a:spcPts val="200"/>
              </a:spcAft>
              <a:buNone/>
            </a:pPr>
            <a:r>
              <a:rPr lang="en-US" sz="1400" dirty="0">
                <a:solidFill>
                  <a:srgbClr val="2DD4BF"/>
                </a:solidFill>
                <a:latin typeface="Consolas" pitchFamily="34" charset="0"/>
                <a:ea typeface="Consolas" pitchFamily="34" charset="-122"/>
                <a:cs typeface="Consolas" pitchFamily="34" charset="-120"/>
              </a:rPr>
              <a:t>"weather_assistant"</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        with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tracer.start_as_current_span(</a:t>
            </a:r>
            <a:pPr indent="0" marL="0">
              <a:spcAft>
                <a:spcPts val="200"/>
              </a:spcAft>
              <a:buNone/>
            </a:pPr>
            <a:r>
              <a:rPr lang="en-US" sz="1400" dirty="0">
                <a:solidFill>
                  <a:srgbClr val="2DD4BF"/>
                </a:solidFill>
                <a:latin typeface="Consolas" pitchFamily="34" charset="0"/>
                <a:ea typeface="Consolas" pitchFamily="34" charset="-122"/>
                <a:cs typeface="Consolas" pitchFamily="34" charset="-120"/>
              </a:rPr>
              <a:t>"get_weather"</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a:t>
            </a:r>
            <a:endParaRPr lang="en-US" sz="1400" dirty="0"/>
          </a:p>
          <a:p>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            weather = get_weather(city)</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        with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tracer.start_as_current_span(</a:t>
            </a:r>
            <a:pPr indent="0" marL="0">
              <a:spcAft>
                <a:spcPts val="200"/>
              </a:spcAft>
              <a:buNone/>
            </a:pPr>
            <a:r>
              <a:rPr lang="en-US" sz="1400" dirty="0">
                <a:solidFill>
                  <a:srgbClr val="2DD4BF"/>
                </a:solidFill>
                <a:latin typeface="Consolas" pitchFamily="34" charset="0"/>
                <a:ea typeface="Consolas" pitchFamily="34" charset="-122"/>
                <a:cs typeface="Consolas" pitchFamily="34" charset="-120"/>
              </a:rPr>
              <a:t>"ask_ai"</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            return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ask_ai(...)</a:t>
            </a:r>
            <a:endParaRPr lang="en-US" sz="1400" dirty="0"/>
          </a:p>
        </p:txBody>
      </p:sp>
      <p:sp>
        <p:nvSpPr>
          <p:cNvPr id="12" name="Text 10"/>
          <p:cNvSpPr/>
          <p:nvPr/>
        </p:nvSpPr>
        <p:spPr>
          <a:xfrm>
            <a:off x="8229600" y="1783080"/>
            <a:ext cx="3429000" cy="365760"/>
          </a:xfrm>
          <a:prstGeom prst="rect">
            <a:avLst/>
          </a:prstGeom>
          <a:noFill/>
          <a:ln/>
        </p:spPr>
        <p:txBody>
          <a:bodyPr wrap="square" lIns="0" tIns="0" rIns="0" bIns="0" rtlCol="0" anchor="t"/>
          <a:lstStyle/>
          <a:p>
            <a:pPr indent="0" marL="0">
              <a:buNone/>
            </a:pPr>
            <a:r>
              <a:rPr lang="en-US" sz="1400" dirty="0">
                <a:solidFill>
                  <a:srgbClr val="F5B53F"/>
                </a:solidFill>
                <a:latin typeface="Consolas" pitchFamily="34" charset="0"/>
                <a:ea typeface="Consolas" pitchFamily="34" charset="-122"/>
                <a:cs typeface="Consolas" pitchFamily="34" charset="-120"/>
              </a:rPr>
              <a:t>with ... :</a:t>
            </a:r>
            <a:endParaRPr lang="en-US" sz="1400" dirty="0"/>
          </a:p>
        </p:txBody>
      </p:sp>
      <p:sp>
        <p:nvSpPr>
          <p:cNvPr id="13" name="Text 11"/>
          <p:cNvSpPr/>
          <p:nvPr/>
        </p:nvSpPr>
        <p:spPr>
          <a:xfrm>
            <a:off x="8229600" y="2167128"/>
            <a:ext cx="3429000" cy="73152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everything inside the block is timed and recorded as one span</a:t>
            </a:r>
            <a:endParaRPr lang="en-US" sz="1400" dirty="0"/>
          </a:p>
        </p:txBody>
      </p:sp>
      <p:sp>
        <p:nvSpPr>
          <p:cNvPr id="14" name="Text 12"/>
          <p:cNvSpPr/>
          <p:nvPr/>
        </p:nvSpPr>
        <p:spPr>
          <a:xfrm>
            <a:off x="8229600" y="3063240"/>
            <a:ext cx="3429000" cy="365760"/>
          </a:xfrm>
          <a:prstGeom prst="rect">
            <a:avLst/>
          </a:prstGeom>
          <a:noFill/>
          <a:ln/>
        </p:spPr>
        <p:txBody>
          <a:bodyPr wrap="square" lIns="0" tIns="0" rIns="0" bIns="0" rtlCol="0" anchor="t"/>
          <a:lstStyle/>
          <a:p>
            <a:pPr indent="0" marL="0">
              <a:buNone/>
            </a:pPr>
            <a:r>
              <a:rPr lang="en-US" sz="1400" dirty="0">
                <a:solidFill>
                  <a:srgbClr val="F5B53F"/>
                </a:solidFill>
                <a:latin typeface="Consolas" pitchFamily="34" charset="0"/>
                <a:ea typeface="Consolas" pitchFamily="34" charset="-122"/>
                <a:cs typeface="Consolas" pitchFamily="34" charset="-120"/>
              </a:rPr>
              <a:t>nested with</a:t>
            </a:r>
            <a:endParaRPr lang="en-US" sz="1400" dirty="0"/>
          </a:p>
        </p:txBody>
      </p:sp>
      <p:sp>
        <p:nvSpPr>
          <p:cNvPr id="15" name="Text 13"/>
          <p:cNvSpPr/>
          <p:nvPr/>
        </p:nvSpPr>
        <p:spPr>
          <a:xfrm>
            <a:off x="8229600" y="3447288"/>
            <a:ext cx="3429000" cy="73152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a span started inside another becomes its child, so you get a tree</a:t>
            </a:r>
            <a:endParaRPr lang="en-US" sz="1400" dirty="0"/>
          </a:p>
        </p:txBody>
      </p:sp>
      <p:sp>
        <p:nvSpPr>
          <p:cNvPr id="16" name="Text 14"/>
          <p:cNvSpPr/>
          <p:nvPr/>
        </p:nvSpPr>
        <p:spPr>
          <a:xfrm>
            <a:off x="8229600" y="4343400"/>
            <a:ext cx="3429000" cy="365760"/>
          </a:xfrm>
          <a:prstGeom prst="rect">
            <a:avLst/>
          </a:prstGeom>
          <a:noFill/>
          <a:ln/>
        </p:spPr>
        <p:txBody>
          <a:bodyPr wrap="square" lIns="0" tIns="0" rIns="0" bIns="0" rtlCol="0" anchor="t"/>
          <a:lstStyle/>
          <a:p>
            <a:pPr indent="0" marL="0">
              <a:buNone/>
            </a:pPr>
            <a:r>
              <a:rPr lang="en-US" sz="1400" dirty="0">
                <a:solidFill>
                  <a:srgbClr val="F5B53F"/>
                </a:solidFill>
                <a:latin typeface="Consolas" pitchFamily="34" charset="0"/>
                <a:ea typeface="Consolas" pitchFamily="34" charset="-122"/>
                <a:cs typeface="Consolas" pitchFamily="34" charset="-120"/>
              </a:rPr>
              <a:t>one line per step</a:t>
            </a:r>
            <a:endParaRPr lang="en-US" sz="1400" dirty="0"/>
          </a:p>
        </p:txBody>
      </p:sp>
      <p:sp>
        <p:nvSpPr>
          <p:cNvPr id="17" name="Text 15"/>
          <p:cNvSpPr/>
          <p:nvPr/>
        </p:nvSpPr>
        <p:spPr>
          <a:xfrm>
            <a:off x="8229600" y="4727448"/>
            <a:ext cx="3429000" cy="73152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no other changes to your function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463040"/>
            <a:ext cx="3657600" cy="1463040"/>
          </a:xfrm>
          <a:prstGeom prst="rect">
            <a:avLst/>
          </a:prstGeom>
          <a:noFill/>
          <a:ln/>
        </p:spPr>
        <p:txBody>
          <a:bodyPr wrap="square" lIns="0" tIns="0" rIns="0" bIns="0" rtlCol="0" anchor="ctr"/>
          <a:lstStyle/>
          <a:p>
            <a:pPr indent="0" marL="0">
              <a:buNone/>
            </a:pPr>
            <a:r>
              <a:rPr lang="en-US" sz="11000" b="1" dirty="0">
                <a:solidFill>
                  <a:srgbClr val="1B2340"/>
                </a:solidFill>
                <a:latin typeface="Georgia" pitchFamily="34" charset="0"/>
                <a:ea typeface="Georgia" pitchFamily="34" charset="-122"/>
                <a:cs typeface="Georgia" pitchFamily="34" charset="-120"/>
              </a:rPr>
              <a:t>04</a:t>
            </a:r>
            <a:endParaRPr lang="en-US" sz="11000" dirty="0"/>
          </a:p>
        </p:txBody>
      </p:sp>
      <p:sp>
        <p:nvSpPr>
          <p:cNvPr id="3" name="Text 1"/>
          <p:cNvSpPr/>
          <p:nvPr/>
        </p:nvSpPr>
        <p:spPr>
          <a:xfrm>
            <a:off x="548640" y="2971800"/>
            <a:ext cx="8229600" cy="822960"/>
          </a:xfrm>
          <a:prstGeom prst="rect">
            <a:avLst/>
          </a:prstGeom>
          <a:noFill/>
          <a:ln/>
        </p:spPr>
        <p:txBody>
          <a:bodyPr wrap="square" lIns="0" tIns="0" rIns="0" bIns="0" rtlCol="0" anchor="ctr"/>
          <a:lstStyle/>
          <a:p>
            <a:pPr indent="0" marL="0">
              <a:buNone/>
            </a:pPr>
            <a:r>
              <a:rPr lang="en-US" sz="4400" b="1" dirty="0">
                <a:solidFill>
                  <a:srgbClr val="F8FAFC"/>
                </a:solidFill>
                <a:latin typeface="Georgia" pitchFamily="34" charset="0"/>
                <a:ea typeface="Georgia" pitchFamily="34" charset="-122"/>
                <a:cs typeface="Georgia" pitchFamily="34" charset="-120"/>
              </a:rPr>
              <a:t>What to measure</a:t>
            </a:r>
            <a:endParaRPr lang="en-US" sz="4400" dirty="0"/>
          </a:p>
        </p:txBody>
      </p:sp>
      <p:sp>
        <p:nvSpPr>
          <p:cNvPr id="4" name="Text 2"/>
          <p:cNvSpPr/>
          <p:nvPr/>
        </p:nvSpPr>
        <p:spPr>
          <a:xfrm>
            <a:off x="548640" y="3840480"/>
            <a:ext cx="8229600" cy="457200"/>
          </a:xfrm>
          <a:prstGeom prst="rect">
            <a:avLst/>
          </a:prstGeom>
          <a:noFill/>
          <a:ln/>
        </p:spPr>
        <p:txBody>
          <a:bodyPr wrap="square" lIns="0" tIns="0" rIns="0" bIns="0" rtlCol="0" anchor="ctr"/>
          <a:lstStyle/>
          <a:p>
            <a:pPr indent="0" marL="0">
              <a:buNone/>
            </a:pPr>
            <a:r>
              <a:rPr lang="en-US" sz="1800" dirty="0">
                <a:solidFill>
                  <a:srgbClr val="8A97B0"/>
                </a:solidFill>
                <a:latin typeface="Calibri" pitchFamily="34" charset="0"/>
                <a:ea typeface="Calibri" pitchFamily="34" charset="-122"/>
                <a:cs typeface="Calibri" pitchFamily="34" charset="-120"/>
              </a:rPr>
              <a:t>Latency, errors, tokens, cost and quality.</a:t>
            </a:r>
            <a:endParaRPr lang="en-US" sz="1800" dirty="0"/>
          </a:p>
        </p:txBody>
      </p:sp>
      <p:sp>
        <p:nvSpPr>
          <p:cNvPr id="5" name="Shape 3"/>
          <p:cNvSpPr/>
          <p:nvPr/>
        </p:nvSpPr>
        <p:spPr>
          <a:xfrm>
            <a:off x="8351215" y="914400"/>
            <a:ext cx="3291840" cy="153619"/>
          </a:xfrm>
          <a:prstGeom prst="roundRect">
            <a:avLst>
              <a:gd name="adj" fmla="val 17857"/>
            </a:avLst>
          </a:prstGeom>
          <a:solidFill>
            <a:srgbClr val="8B5CF6"/>
          </a:solidFill>
          <a:ln w="12700">
            <a:solidFill>
              <a:srgbClr val="8B5CF6"/>
            </a:solidFill>
            <a:prstDash val="solid"/>
          </a:ln>
        </p:spPr>
      </p:sp>
      <p:sp>
        <p:nvSpPr>
          <p:cNvPr id="6" name="Shape 4"/>
          <p:cNvSpPr/>
          <p:nvPr/>
        </p:nvSpPr>
        <p:spPr>
          <a:xfrm>
            <a:off x="8482889" y="1199693"/>
            <a:ext cx="724205" cy="153619"/>
          </a:xfrm>
          <a:prstGeom prst="roundRect">
            <a:avLst>
              <a:gd name="adj" fmla="val 17857"/>
            </a:avLst>
          </a:prstGeom>
          <a:solidFill>
            <a:srgbClr val="22D3EE"/>
          </a:solidFill>
          <a:ln w="12700">
            <a:solidFill>
              <a:srgbClr val="22D3EE"/>
            </a:solidFill>
            <a:prstDash val="solid"/>
          </a:ln>
        </p:spPr>
      </p:sp>
      <p:sp>
        <p:nvSpPr>
          <p:cNvPr id="7" name="Shape 5"/>
          <p:cNvSpPr/>
          <p:nvPr/>
        </p:nvSpPr>
        <p:spPr>
          <a:xfrm>
            <a:off x="9240012" y="1484986"/>
            <a:ext cx="1185062" cy="153619"/>
          </a:xfrm>
          <a:prstGeom prst="roundRect">
            <a:avLst>
              <a:gd name="adj" fmla="val 17857"/>
            </a:avLst>
          </a:prstGeom>
          <a:solidFill>
            <a:srgbClr val="F5B53F"/>
          </a:solidFill>
          <a:ln w="12700">
            <a:solidFill>
              <a:srgbClr val="F5B53F"/>
            </a:solidFill>
            <a:prstDash val="solid"/>
          </a:ln>
        </p:spPr>
      </p:sp>
      <p:sp>
        <p:nvSpPr>
          <p:cNvPr id="8" name="Shape 6"/>
          <p:cNvSpPr/>
          <p:nvPr/>
        </p:nvSpPr>
        <p:spPr>
          <a:xfrm>
            <a:off x="10457993" y="1770278"/>
            <a:ext cx="1119226" cy="153619"/>
          </a:xfrm>
          <a:prstGeom prst="roundRect">
            <a:avLst>
              <a:gd name="adj" fmla="val 17857"/>
            </a:avLst>
          </a:prstGeom>
          <a:solidFill>
            <a:srgbClr val="2DD4BF"/>
          </a:solidFill>
          <a:ln w="12700">
            <a:solidFill>
              <a:srgbClr val="2DD4BF"/>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22</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PERFORMANCE</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Watch the tail, not the average</a:t>
            </a:r>
            <a:endParaRPr lang="en-US" sz="3200" dirty="0"/>
          </a:p>
        </p:txBody>
      </p:sp>
      <p:pic>
        <p:nvPicPr>
          <p:cNvPr id="10" name="Image 0" descr="/Users/datasense/Desktop/ai-observability/slides/assets/latency-cdf.png">    </p:cNvPr>
          <p:cNvPicPr>
            <a:picLocks noChangeAspect="1"/>
          </p:cNvPicPr>
          <p:nvPr/>
        </p:nvPicPr>
        <p:blipFill>
          <a:blip r:embed="rId1"/>
          <a:stretch>
            <a:fillRect/>
          </a:stretch>
        </p:blipFill>
        <p:spPr>
          <a:xfrm>
            <a:off x="548640" y="1645920"/>
            <a:ext cx="7589520" cy="2471683"/>
          </a:xfrm>
          <a:prstGeom prst="rect">
            <a:avLst/>
          </a:prstGeom>
        </p:spPr>
      </p:pic>
      <p:sp>
        <p:nvSpPr>
          <p:cNvPr id="11" name="Text 8"/>
          <p:cNvSpPr/>
          <p:nvPr/>
        </p:nvSpPr>
        <p:spPr>
          <a:xfrm>
            <a:off x="8503920" y="1691640"/>
            <a:ext cx="3200400" cy="32004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p50 / p95 / p99</a:t>
            </a:r>
            <a:endParaRPr lang="en-US" sz="1600" dirty="0"/>
          </a:p>
        </p:txBody>
      </p:sp>
      <p:sp>
        <p:nvSpPr>
          <p:cNvPr id="12" name="Text 9"/>
          <p:cNvSpPr/>
          <p:nvPr/>
        </p:nvSpPr>
        <p:spPr>
          <a:xfrm>
            <a:off x="8503920" y="2020824"/>
            <a:ext cx="3200400" cy="45720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end-to-end latency percentiles</a:t>
            </a:r>
            <a:endParaRPr lang="en-US" sz="1300" dirty="0"/>
          </a:p>
        </p:txBody>
      </p:sp>
      <p:sp>
        <p:nvSpPr>
          <p:cNvPr id="13" name="Text 10"/>
          <p:cNvSpPr/>
          <p:nvPr/>
        </p:nvSpPr>
        <p:spPr>
          <a:xfrm>
            <a:off x="8503920" y="2606040"/>
            <a:ext cx="3200400" cy="32004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Time to first token</a:t>
            </a:r>
            <a:endParaRPr lang="en-US" sz="1600" dirty="0"/>
          </a:p>
        </p:txBody>
      </p:sp>
      <p:sp>
        <p:nvSpPr>
          <p:cNvPr id="14" name="Text 11"/>
          <p:cNvSpPr/>
          <p:nvPr/>
        </p:nvSpPr>
        <p:spPr>
          <a:xfrm>
            <a:off x="8503920" y="2935224"/>
            <a:ext cx="3200400" cy="45720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what users feel when streaming</a:t>
            </a:r>
            <a:endParaRPr lang="en-US" sz="1300" dirty="0"/>
          </a:p>
        </p:txBody>
      </p:sp>
      <p:sp>
        <p:nvSpPr>
          <p:cNvPr id="15" name="Text 12"/>
          <p:cNvSpPr/>
          <p:nvPr/>
        </p:nvSpPr>
        <p:spPr>
          <a:xfrm>
            <a:off x="8503920" y="3520440"/>
            <a:ext cx="3200400" cy="32004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Per-step latency</a:t>
            </a:r>
            <a:endParaRPr lang="en-US" sz="1600" dirty="0"/>
          </a:p>
        </p:txBody>
      </p:sp>
      <p:sp>
        <p:nvSpPr>
          <p:cNvPr id="16" name="Text 13"/>
          <p:cNvSpPr/>
          <p:nvPr/>
        </p:nvSpPr>
        <p:spPr>
          <a:xfrm>
            <a:off x="8503920" y="3849624"/>
            <a:ext cx="3200400" cy="45720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retrieval vs tools vs LLM</a:t>
            </a:r>
            <a:endParaRPr lang="en-US" sz="1300" dirty="0"/>
          </a:p>
        </p:txBody>
      </p:sp>
      <p:sp>
        <p:nvSpPr>
          <p:cNvPr id="17" name="Text 14"/>
          <p:cNvSpPr/>
          <p:nvPr/>
        </p:nvSpPr>
        <p:spPr>
          <a:xfrm>
            <a:off x="8503920" y="4434840"/>
            <a:ext cx="3200400" cy="32004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Errors</a:t>
            </a:r>
            <a:endParaRPr lang="en-US" sz="1600" dirty="0"/>
          </a:p>
        </p:txBody>
      </p:sp>
      <p:sp>
        <p:nvSpPr>
          <p:cNvPr id="18" name="Text 15"/>
          <p:cNvSpPr/>
          <p:nvPr/>
        </p:nvSpPr>
        <p:spPr>
          <a:xfrm>
            <a:off x="8503920" y="4764024"/>
            <a:ext cx="3200400" cy="45720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429s, timeouts, tool and parse failures, refusals</a:t>
            </a:r>
            <a:endParaRPr lang="en-US" sz="1300" dirty="0"/>
          </a:p>
        </p:txBody>
      </p:sp>
      <p:pic>
        <p:nvPicPr>
          <p:cNvPr id="19" name="Image 1" descr="/Users/datasense/Desktop/ai-observability/slides/assets/latency-breakdown.png">    </p:cNvPr>
          <p:cNvPicPr>
            <a:picLocks noChangeAspect="1"/>
          </p:cNvPicPr>
          <p:nvPr/>
        </p:nvPicPr>
        <p:blipFill>
          <a:blip r:embed="rId2"/>
          <a:stretch>
            <a:fillRect/>
          </a:stretch>
        </p:blipFill>
        <p:spPr>
          <a:xfrm>
            <a:off x="548640" y="4343400"/>
            <a:ext cx="7589520" cy="144169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23</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TOKENS AND COST</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A one-line prompt change doubled the bill</a:t>
            </a:r>
            <a:endParaRPr lang="en-US" sz="3200" dirty="0"/>
          </a:p>
        </p:txBody>
      </p:sp>
      <p:pic>
        <p:nvPicPr>
          <p:cNvPr id="10" name="Image 0" descr="/Users/datasense/Desktop/ai-observability/slides/assets/monthly-cost.png">    </p:cNvPr>
          <p:cNvPicPr>
            <a:picLocks noChangeAspect="1"/>
          </p:cNvPicPr>
          <p:nvPr/>
        </p:nvPicPr>
        <p:blipFill>
          <a:blip r:embed="rId1"/>
          <a:stretch>
            <a:fillRect/>
          </a:stretch>
        </p:blipFill>
        <p:spPr>
          <a:xfrm>
            <a:off x="548640" y="1645920"/>
            <a:ext cx="7040880" cy="2504079"/>
          </a:xfrm>
          <a:prstGeom prst="rect">
            <a:avLst/>
          </a:prstGeom>
        </p:spPr>
      </p:pic>
      <p:sp>
        <p:nvSpPr>
          <p:cNvPr id="11" name="Text 8"/>
          <p:cNvSpPr/>
          <p:nvPr/>
        </p:nvSpPr>
        <p:spPr>
          <a:xfrm>
            <a:off x="8001000" y="1600200"/>
            <a:ext cx="3566160" cy="594360"/>
          </a:xfrm>
          <a:prstGeom prst="rect">
            <a:avLst/>
          </a:prstGeom>
          <a:noFill/>
          <a:ln/>
        </p:spPr>
        <p:txBody>
          <a:bodyPr wrap="square" lIns="0" tIns="0" rIns="0" bIns="0" rtlCol="0" anchor="ctr"/>
          <a:lstStyle/>
          <a:p>
            <a:pPr indent="0" marL="0">
              <a:buNone/>
            </a:pPr>
            <a:r>
              <a:rPr lang="en-US" sz="4000" b="1" dirty="0">
                <a:solidFill>
                  <a:srgbClr val="2DD4BF"/>
                </a:solidFill>
                <a:latin typeface="Georgia" pitchFamily="34" charset="0"/>
                <a:ea typeface="Georgia" pitchFamily="34" charset="-122"/>
                <a:cs typeface="Georgia" pitchFamily="34" charset="-120"/>
              </a:rPr>
              <a:t>31</a:t>
            </a:r>
            <a:endParaRPr lang="en-US" sz="4000" dirty="0"/>
          </a:p>
        </p:txBody>
      </p:sp>
      <p:sp>
        <p:nvSpPr>
          <p:cNvPr id="12" name="Text 9"/>
          <p:cNvSpPr/>
          <p:nvPr/>
        </p:nvSpPr>
        <p:spPr>
          <a:xfrm>
            <a:off x="8001000" y="2167128"/>
            <a:ext cx="3566160" cy="3200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avg output tokens, concise prompt</a:t>
            </a:r>
            <a:endParaRPr lang="en-US" sz="1300" dirty="0"/>
          </a:p>
        </p:txBody>
      </p:sp>
      <p:sp>
        <p:nvSpPr>
          <p:cNvPr id="13" name="Text 10"/>
          <p:cNvSpPr/>
          <p:nvPr/>
        </p:nvSpPr>
        <p:spPr>
          <a:xfrm>
            <a:off x="8001000" y="2560320"/>
            <a:ext cx="3566160" cy="594360"/>
          </a:xfrm>
          <a:prstGeom prst="rect">
            <a:avLst/>
          </a:prstGeom>
          <a:noFill/>
          <a:ln/>
        </p:spPr>
        <p:txBody>
          <a:bodyPr wrap="square" lIns="0" tIns="0" rIns="0" bIns="0" rtlCol="0" anchor="ctr"/>
          <a:lstStyle/>
          <a:p>
            <a:pPr indent="0" marL="0">
              <a:buNone/>
            </a:pPr>
            <a:r>
              <a:rPr lang="en-US" sz="4000" b="1" dirty="0">
                <a:solidFill>
                  <a:srgbClr val="8B5CF6"/>
                </a:solidFill>
                <a:latin typeface="Georgia" pitchFamily="34" charset="0"/>
                <a:ea typeface="Georgia" pitchFamily="34" charset="-122"/>
                <a:cs typeface="Georgia" pitchFamily="34" charset="-120"/>
              </a:rPr>
              <a:t>87</a:t>
            </a:r>
            <a:endParaRPr lang="en-US" sz="4000" dirty="0"/>
          </a:p>
        </p:txBody>
      </p:sp>
      <p:sp>
        <p:nvSpPr>
          <p:cNvPr id="14" name="Text 11"/>
          <p:cNvSpPr/>
          <p:nvPr/>
        </p:nvSpPr>
        <p:spPr>
          <a:xfrm>
            <a:off x="8001000" y="3127248"/>
            <a:ext cx="3566160" cy="3200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avg output tokens, friendly prompt</a:t>
            </a:r>
            <a:endParaRPr lang="en-US" sz="1300" dirty="0"/>
          </a:p>
        </p:txBody>
      </p:sp>
      <p:sp>
        <p:nvSpPr>
          <p:cNvPr id="15" name="Text 12"/>
          <p:cNvSpPr/>
          <p:nvPr/>
        </p:nvSpPr>
        <p:spPr>
          <a:xfrm>
            <a:off x="8001000" y="3520440"/>
            <a:ext cx="3566160" cy="594360"/>
          </a:xfrm>
          <a:prstGeom prst="rect">
            <a:avLst/>
          </a:prstGeom>
          <a:noFill/>
          <a:ln/>
        </p:spPr>
        <p:txBody>
          <a:bodyPr wrap="square" lIns="0" tIns="0" rIns="0" bIns="0" rtlCol="0" anchor="ctr"/>
          <a:lstStyle/>
          <a:p>
            <a:pPr indent="0" marL="0">
              <a:buNone/>
            </a:pPr>
            <a:r>
              <a:rPr lang="en-US" sz="4000" b="1" dirty="0">
                <a:solidFill>
                  <a:srgbClr val="F5B53F"/>
                </a:solidFill>
                <a:latin typeface="Georgia" pitchFamily="34" charset="0"/>
                <a:ea typeface="Georgia" pitchFamily="34" charset="-122"/>
                <a:cs typeface="Georgia" pitchFamily="34" charset="-120"/>
              </a:rPr>
              <a:t>2.1×</a:t>
            </a:r>
            <a:endParaRPr lang="en-US" sz="4000" dirty="0"/>
          </a:p>
        </p:txBody>
      </p:sp>
      <p:sp>
        <p:nvSpPr>
          <p:cNvPr id="16" name="Text 13"/>
          <p:cNvSpPr/>
          <p:nvPr/>
        </p:nvSpPr>
        <p:spPr>
          <a:xfrm>
            <a:off x="8001000" y="4087368"/>
            <a:ext cx="3566160" cy="32004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monthly cost, same model</a:t>
            </a:r>
            <a:endParaRPr lang="en-US" sz="1300" dirty="0"/>
          </a:p>
        </p:txBody>
      </p:sp>
      <p:sp>
        <p:nvSpPr>
          <p:cNvPr id="17" name="Shape 14"/>
          <p:cNvSpPr/>
          <p:nvPr/>
        </p:nvSpPr>
        <p:spPr>
          <a:xfrm>
            <a:off x="548640" y="4572000"/>
            <a:ext cx="11094415" cy="1143000"/>
          </a:xfrm>
          <a:prstGeom prst="rect">
            <a:avLst/>
          </a:prstGeom>
          <a:solidFill>
            <a:srgbClr val="141A31"/>
          </a:solidFill>
          <a:ln w="9525">
            <a:solidFill>
              <a:srgbClr val="2A3456"/>
            </a:solidFill>
            <a:prstDash val="solid"/>
          </a:ln>
        </p:spPr>
      </p:sp>
      <p:sp>
        <p:nvSpPr>
          <p:cNvPr id="18" name="Shape 15"/>
          <p:cNvSpPr/>
          <p:nvPr/>
        </p:nvSpPr>
        <p:spPr>
          <a:xfrm>
            <a:off x="548640" y="4572000"/>
            <a:ext cx="54864" cy="1143000"/>
          </a:xfrm>
          <a:prstGeom prst="rect">
            <a:avLst/>
          </a:prstGeom>
          <a:solidFill>
            <a:srgbClr val="F5B53F"/>
          </a:solidFill>
          <a:ln w="12700">
            <a:solidFill>
              <a:srgbClr val="F5B53F"/>
            </a:solidFill>
            <a:prstDash val="solid"/>
          </a:ln>
        </p:spPr>
      </p:sp>
      <p:sp>
        <p:nvSpPr>
          <p:cNvPr id="19" name="Text 16"/>
          <p:cNvSpPr/>
          <p:nvPr/>
        </p:nvSpPr>
        <p:spPr>
          <a:xfrm>
            <a:off x="868680" y="4572000"/>
            <a:ext cx="10545775" cy="114300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Cost = tokens × model price, per span, rolled up per trace, user and feature. Watch for runaway agent loops, bloated context windows and retries multiplying spend.</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24</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QUALITY AND CONTEXT</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For whom, and how good?</a:t>
            </a:r>
            <a:endParaRPr lang="en-US" sz="3200" dirty="0"/>
          </a:p>
        </p:txBody>
      </p:sp>
      <p:sp>
        <p:nvSpPr>
          <p:cNvPr id="10" name="Shape 8"/>
          <p:cNvSpPr/>
          <p:nvPr/>
        </p:nvSpPr>
        <p:spPr>
          <a:xfrm>
            <a:off x="548640" y="1691640"/>
            <a:ext cx="11094415" cy="694944"/>
          </a:xfrm>
          <a:prstGeom prst="rect">
            <a:avLst/>
          </a:prstGeom>
          <a:solidFill>
            <a:srgbClr val="141A31"/>
          </a:solidFill>
          <a:ln w="9525">
            <a:solidFill>
              <a:srgbClr val="2A3456"/>
            </a:solidFill>
            <a:prstDash val="solid"/>
          </a:ln>
        </p:spPr>
      </p:sp>
      <p:pic>
        <p:nvPicPr>
          <p:cNvPr id="11" name="Image 0" descr="preencoded.png">    </p:cNvPr>
          <p:cNvPicPr>
            <a:picLocks noChangeAspect="1"/>
          </p:cNvPicPr>
          <p:nvPr/>
        </p:nvPicPr>
        <p:blipFill>
          <a:blip r:embed="rId1"/>
          <a:stretch>
            <a:fillRect/>
          </a:stretch>
        </p:blipFill>
        <p:spPr>
          <a:xfrm>
            <a:off x="822960" y="1874520"/>
            <a:ext cx="329184" cy="329184"/>
          </a:xfrm>
          <a:prstGeom prst="rect">
            <a:avLst/>
          </a:prstGeom>
        </p:spPr>
      </p:pic>
      <p:sp>
        <p:nvSpPr>
          <p:cNvPr id="12" name="Text 9"/>
          <p:cNvSpPr/>
          <p:nvPr/>
        </p:nvSpPr>
        <p:spPr>
          <a:xfrm>
            <a:off x="1417320" y="1691640"/>
            <a:ext cx="3291840" cy="694944"/>
          </a:xfrm>
          <a:prstGeom prst="rect">
            <a:avLst/>
          </a:prstGeom>
          <a:noFill/>
          <a:ln/>
        </p:spPr>
        <p:txBody>
          <a:bodyPr wrap="square" lIns="0" tIns="0" rIns="0" bIns="0" rtlCol="0" anchor="ctr"/>
          <a:lstStyle/>
          <a:p>
            <a:pPr indent="0" marL="0">
              <a:buNone/>
            </a:pPr>
            <a:r>
              <a:rPr lang="en-US" sz="1700" b="1" dirty="0">
                <a:solidFill>
                  <a:srgbClr val="F8FAFC"/>
                </a:solidFill>
                <a:latin typeface="Calibri" pitchFamily="34" charset="0"/>
                <a:ea typeface="Calibri" pitchFamily="34" charset="-122"/>
                <a:cs typeface="Calibri" pitchFamily="34" charset="-120"/>
              </a:rPr>
              <a:t>Scores and feedback</a:t>
            </a:r>
            <a:endParaRPr lang="en-US" sz="1700" dirty="0"/>
          </a:p>
        </p:txBody>
      </p:sp>
      <p:sp>
        <p:nvSpPr>
          <p:cNvPr id="13" name="Text 10"/>
          <p:cNvSpPr/>
          <p:nvPr/>
        </p:nvSpPr>
        <p:spPr>
          <a:xfrm>
            <a:off x="4754880" y="1691640"/>
            <a:ext cx="6766560" cy="694944"/>
          </a:xfrm>
          <a:prstGeom prst="rect">
            <a:avLst/>
          </a:prstGeom>
          <a:noFill/>
          <a:ln/>
        </p:spPr>
        <p:txBody>
          <a:bodyPr wrap="square" lIns="0" tIns="0" rIns="0" bIns="0" rtlCol="0" anchor="ctr"/>
          <a:lstStyle/>
          <a:p>
            <a:pPr indent="0" marL="0">
              <a:buNone/>
            </a:pPr>
            <a:r>
              <a:rPr lang="en-US" sz="1500" dirty="0">
                <a:solidFill>
                  <a:srgbClr val="8A97B0"/>
                </a:solidFill>
                <a:latin typeface="Calibri" pitchFamily="34" charset="0"/>
                <a:ea typeface="Calibri" pitchFamily="34" charset="-122"/>
                <a:cs typeface="Calibri" pitchFamily="34" charset="-120"/>
              </a:rPr>
              <a:t>Thumbs up or down, LLM-as-a-judge, human labels</a:t>
            </a:r>
            <a:endParaRPr lang="en-US" sz="1500" dirty="0"/>
          </a:p>
        </p:txBody>
      </p:sp>
      <p:sp>
        <p:nvSpPr>
          <p:cNvPr id="14" name="Shape 11"/>
          <p:cNvSpPr/>
          <p:nvPr/>
        </p:nvSpPr>
        <p:spPr>
          <a:xfrm>
            <a:off x="548640" y="2514600"/>
            <a:ext cx="11094415" cy="694944"/>
          </a:xfrm>
          <a:prstGeom prst="rect">
            <a:avLst/>
          </a:prstGeom>
          <a:solidFill>
            <a:srgbClr val="141A31"/>
          </a:solidFill>
          <a:ln w="9525">
            <a:solidFill>
              <a:srgbClr val="2A3456"/>
            </a:solidFill>
            <a:prstDash val="solid"/>
          </a:ln>
        </p:spPr>
      </p:sp>
      <p:pic>
        <p:nvPicPr>
          <p:cNvPr id="15" name="Image 1" descr="preencoded.png">    </p:cNvPr>
          <p:cNvPicPr>
            <a:picLocks noChangeAspect="1"/>
          </p:cNvPicPr>
          <p:nvPr/>
        </p:nvPicPr>
        <p:blipFill>
          <a:blip r:embed="rId2"/>
          <a:stretch>
            <a:fillRect/>
          </a:stretch>
        </p:blipFill>
        <p:spPr>
          <a:xfrm>
            <a:off x="822960" y="2697480"/>
            <a:ext cx="329184" cy="329184"/>
          </a:xfrm>
          <a:prstGeom prst="rect">
            <a:avLst/>
          </a:prstGeom>
        </p:spPr>
      </p:pic>
      <p:sp>
        <p:nvSpPr>
          <p:cNvPr id="16" name="Text 12"/>
          <p:cNvSpPr/>
          <p:nvPr/>
        </p:nvSpPr>
        <p:spPr>
          <a:xfrm>
            <a:off x="1417320" y="2514600"/>
            <a:ext cx="3291840" cy="694944"/>
          </a:xfrm>
          <a:prstGeom prst="rect">
            <a:avLst/>
          </a:prstGeom>
          <a:noFill/>
          <a:ln/>
        </p:spPr>
        <p:txBody>
          <a:bodyPr wrap="square" lIns="0" tIns="0" rIns="0" bIns="0" rtlCol="0" anchor="ctr"/>
          <a:lstStyle/>
          <a:p>
            <a:pPr indent="0" marL="0">
              <a:buNone/>
            </a:pPr>
            <a:r>
              <a:rPr lang="en-US" sz="1700" b="1" dirty="0">
                <a:solidFill>
                  <a:srgbClr val="F8FAFC"/>
                </a:solidFill>
                <a:latin typeface="Calibri" pitchFamily="34" charset="0"/>
                <a:ea typeface="Calibri" pitchFamily="34" charset="-122"/>
                <a:cs typeface="Calibri" pitchFamily="34" charset="-120"/>
              </a:rPr>
              <a:t>Sessions</a:t>
            </a:r>
            <a:endParaRPr lang="en-US" sz="1700" dirty="0"/>
          </a:p>
        </p:txBody>
      </p:sp>
      <p:sp>
        <p:nvSpPr>
          <p:cNvPr id="17" name="Text 13"/>
          <p:cNvSpPr/>
          <p:nvPr/>
        </p:nvSpPr>
        <p:spPr>
          <a:xfrm>
            <a:off x="4754880" y="2514600"/>
            <a:ext cx="6766560" cy="694944"/>
          </a:xfrm>
          <a:prstGeom prst="rect">
            <a:avLst/>
          </a:prstGeom>
          <a:noFill/>
          <a:ln/>
        </p:spPr>
        <p:txBody>
          <a:bodyPr wrap="square" lIns="0" tIns="0" rIns="0" bIns="0" rtlCol="0" anchor="ctr"/>
          <a:lstStyle/>
          <a:p>
            <a:pPr indent="0" marL="0">
              <a:buNone/>
            </a:pPr>
            <a:r>
              <a:rPr lang="en-US" sz="1500" dirty="0">
                <a:solidFill>
                  <a:srgbClr val="8A97B0"/>
                </a:solidFill>
                <a:latin typeface="Calibri" pitchFamily="34" charset="0"/>
                <a:ea typeface="Calibri" pitchFamily="34" charset="-122"/>
                <a:cs typeface="Calibri" pitchFamily="34" charset="-120"/>
              </a:rPr>
              <a:t>Multi-turn conversations grouped together</a:t>
            </a:r>
            <a:endParaRPr lang="en-US" sz="1500" dirty="0"/>
          </a:p>
        </p:txBody>
      </p:sp>
      <p:sp>
        <p:nvSpPr>
          <p:cNvPr id="18" name="Shape 14"/>
          <p:cNvSpPr/>
          <p:nvPr/>
        </p:nvSpPr>
        <p:spPr>
          <a:xfrm>
            <a:off x="548640" y="3337560"/>
            <a:ext cx="11094415" cy="694944"/>
          </a:xfrm>
          <a:prstGeom prst="rect">
            <a:avLst/>
          </a:prstGeom>
          <a:solidFill>
            <a:srgbClr val="141A31"/>
          </a:solidFill>
          <a:ln w="9525">
            <a:solidFill>
              <a:srgbClr val="2A3456"/>
            </a:solidFill>
            <a:prstDash val="solid"/>
          </a:ln>
        </p:spPr>
      </p:sp>
      <p:pic>
        <p:nvPicPr>
          <p:cNvPr id="19" name="Image 2" descr="preencoded.png">    </p:cNvPr>
          <p:cNvPicPr>
            <a:picLocks noChangeAspect="1"/>
          </p:cNvPicPr>
          <p:nvPr/>
        </p:nvPicPr>
        <p:blipFill>
          <a:blip r:embed="rId3"/>
          <a:stretch>
            <a:fillRect/>
          </a:stretch>
        </p:blipFill>
        <p:spPr>
          <a:xfrm>
            <a:off x="822960" y="3520440"/>
            <a:ext cx="329184" cy="329184"/>
          </a:xfrm>
          <a:prstGeom prst="rect">
            <a:avLst/>
          </a:prstGeom>
        </p:spPr>
      </p:pic>
      <p:sp>
        <p:nvSpPr>
          <p:cNvPr id="20" name="Text 15"/>
          <p:cNvSpPr/>
          <p:nvPr/>
        </p:nvSpPr>
        <p:spPr>
          <a:xfrm>
            <a:off x="1417320" y="3337560"/>
            <a:ext cx="3291840" cy="694944"/>
          </a:xfrm>
          <a:prstGeom prst="rect">
            <a:avLst/>
          </a:prstGeom>
          <a:noFill/>
          <a:ln/>
        </p:spPr>
        <p:txBody>
          <a:bodyPr wrap="square" lIns="0" tIns="0" rIns="0" bIns="0" rtlCol="0" anchor="ctr"/>
          <a:lstStyle/>
          <a:p>
            <a:pPr indent="0" marL="0">
              <a:buNone/>
            </a:pPr>
            <a:r>
              <a:rPr lang="en-US" sz="1700" b="1" dirty="0">
                <a:solidFill>
                  <a:srgbClr val="F8FAFC"/>
                </a:solidFill>
                <a:latin typeface="Calibri" pitchFamily="34" charset="0"/>
                <a:ea typeface="Calibri" pitchFamily="34" charset="-122"/>
                <a:cs typeface="Calibri" pitchFamily="34" charset="-120"/>
              </a:rPr>
              <a:t>Users</a:t>
            </a:r>
            <a:endParaRPr lang="en-US" sz="1700" dirty="0"/>
          </a:p>
        </p:txBody>
      </p:sp>
      <p:sp>
        <p:nvSpPr>
          <p:cNvPr id="21" name="Text 16"/>
          <p:cNvSpPr/>
          <p:nvPr/>
        </p:nvSpPr>
        <p:spPr>
          <a:xfrm>
            <a:off x="4754880" y="3337560"/>
            <a:ext cx="6766560" cy="694944"/>
          </a:xfrm>
          <a:prstGeom prst="rect">
            <a:avLst/>
          </a:prstGeom>
          <a:noFill/>
          <a:ln/>
        </p:spPr>
        <p:txBody>
          <a:bodyPr wrap="square" lIns="0" tIns="0" rIns="0" bIns="0" rtlCol="0" anchor="ctr"/>
          <a:lstStyle/>
          <a:p>
            <a:pPr indent="0" marL="0">
              <a:buNone/>
            </a:pPr>
            <a:r>
              <a:rPr lang="en-US" sz="1500" dirty="0">
                <a:solidFill>
                  <a:srgbClr val="8A97B0"/>
                </a:solidFill>
                <a:latin typeface="Calibri" pitchFamily="34" charset="0"/>
                <a:ea typeface="Calibri" pitchFamily="34" charset="-122"/>
                <a:cs typeface="Calibri" pitchFamily="34" charset="-120"/>
              </a:rPr>
              <a:t>Per-user usage, cost and issues</a:t>
            </a:r>
            <a:endParaRPr lang="en-US" sz="1500" dirty="0"/>
          </a:p>
        </p:txBody>
      </p:sp>
      <p:sp>
        <p:nvSpPr>
          <p:cNvPr id="22" name="Shape 17"/>
          <p:cNvSpPr/>
          <p:nvPr/>
        </p:nvSpPr>
        <p:spPr>
          <a:xfrm>
            <a:off x="548640" y="4160520"/>
            <a:ext cx="11094415" cy="694944"/>
          </a:xfrm>
          <a:prstGeom prst="rect">
            <a:avLst/>
          </a:prstGeom>
          <a:solidFill>
            <a:srgbClr val="141A31"/>
          </a:solidFill>
          <a:ln w="9525">
            <a:solidFill>
              <a:srgbClr val="2A3456"/>
            </a:solidFill>
            <a:prstDash val="solid"/>
          </a:ln>
        </p:spPr>
      </p:sp>
      <p:pic>
        <p:nvPicPr>
          <p:cNvPr id="23" name="Image 3" descr="preencoded.png">    </p:cNvPr>
          <p:cNvPicPr>
            <a:picLocks noChangeAspect="1"/>
          </p:cNvPicPr>
          <p:nvPr/>
        </p:nvPicPr>
        <p:blipFill>
          <a:blip r:embed="rId4"/>
          <a:stretch>
            <a:fillRect/>
          </a:stretch>
        </p:blipFill>
        <p:spPr>
          <a:xfrm>
            <a:off x="822960" y="4343400"/>
            <a:ext cx="329184" cy="329184"/>
          </a:xfrm>
          <a:prstGeom prst="rect">
            <a:avLst/>
          </a:prstGeom>
        </p:spPr>
      </p:pic>
      <p:sp>
        <p:nvSpPr>
          <p:cNvPr id="24" name="Text 18"/>
          <p:cNvSpPr/>
          <p:nvPr/>
        </p:nvSpPr>
        <p:spPr>
          <a:xfrm>
            <a:off x="1417320" y="4160520"/>
            <a:ext cx="3291840" cy="694944"/>
          </a:xfrm>
          <a:prstGeom prst="rect">
            <a:avLst/>
          </a:prstGeom>
          <a:noFill/>
          <a:ln/>
        </p:spPr>
        <p:txBody>
          <a:bodyPr wrap="square" lIns="0" tIns="0" rIns="0" bIns="0" rtlCol="0" anchor="ctr"/>
          <a:lstStyle/>
          <a:p>
            <a:pPr indent="0" marL="0">
              <a:buNone/>
            </a:pPr>
            <a:r>
              <a:rPr lang="en-US" sz="1700" b="1" dirty="0">
                <a:solidFill>
                  <a:srgbClr val="F8FAFC"/>
                </a:solidFill>
                <a:latin typeface="Calibri" pitchFamily="34" charset="0"/>
                <a:ea typeface="Calibri" pitchFamily="34" charset="-122"/>
                <a:cs typeface="Calibri" pitchFamily="34" charset="-120"/>
              </a:rPr>
              <a:t>Metadata and tags</a:t>
            </a:r>
            <a:endParaRPr lang="en-US" sz="1700" dirty="0"/>
          </a:p>
        </p:txBody>
      </p:sp>
      <p:sp>
        <p:nvSpPr>
          <p:cNvPr id="25" name="Text 19"/>
          <p:cNvSpPr/>
          <p:nvPr/>
        </p:nvSpPr>
        <p:spPr>
          <a:xfrm>
            <a:off x="4754880" y="4160520"/>
            <a:ext cx="6766560" cy="694944"/>
          </a:xfrm>
          <a:prstGeom prst="rect">
            <a:avLst/>
          </a:prstGeom>
          <a:noFill/>
          <a:ln/>
        </p:spPr>
        <p:txBody>
          <a:bodyPr wrap="square" lIns="0" tIns="0" rIns="0" bIns="0" rtlCol="0" anchor="ctr"/>
          <a:lstStyle/>
          <a:p>
            <a:pPr indent="0" marL="0">
              <a:buNone/>
            </a:pPr>
            <a:r>
              <a:rPr lang="en-US" sz="1500" dirty="0">
                <a:solidFill>
                  <a:srgbClr val="8A97B0"/>
                </a:solidFill>
                <a:latin typeface="Calibri" pitchFamily="34" charset="0"/>
                <a:ea typeface="Calibri" pitchFamily="34" charset="-122"/>
                <a:cs typeface="Calibri" pitchFamily="34" charset="-120"/>
              </a:rPr>
              <a:t>Prompt version, release, environment, feature flag</a:t>
            </a:r>
            <a:endParaRPr lang="en-US" sz="1500" dirty="0"/>
          </a:p>
        </p:txBody>
      </p:sp>
      <p:sp>
        <p:nvSpPr>
          <p:cNvPr id="26" name="Shape 20"/>
          <p:cNvSpPr/>
          <p:nvPr/>
        </p:nvSpPr>
        <p:spPr>
          <a:xfrm>
            <a:off x="548640" y="4983480"/>
            <a:ext cx="11094415" cy="694944"/>
          </a:xfrm>
          <a:prstGeom prst="rect">
            <a:avLst/>
          </a:prstGeom>
          <a:solidFill>
            <a:srgbClr val="141A31"/>
          </a:solidFill>
          <a:ln w="9525">
            <a:solidFill>
              <a:srgbClr val="2A3456"/>
            </a:solidFill>
            <a:prstDash val="solid"/>
          </a:ln>
        </p:spPr>
      </p:sp>
      <p:pic>
        <p:nvPicPr>
          <p:cNvPr id="27" name="Image 4" descr="preencoded.png">    </p:cNvPr>
          <p:cNvPicPr>
            <a:picLocks noChangeAspect="1"/>
          </p:cNvPicPr>
          <p:nvPr/>
        </p:nvPicPr>
        <p:blipFill>
          <a:blip r:embed="rId5"/>
          <a:stretch>
            <a:fillRect/>
          </a:stretch>
        </p:blipFill>
        <p:spPr>
          <a:xfrm>
            <a:off x="822960" y="5166360"/>
            <a:ext cx="329184" cy="329184"/>
          </a:xfrm>
          <a:prstGeom prst="rect">
            <a:avLst/>
          </a:prstGeom>
        </p:spPr>
      </p:pic>
      <p:sp>
        <p:nvSpPr>
          <p:cNvPr id="28" name="Text 21"/>
          <p:cNvSpPr/>
          <p:nvPr/>
        </p:nvSpPr>
        <p:spPr>
          <a:xfrm>
            <a:off x="1417320" y="4983480"/>
            <a:ext cx="3291840" cy="694944"/>
          </a:xfrm>
          <a:prstGeom prst="rect">
            <a:avLst/>
          </a:prstGeom>
          <a:noFill/>
          <a:ln/>
        </p:spPr>
        <p:txBody>
          <a:bodyPr wrap="square" lIns="0" tIns="0" rIns="0" bIns="0" rtlCol="0" anchor="ctr"/>
          <a:lstStyle/>
          <a:p>
            <a:pPr indent="0" marL="0">
              <a:buNone/>
            </a:pPr>
            <a:r>
              <a:rPr lang="en-US" sz="1700" b="1" dirty="0">
                <a:solidFill>
                  <a:srgbClr val="F8FAFC"/>
                </a:solidFill>
                <a:latin typeface="Calibri" pitchFamily="34" charset="0"/>
                <a:ea typeface="Calibri" pitchFamily="34" charset="-122"/>
                <a:cs typeface="Calibri" pitchFamily="34" charset="-120"/>
              </a:rPr>
              <a:t>Guardrails</a:t>
            </a:r>
            <a:endParaRPr lang="en-US" sz="1700" dirty="0"/>
          </a:p>
        </p:txBody>
      </p:sp>
      <p:sp>
        <p:nvSpPr>
          <p:cNvPr id="29" name="Text 22"/>
          <p:cNvSpPr/>
          <p:nvPr/>
        </p:nvSpPr>
        <p:spPr>
          <a:xfrm>
            <a:off x="4754880" y="4983480"/>
            <a:ext cx="6766560" cy="694944"/>
          </a:xfrm>
          <a:prstGeom prst="rect">
            <a:avLst/>
          </a:prstGeom>
          <a:noFill/>
          <a:ln/>
        </p:spPr>
        <p:txBody>
          <a:bodyPr wrap="square" lIns="0" tIns="0" rIns="0" bIns="0" rtlCol="0" anchor="ctr"/>
          <a:lstStyle/>
          <a:p>
            <a:pPr indent="0" marL="0">
              <a:buNone/>
            </a:pPr>
            <a:r>
              <a:rPr lang="en-US" sz="1500" dirty="0">
                <a:solidFill>
                  <a:srgbClr val="8A97B0"/>
                </a:solidFill>
                <a:latin typeface="Calibri" pitchFamily="34" charset="0"/>
                <a:ea typeface="Calibri" pitchFamily="34" charset="-122"/>
                <a:cs typeface="Calibri" pitchFamily="34" charset="-120"/>
              </a:rPr>
              <a:t>PII detected, injection attempts, policy blocks</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463040"/>
            <a:ext cx="3657600" cy="1463040"/>
          </a:xfrm>
          <a:prstGeom prst="rect">
            <a:avLst/>
          </a:prstGeom>
          <a:noFill/>
          <a:ln/>
        </p:spPr>
        <p:txBody>
          <a:bodyPr wrap="square" lIns="0" tIns="0" rIns="0" bIns="0" rtlCol="0" anchor="ctr"/>
          <a:lstStyle/>
          <a:p>
            <a:pPr indent="0" marL="0">
              <a:buNone/>
            </a:pPr>
            <a:r>
              <a:rPr lang="en-US" sz="11000" b="1" dirty="0">
                <a:solidFill>
                  <a:srgbClr val="1B2340"/>
                </a:solidFill>
                <a:latin typeface="Georgia" pitchFamily="34" charset="0"/>
                <a:ea typeface="Georgia" pitchFamily="34" charset="-122"/>
                <a:cs typeface="Georgia" pitchFamily="34" charset="-120"/>
              </a:rPr>
              <a:t>05</a:t>
            </a:r>
            <a:endParaRPr lang="en-US" sz="11000" dirty="0"/>
          </a:p>
        </p:txBody>
      </p:sp>
      <p:sp>
        <p:nvSpPr>
          <p:cNvPr id="3" name="Text 1"/>
          <p:cNvSpPr/>
          <p:nvPr/>
        </p:nvSpPr>
        <p:spPr>
          <a:xfrm>
            <a:off x="548640" y="2971800"/>
            <a:ext cx="8229600" cy="822960"/>
          </a:xfrm>
          <a:prstGeom prst="rect">
            <a:avLst/>
          </a:prstGeom>
          <a:noFill/>
          <a:ln/>
        </p:spPr>
        <p:txBody>
          <a:bodyPr wrap="square" lIns="0" tIns="0" rIns="0" bIns="0" rtlCol="0" anchor="ctr"/>
          <a:lstStyle/>
          <a:p>
            <a:pPr indent="0" marL="0">
              <a:buNone/>
            </a:pPr>
            <a:r>
              <a:rPr lang="en-US" sz="4400" b="1" dirty="0">
                <a:solidFill>
                  <a:srgbClr val="F8FAFC"/>
                </a:solidFill>
                <a:latin typeface="Georgia" pitchFamily="34" charset="0"/>
                <a:ea typeface="Georgia" pitchFamily="34" charset="-122"/>
                <a:cs typeface="Georgia" pitchFamily="34" charset="-120"/>
              </a:rPr>
              <a:t>Hands-on</a:t>
            </a:r>
            <a:endParaRPr lang="en-US" sz="4400" dirty="0"/>
          </a:p>
        </p:txBody>
      </p:sp>
      <p:sp>
        <p:nvSpPr>
          <p:cNvPr id="4" name="Text 2"/>
          <p:cNvSpPr/>
          <p:nvPr/>
        </p:nvSpPr>
        <p:spPr>
          <a:xfrm>
            <a:off x="548640" y="3840480"/>
            <a:ext cx="8229600" cy="457200"/>
          </a:xfrm>
          <a:prstGeom prst="rect">
            <a:avLst/>
          </a:prstGeom>
          <a:noFill/>
          <a:ln/>
        </p:spPr>
        <p:txBody>
          <a:bodyPr wrap="square" lIns="0" tIns="0" rIns="0" bIns="0" rtlCol="0" anchor="ctr"/>
          <a:lstStyle/>
          <a:p>
            <a:pPr indent="0" marL="0">
              <a:buNone/>
            </a:pPr>
            <a:r>
              <a:rPr lang="en-US" sz="1800" dirty="0">
                <a:solidFill>
                  <a:srgbClr val="8A97B0"/>
                </a:solidFill>
                <a:latin typeface="Calibri" pitchFamily="34" charset="0"/>
                <a:ea typeface="Calibri" pitchFamily="34" charset="-122"/>
                <a:cs typeface="Calibri" pitchFamily="34" charset="-120"/>
              </a:rPr>
              <a:t>Langfuse on localhost, LangSmith, and plain OpenTelemetry.</a:t>
            </a:r>
            <a:endParaRPr lang="en-US" sz="1800" dirty="0"/>
          </a:p>
        </p:txBody>
      </p:sp>
      <p:sp>
        <p:nvSpPr>
          <p:cNvPr id="5" name="Shape 3"/>
          <p:cNvSpPr/>
          <p:nvPr/>
        </p:nvSpPr>
        <p:spPr>
          <a:xfrm>
            <a:off x="8351215" y="914400"/>
            <a:ext cx="3291840" cy="153619"/>
          </a:xfrm>
          <a:prstGeom prst="roundRect">
            <a:avLst>
              <a:gd name="adj" fmla="val 17857"/>
            </a:avLst>
          </a:prstGeom>
          <a:solidFill>
            <a:srgbClr val="8B5CF6"/>
          </a:solidFill>
          <a:ln w="12700">
            <a:solidFill>
              <a:srgbClr val="8B5CF6"/>
            </a:solidFill>
            <a:prstDash val="solid"/>
          </a:ln>
        </p:spPr>
      </p:sp>
      <p:sp>
        <p:nvSpPr>
          <p:cNvPr id="6" name="Shape 4"/>
          <p:cNvSpPr/>
          <p:nvPr/>
        </p:nvSpPr>
        <p:spPr>
          <a:xfrm>
            <a:off x="8482889" y="1199693"/>
            <a:ext cx="724205" cy="153619"/>
          </a:xfrm>
          <a:prstGeom prst="roundRect">
            <a:avLst>
              <a:gd name="adj" fmla="val 17857"/>
            </a:avLst>
          </a:prstGeom>
          <a:solidFill>
            <a:srgbClr val="22D3EE"/>
          </a:solidFill>
          <a:ln w="12700">
            <a:solidFill>
              <a:srgbClr val="22D3EE"/>
            </a:solidFill>
            <a:prstDash val="solid"/>
          </a:ln>
        </p:spPr>
      </p:sp>
      <p:sp>
        <p:nvSpPr>
          <p:cNvPr id="7" name="Shape 5"/>
          <p:cNvSpPr/>
          <p:nvPr/>
        </p:nvSpPr>
        <p:spPr>
          <a:xfrm>
            <a:off x="9240012" y="1484986"/>
            <a:ext cx="1185062" cy="153619"/>
          </a:xfrm>
          <a:prstGeom prst="roundRect">
            <a:avLst>
              <a:gd name="adj" fmla="val 17857"/>
            </a:avLst>
          </a:prstGeom>
          <a:solidFill>
            <a:srgbClr val="F5B53F"/>
          </a:solidFill>
          <a:ln w="12700">
            <a:solidFill>
              <a:srgbClr val="F5B53F"/>
            </a:solidFill>
            <a:prstDash val="solid"/>
          </a:ln>
        </p:spPr>
      </p:sp>
      <p:sp>
        <p:nvSpPr>
          <p:cNvPr id="8" name="Shape 6"/>
          <p:cNvSpPr/>
          <p:nvPr/>
        </p:nvSpPr>
        <p:spPr>
          <a:xfrm>
            <a:off x="10457993" y="1770278"/>
            <a:ext cx="1119226" cy="153619"/>
          </a:xfrm>
          <a:prstGeom prst="roundRect">
            <a:avLst>
              <a:gd name="adj" fmla="val 17857"/>
            </a:avLst>
          </a:prstGeom>
          <a:solidFill>
            <a:srgbClr val="2DD4BF"/>
          </a:solidFill>
          <a:ln w="12700">
            <a:solidFill>
              <a:srgbClr val="2DD4BF"/>
            </a:solidFill>
            <a:prstDash val="solid"/>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26</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FOLLOW ALONG</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 AI Observability Lab</a:t>
            </a:r>
            <a:endParaRPr lang="en-US" sz="3200" dirty="0"/>
          </a:p>
        </p:txBody>
      </p:sp>
      <p:sp>
        <p:nvSpPr>
          <p:cNvPr id="10" name="Shape 8"/>
          <p:cNvSpPr/>
          <p:nvPr/>
        </p:nvSpPr>
        <p:spPr>
          <a:xfrm>
            <a:off x="548640" y="1737360"/>
            <a:ext cx="4937760" cy="4023360"/>
          </a:xfrm>
          <a:prstGeom prst="rect">
            <a:avLst/>
          </a:prstGeom>
          <a:solidFill>
            <a:srgbClr val="141A31"/>
          </a:solidFill>
          <a:ln w="9525">
            <a:solidFill>
              <a:srgbClr val="2A3456"/>
            </a:solidFill>
            <a:prstDash val="solid"/>
          </a:ln>
        </p:spPr>
      </p:sp>
      <p:sp>
        <p:nvSpPr>
          <p:cNvPr id="11" name="Shape 9"/>
          <p:cNvSpPr/>
          <p:nvPr/>
        </p:nvSpPr>
        <p:spPr>
          <a:xfrm>
            <a:off x="548640" y="1737360"/>
            <a:ext cx="54864" cy="4023360"/>
          </a:xfrm>
          <a:prstGeom prst="rect">
            <a:avLst/>
          </a:prstGeom>
          <a:solidFill>
            <a:srgbClr val="2DD4BF"/>
          </a:solidFill>
          <a:ln w="12700">
            <a:solidFill>
              <a:srgbClr val="2DD4BF"/>
            </a:solidFill>
            <a:prstDash val="solid"/>
          </a:ln>
        </p:spPr>
      </p:sp>
      <p:pic>
        <p:nvPicPr>
          <p:cNvPr id="12" name="Image 0" descr="preencoded.png">    </p:cNvPr>
          <p:cNvPicPr>
            <a:picLocks noChangeAspect="1"/>
          </p:cNvPicPr>
          <p:nvPr/>
        </p:nvPicPr>
        <p:blipFill>
          <a:blip r:embed="rId1"/>
          <a:stretch>
            <a:fillRect/>
          </a:stretch>
        </p:blipFill>
        <p:spPr>
          <a:xfrm>
            <a:off x="914400" y="2057400"/>
            <a:ext cx="457200" cy="457200"/>
          </a:xfrm>
          <a:prstGeom prst="rect">
            <a:avLst/>
          </a:prstGeom>
        </p:spPr>
      </p:pic>
      <p:sp>
        <p:nvSpPr>
          <p:cNvPr id="13" name="Text 10"/>
          <p:cNvSpPr/>
          <p:nvPr/>
        </p:nvSpPr>
        <p:spPr>
          <a:xfrm>
            <a:off x="914400" y="2697480"/>
            <a:ext cx="4389120" cy="457200"/>
          </a:xfrm>
          <a:prstGeom prst="rect">
            <a:avLst/>
          </a:prstGeom>
          <a:noFill/>
          <a:ln/>
        </p:spPr>
        <p:txBody>
          <a:bodyPr wrap="square" lIns="0" tIns="0" rIns="0" bIns="0" rtlCol="0" anchor="t"/>
          <a:lstStyle/>
          <a:p>
            <a:pPr indent="0" marL="0">
              <a:buNone/>
            </a:pPr>
            <a:r>
              <a:rPr lang="en-US" sz="1400" dirty="0">
                <a:solidFill>
                  <a:srgbClr val="2DD4BF"/>
                </a:solidFill>
                <a:latin typeface="Consolas" pitchFamily="34" charset="0"/>
                <a:ea typeface="Consolas" pitchFamily="34" charset="-122"/>
                <a:cs typeface="Consolas" pitchFamily="34" charset="-120"/>
              </a:rPr>
              <a:t>github.com/fnusatvik07/ai-observability-lab</a:t>
            </a:r>
            <a:endParaRPr lang="en-US" sz="1400" dirty="0"/>
          </a:p>
        </p:txBody>
      </p:sp>
      <p:sp>
        <p:nvSpPr>
          <p:cNvPr id="14" name="Shape 11"/>
          <p:cNvSpPr/>
          <p:nvPr/>
        </p:nvSpPr>
        <p:spPr>
          <a:xfrm>
            <a:off x="914400" y="3291840"/>
            <a:ext cx="4206240" cy="2194560"/>
          </a:xfrm>
          <a:prstGeom prst="rect">
            <a:avLst/>
          </a:prstGeom>
          <a:solidFill>
            <a:srgbClr val="0F1428"/>
          </a:solidFill>
          <a:ln w="9525">
            <a:solidFill>
              <a:srgbClr val="2A3456"/>
            </a:solidFill>
            <a:prstDash val="solid"/>
          </a:ln>
        </p:spPr>
      </p:sp>
      <p:sp>
        <p:nvSpPr>
          <p:cNvPr id="15" name="Text 12"/>
          <p:cNvSpPr/>
          <p:nvPr/>
        </p:nvSpPr>
        <p:spPr>
          <a:xfrm>
            <a:off x="1143000" y="3474720"/>
            <a:ext cx="3749040" cy="1828800"/>
          </a:xfrm>
          <a:prstGeom prst="rect">
            <a:avLst/>
          </a:prstGeom>
          <a:noFill/>
          <a:ln/>
        </p:spPr>
        <p:txBody>
          <a:bodyPr wrap="square" lIns="0" tIns="0" rIns="0" bIns="0" rtlCol="0" anchor="t"/>
          <a:lstStyle/>
          <a:p>
            <a:pPr indent="0" marL="0">
              <a:spcAft>
                <a:spcPts val="200"/>
              </a:spcAft>
              <a:buNone/>
            </a:pPr>
            <a:r>
              <a:rPr lang="en-US" sz="1600" dirty="0">
                <a:solidFill>
                  <a:srgbClr val="F5B53F"/>
                </a:solidFill>
                <a:latin typeface="Consolas" pitchFamily="34" charset="0"/>
                <a:ea typeface="Consolas" pitchFamily="34" charset="-122"/>
                <a:cs typeface="Consolas" pitchFamily="34" charset="-120"/>
              </a:rPr>
              <a:t>make </a:t>
            </a:r>
            <a:pPr indent="0" marL="0">
              <a:spcAft>
                <a:spcPts val="200"/>
              </a:spcAft>
              <a:buNone/>
            </a:pPr>
            <a:r>
              <a:rPr lang="en-US" sz="1600" dirty="0">
                <a:solidFill>
                  <a:srgbClr val="CBD5E1"/>
                </a:solidFill>
                <a:latin typeface="Consolas" pitchFamily="34" charset="0"/>
                <a:ea typeface="Consolas" pitchFamily="34" charset="-122"/>
                <a:cs typeface="Consolas" pitchFamily="34" charset="-120"/>
              </a:rPr>
              <a:t>setup</a:t>
            </a:r>
            <a:endParaRPr lang="en-US" sz="1600" dirty="0"/>
          </a:p>
          <a:p>
            <a:pPr indent="0" marL="0">
              <a:spcAft>
                <a:spcPts val="200"/>
              </a:spcAft>
              <a:buNone/>
            </a:pPr>
            <a:r>
              <a:rPr lang="en-US" sz="1600" dirty="0">
                <a:solidFill>
                  <a:srgbClr val="F5B53F"/>
                </a:solidFill>
                <a:latin typeface="Consolas" pitchFamily="34" charset="0"/>
                <a:ea typeface="Consolas" pitchFamily="34" charset="-122"/>
                <a:cs typeface="Consolas" pitchFamily="34" charset="-120"/>
              </a:rPr>
              <a:t>make </a:t>
            </a:r>
            <a:pPr indent="0" marL="0">
              <a:spcAft>
                <a:spcPts val="200"/>
              </a:spcAft>
              <a:buNone/>
            </a:pPr>
            <a:r>
              <a:rPr lang="en-US" sz="1600" dirty="0">
                <a:solidFill>
                  <a:srgbClr val="CBD5E1"/>
                </a:solidFill>
                <a:latin typeface="Consolas" pitchFamily="34" charset="0"/>
                <a:ea typeface="Consolas" pitchFamily="34" charset="-122"/>
                <a:cs typeface="Consolas" pitchFamily="34" charset="-120"/>
              </a:rPr>
              <a:t>up</a:t>
            </a:r>
            <a:endParaRPr lang="en-US" sz="1600" dirty="0"/>
          </a:p>
          <a:p>
            <a:pPr indent="0" marL="0">
              <a:spcAft>
                <a:spcPts val="200"/>
              </a:spcAft>
              <a:buNone/>
            </a:pPr>
            <a:r>
              <a:rPr lang="en-US" sz="1600" dirty="0">
                <a:solidFill>
                  <a:srgbClr val="F5B53F"/>
                </a:solidFill>
                <a:latin typeface="Consolas" pitchFamily="34" charset="0"/>
                <a:ea typeface="Consolas" pitchFamily="34" charset="-122"/>
                <a:cs typeface="Consolas" pitchFamily="34" charset="-120"/>
              </a:rPr>
              <a:t>make </a:t>
            </a:r>
            <a:pPr indent="0" marL="0">
              <a:spcAft>
                <a:spcPts val="200"/>
              </a:spcAft>
              <a:buNone/>
            </a:pPr>
            <a:r>
              <a:rPr lang="en-US" sz="1600" dirty="0">
                <a:solidFill>
                  <a:srgbClr val="CBD5E1"/>
                </a:solidFill>
                <a:latin typeface="Consolas" pitchFamily="34" charset="0"/>
                <a:ea typeface="Consolas" pitchFamily="34" charset="-122"/>
                <a:cs typeface="Consolas" pitchFamily="34" charset="-120"/>
              </a:rPr>
              <a:t>lab</a:t>
            </a:r>
            <a:endParaRPr lang="en-US" sz="1600" dirty="0"/>
          </a:p>
        </p:txBody>
      </p:sp>
      <p:sp>
        <p:nvSpPr>
          <p:cNvPr id="16" name="Text 13"/>
          <p:cNvSpPr/>
          <p:nvPr/>
        </p:nvSpPr>
        <p:spPr>
          <a:xfrm>
            <a:off x="5943600" y="1828800"/>
            <a:ext cx="640080" cy="457200"/>
          </a:xfrm>
          <a:prstGeom prst="rect">
            <a:avLst/>
          </a:prstGeom>
          <a:noFill/>
          <a:ln/>
        </p:spPr>
        <p:txBody>
          <a:bodyPr wrap="square" lIns="0" tIns="0" rIns="0" bIns="0" rtlCol="0" anchor="ctr"/>
          <a:lstStyle/>
          <a:p>
            <a:pPr indent="0" marL="0">
              <a:buNone/>
            </a:pPr>
            <a:r>
              <a:rPr lang="en-US" sz="2000" b="1" dirty="0">
                <a:solidFill>
                  <a:srgbClr val="F5B53F"/>
                </a:solidFill>
                <a:latin typeface="Georgia" pitchFamily="34" charset="0"/>
                <a:ea typeface="Georgia" pitchFamily="34" charset="-122"/>
                <a:cs typeface="Georgia" pitchFamily="34" charset="-120"/>
              </a:rPr>
              <a:t>00</a:t>
            </a:r>
            <a:endParaRPr lang="en-US" sz="2000" dirty="0"/>
          </a:p>
        </p:txBody>
      </p:sp>
      <p:sp>
        <p:nvSpPr>
          <p:cNvPr id="17" name="Text 14"/>
          <p:cNvSpPr/>
          <p:nvPr/>
        </p:nvSpPr>
        <p:spPr>
          <a:xfrm>
            <a:off x="6629400" y="1828800"/>
            <a:ext cx="5029200" cy="457200"/>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Setup: start the local stack</a:t>
            </a:r>
            <a:endParaRPr lang="en-US" sz="1700" dirty="0"/>
          </a:p>
        </p:txBody>
      </p:sp>
      <p:sp>
        <p:nvSpPr>
          <p:cNvPr id="18" name="Text 15"/>
          <p:cNvSpPr/>
          <p:nvPr/>
        </p:nvSpPr>
        <p:spPr>
          <a:xfrm>
            <a:off x="5943600" y="2468880"/>
            <a:ext cx="640080" cy="457200"/>
          </a:xfrm>
          <a:prstGeom prst="rect">
            <a:avLst/>
          </a:prstGeom>
          <a:noFill/>
          <a:ln/>
        </p:spPr>
        <p:txBody>
          <a:bodyPr wrap="square" lIns="0" tIns="0" rIns="0" bIns="0" rtlCol="0" anchor="ctr"/>
          <a:lstStyle/>
          <a:p>
            <a:pPr indent="0" marL="0">
              <a:buNone/>
            </a:pPr>
            <a:r>
              <a:rPr lang="en-US" sz="2000" b="1" dirty="0">
                <a:solidFill>
                  <a:srgbClr val="F5B53F"/>
                </a:solidFill>
                <a:latin typeface="Georgia" pitchFamily="34" charset="0"/>
                <a:ea typeface="Georgia" pitchFamily="34" charset="-122"/>
                <a:cs typeface="Georgia" pitchFamily="34" charset="-120"/>
              </a:rPr>
              <a:t>01</a:t>
            </a:r>
            <a:endParaRPr lang="en-US" sz="2000" dirty="0"/>
          </a:p>
        </p:txBody>
      </p:sp>
      <p:sp>
        <p:nvSpPr>
          <p:cNvPr id="19" name="Text 16"/>
          <p:cNvSpPr/>
          <p:nvPr/>
        </p:nvSpPr>
        <p:spPr>
          <a:xfrm>
            <a:off x="6629400" y="2468880"/>
            <a:ext cx="5029200" cy="457200"/>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What is observability?</a:t>
            </a:r>
            <a:endParaRPr lang="en-US" sz="1700" dirty="0"/>
          </a:p>
        </p:txBody>
      </p:sp>
      <p:sp>
        <p:nvSpPr>
          <p:cNvPr id="20" name="Text 17"/>
          <p:cNvSpPr/>
          <p:nvPr/>
        </p:nvSpPr>
        <p:spPr>
          <a:xfrm>
            <a:off x="5943600" y="3108960"/>
            <a:ext cx="640080" cy="457200"/>
          </a:xfrm>
          <a:prstGeom prst="rect">
            <a:avLst/>
          </a:prstGeom>
          <a:noFill/>
          <a:ln/>
        </p:spPr>
        <p:txBody>
          <a:bodyPr wrap="square" lIns="0" tIns="0" rIns="0" bIns="0" rtlCol="0" anchor="ctr"/>
          <a:lstStyle/>
          <a:p>
            <a:pPr indent="0" marL="0">
              <a:buNone/>
            </a:pPr>
            <a:r>
              <a:rPr lang="en-US" sz="2000" b="1" dirty="0">
                <a:solidFill>
                  <a:srgbClr val="F5B53F"/>
                </a:solidFill>
                <a:latin typeface="Georgia" pitchFamily="34" charset="0"/>
                <a:ea typeface="Georgia" pitchFamily="34" charset="-122"/>
                <a:cs typeface="Georgia" pitchFamily="34" charset="-120"/>
              </a:rPr>
              <a:t>02</a:t>
            </a:r>
            <a:endParaRPr lang="en-US" sz="2000" dirty="0"/>
          </a:p>
        </p:txBody>
      </p:sp>
      <p:sp>
        <p:nvSpPr>
          <p:cNvPr id="21" name="Text 18"/>
          <p:cNvSpPr/>
          <p:nvPr/>
        </p:nvSpPr>
        <p:spPr>
          <a:xfrm>
            <a:off x="6629400" y="3108960"/>
            <a:ext cx="5029200" cy="457200"/>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Your first trace in Langfuse</a:t>
            </a:r>
            <a:endParaRPr lang="en-US" sz="1700" dirty="0"/>
          </a:p>
        </p:txBody>
      </p:sp>
      <p:sp>
        <p:nvSpPr>
          <p:cNvPr id="22" name="Text 19"/>
          <p:cNvSpPr/>
          <p:nvPr/>
        </p:nvSpPr>
        <p:spPr>
          <a:xfrm>
            <a:off x="5943600" y="3749040"/>
            <a:ext cx="640080" cy="457200"/>
          </a:xfrm>
          <a:prstGeom prst="rect">
            <a:avLst/>
          </a:prstGeom>
          <a:noFill/>
          <a:ln/>
        </p:spPr>
        <p:txBody>
          <a:bodyPr wrap="square" lIns="0" tIns="0" rIns="0" bIns="0" rtlCol="0" anchor="ctr"/>
          <a:lstStyle/>
          <a:p>
            <a:pPr indent="0" marL="0">
              <a:buNone/>
            </a:pPr>
            <a:r>
              <a:rPr lang="en-US" sz="2000" b="1" dirty="0">
                <a:solidFill>
                  <a:srgbClr val="F5B53F"/>
                </a:solidFill>
                <a:latin typeface="Georgia" pitchFamily="34" charset="0"/>
                <a:ea typeface="Georgia" pitchFamily="34" charset="-122"/>
                <a:cs typeface="Georgia" pitchFamily="34" charset="-120"/>
              </a:rPr>
              <a:t>03</a:t>
            </a:r>
            <a:endParaRPr lang="en-US" sz="2000" dirty="0"/>
          </a:p>
        </p:txBody>
      </p:sp>
      <p:sp>
        <p:nvSpPr>
          <p:cNvPr id="23" name="Text 20"/>
          <p:cNvSpPr/>
          <p:nvPr/>
        </p:nvSpPr>
        <p:spPr>
          <a:xfrm>
            <a:off x="6629400" y="3749040"/>
            <a:ext cx="5029200" cy="457200"/>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The same function in LangSmith</a:t>
            </a:r>
            <a:endParaRPr lang="en-US" sz="1700" dirty="0"/>
          </a:p>
        </p:txBody>
      </p:sp>
      <p:sp>
        <p:nvSpPr>
          <p:cNvPr id="24" name="Text 21"/>
          <p:cNvSpPr/>
          <p:nvPr/>
        </p:nvSpPr>
        <p:spPr>
          <a:xfrm>
            <a:off x="5943600" y="4389120"/>
            <a:ext cx="640080" cy="457200"/>
          </a:xfrm>
          <a:prstGeom prst="rect">
            <a:avLst/>
          </a:prstGeom>
          <a:noFill/>
          <a:ln/>
        </p:spPr>
        <p:txBody>
          <a:bodyPr wrap="square" lIns="0" tIns="0" rIns="0" bIns="0" rtlCol="0" anchor="ctr"/>
          <a:lstStyle/>
          <a:p>
            <a:pPr indent="0" marL="0">
              <a:buNone/>
            </a:pPr>
            <a:r>
              <a:rPr lang="en-US" sz="2000" b="1" dirty="0">
                <a:solidFill>
                  <a:srgbClr val="F5B53F"/>
                </a:solidFill>
                <a:latin typeface="Georgia" pitchFamily="34" charset="0"/>
                <a:ea typeface="Georgia" pitchFamily="34" charset="-122"/>
                <a:cs typeface="Georgia" pitchFamily="34" charset="-120"/>
              </a:rPr>
              <a:t>04</a:t>
            </a:r>
            <a:endParaRPr lang="en-US" sz="2000" dirty="0"/>
          </a:p>
        </p:txBody>
      </p:sp>
      <p:sp>
        <p:nvSpPr>
          <p:cNvPr id="25" name="Text 22"/>
          <p:cNvSpPr/>
          <p:nvPr/>
        </p:nvSpPr>
        <p:spPr>
          <a:xfrm>
            <a:off x="6629400" y="4389120"/>
            <a:ext cx="5029200" cy="457200"/>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Beyond Langfuse and LangSmith</a:t>
            </a:r>
            <a:endParaRPr lang="en-US" sz="1700" dirty="0"/>
          </a:p>
        </p:txBody>
      </p:sp>
      <p:sp>
        <p:nvSpPr>
          <p:cNvPr id="26" name="Text 23"/>
          <p:cNvSpPr/>
          <p:nvPr/>
        </p:nvSpPr>
        <p:spPr>
          <a:xfrm>
            <a:off x="5943600" y="5029200"/>
            <a:ext cx="640080" cy="457200"/>
          </a:xfrm>
          <a:prstGeom prst="rect">
            <a:avLst/>
          </a:prstGeom>
          <a:noFill/>
          <a:ln/>
        </p:spPr>
        <p:txBody>
          <a:bodyPr wrap="square" lIns="0" tIns="0" rIns="0" bIns="0" rtlCol="0" anchor="ctr"/>
          <a:lstStyle/>
          <a:p>
            <a:pPr indent="0" marL="0">
              <a:buNone/>
            </a:pPr>
            <a:r>
              <a:rPr lang="en-US" sz="2000" b="1" dirty="0">
                <a:solidFill>
                  <a:srgbClr val="F5B53F"/>
                </a:solidFill>
                <a:latin typeface="Georgia" pitchFamily="34" charset="0"/>
                <a:ea typeface="Georgia" pitchFamily="34" charset="-122"/>
                <a:cs typeface="Georgia" pitchFamily="34" charset="-120"/>
              </a:rPr>
              <a:t>+</a:t>
            </a:r>
            <a:endParaRPr lang="en-US" sz="2000" dirty="0"/>
          </a:p>
        </p:txBody>
      </p:sp>
      <p:sp>
        <p:nvSpPr>
          <p:cNvPr id="27" name="Text 24"/>
          <p:cNvSpPr/>
          <p:nvPr/>
        </p:nvSpPr>
        <p:spPr>
          <a:xfrm>
            <a:off x="6629400" y="5029200"/>
            <a:ext cx="5029200" cy="457200"/>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advanced/: deeper notebooks for later</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27</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DEMO 1</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Langfuse on localhost</a:t>
            </a:r>
            <a:endParaRPr lang="en-US" sz="3200" dirty="0"/>
          </a:p>
        </p:txBody>
      </p:sp>
      <p:pic>
        <p:nvPicPr>
          <p:cNvPr id="10" name="Image 0" descr="/Users/datasense/Desktop/ai-observability/slides/assets/logo-langfuse-color.png">    </p:cNvPr>
          <p:cNvPicPr>
            <a:picLocks noChangeAspect="1"/>
          </p:cNvPicPr>
          <p:nvPr/>
        </p:nvPicPr>
        <p:blipFill>
          <a:blip r:embed="rId1"/>
          <a:stretch>
            <a:fillRect/>
          </a:stretch>
        </p:blipFill>
        <p:spPr>
          <a:xfrm>
            <a:off x="9997135" y="777240"/>
            <a:ext cx="502920" cy="502920"/>
          </a:xfrm>
          <a:prstGeom prst="rect">
            <a:avLst/>
          </a:prstGeom>
        </p:spPr>
      </p:pic>
      <p:pic>
        <p:nvPicPr>
          <p:cNvPr id="11" name="Image 1" descr="/Users/datasense/Desktop/ai-observability/slides/assets/langfuse-stack.png">    </p:cNvPr>
          <p:cNvPicPr>
            <a:picLocks noChangeAspect="1"/>
          </p:cNvPicPr>
          <p:nvPr/>
        </p:nvPicPr>
        <p:blipFill>
          <a:blip r:embed="rId2"/>
          <a:stretch>
            <a:fillRect/>
          </a:stretch>
        </p:blipFill>
        <p:spPr>
          <a:xfrm>
            <a:off x="548640" y="1554480"/>
            <a:ext cx="7589520" cy="3288792"/>
          </a:xfrm>
          <a:prstGeom prst="rect">
            <a:avLst/>
          </a:prstGeom>
        </p:spPr>
      </p:pic>
      <p:sp>
        <p:nvSpPr>
          <p:cNvPr id="12" name="Shape 8"/>
          <p:cNvSpPr/>
          <p:nvPr/>
        </p:nvSpPr>
        <p:spPr>
          <a:xfrm>
            <a:off x="8366760" y="1600200"/>
            <a:ext cx="3273552" cy="1920240"/>
          </a:xfrm>
          <a:prstGeom prst="rect">
            <a:avLst/>
          </a:prstGeom>
          <a:solidFill>
            <a:srgbClr val="0F1428"/>
          </a:solidFill>
          <a:ln w="9525">
            <a:solidFill>
              <a:srgbClr val="2A3456"/>
            </a:solidFill>
            <a:prstDash val="solid"/>
          </a:ln>
        </p:spPr>
      </p:sp>
      <p:sp>
        <p:nvSpPr>
          <p:cNvPr id="13" name="Text 9"/>
          <p:cNvSpPr/>
          <p:nvPr/>
        </p:nvSpPr>
        <p:spPr>
          <a:xfrm>
            <a:off x="8595360" y="1783080"/>
            <a:ext cx="2816352" cy="1554480"/>
          </a:xfrm>
          <a:prstGeom prst="rect">
            <a:avLst/>
          </a:prstGeom>
          <a:noFill/>
          <a:ln/>
        </p:spPr>
        <p:txBody>
          <a:bodyPr wrap="square" lIns="0" tIns="0" rIns="0" bIns="0" rtlCol="0" anchor="t"/>
          <a:lstStyle/>
          <a:p>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git clone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langfuse</a:t>
            </a:r>
            <a:endParaRPr lang="en-US" sz="1300" dirty="0"/>
          </a:p>
          <a:p>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docker compose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up -d</a:t>
            </a:r>
            <a:endParaRPr lang="en-US" sz="1300" dirty="0"/>
          </a:p>
          <a:p>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open </a:t>
            </a:r>
            <a:pPr indent="0" marL="0">
              <a:spcAft>
                <a:spcPts val="200"/>
              </a:spcAft>
              <a:buNone/>
            </a:pPr>
            <a:r>
              <a:rPr lang="en-US" sz="1300" dirty="0">
                <a:solidFill>
                  <a:srgbClr val="2DD4BF"/>
                </a:solidFill>
                <a:latin typeface="Consolas" pitchFamily="34" charset="0"/>
                <a:ea typeface="Consolas" pitchFamily="34" charset="-122"/>
                <a:cs typeface="Consolas" pitchFamily="34" charset="-120"/>
              </a:rPr>
              <a:t>localhost:3000</a:t>
            </a:r>
            <a:endParaRPr lang="en-US" sz="1300" dirty="0"/>
          </a:p>
        </p:txBody>
      </p:sp>
      <p:sp>
        <p:nvSpPr>
          <p:cNvPr id="14" name="Text 10"/>
          <p:cNvSpPr/>
          <p:nvPr/>
        </p:nvSpPr>
        <p:spPr>
          <a:xfrm>
            <a:off x="8366760" y="3703320"/>
            <a:ext cx="3273552" cy="109728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Headless init creates the user, project and API keys on first boot. No sign-up form.</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28</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DEMO 2</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Add Langfuse in two changes</a:t>
            </a:r>
            <a:endParaRPr lang="en-US" sz="3200" dirty="0"/>
          </a:p>
        </p:txBody>
      </p:sp>
      <p:sp>
        <p:nvSpPr>
          <p:cNvPr id="10" name="Shape 8"/>
          <p:cNvSpPr/>
          <p:nvPr/>
        </p:nvSpPr>
        <p:spPr>
          <a:xfrm>
            <a:off x="548640" y="1691640"/>
            <a:ext cx="6949440" cy="4206240"/>
          </a:xfrm>
          <a:prstGeom prst="rect">
            <a:avLst/>
          </a:prstGeom>
          <a:solidFill>
            <a:srgbClr val="0F1428"/>
          </a:solidFill>
          <a:ln w="9525">
            <a:solidFill>
              <a:srgbClr val="2A3456"/>
            </a:solidFill>
            <a:prstDash val="solid"/>
          </a:ln>
        </p:spPr>
      </p:sp>
      <p:sp>
        <p:nvSpPr>
          <p:cNvPr id="11" name="Text 9"/>
          <p:cNvSpPr/>
          <p:nvPr/>
        </p:nvSpPr>
        <p:spPr>
          <a:xfrm>
            <a:off x="777240" y="1874520"/>
            <a:ext cx="6492240" cy="3840480"/>
          </a:xfrm>
          <a:prstGeom prst="rect">
            <a:avLst/>
          </a:prstGeom>
          <a:noFill/>
          <a:ln/>
        </p:spPr>
        <p:txBody>
          <a:bodyPr wrap="square" lIns="0" tIns="0" rIns="0" bIns="0" rtlCol="0" anchor="t"/>
          <a:lstStyle/>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from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langfuse </a:t>
            </a:r>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import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observe</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from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langfuse.openai </a:t>
            </a:r>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import </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OpenAI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 NEW 1</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@observe()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 NEW 2</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get_weather</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(city): ...</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@observe()</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ask_ai</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(question): ...</a:t>
            </a:r>
            <a:endParaRPr lang="en-US" sz="1400" dirty="0"/>
          </a:p>
          <a:p>
            <a:pPr indent="0" marL="0">
              <a:spcAft>
                <a:spcPts val="200"/>
              </a:spcAft>
              <a:buNone/>
            </a:pPr>
            <a:r>
              <a:rPr lang="en-US" sz="1400" dirty="0">
                <a:solidFill>
                  <a:srgbClr val="000000"/>
                </a:solidFill>
                <a:latin typeface="Consolas" pitchFamily="34" charset="0"/>
                <a:ea typeface="Consolas" pitchFamily="34" charset="-122"/>
                <a:cs typeface="Consolas" pitchFamily="34" charset="-120"/>
              </a:rPr>
              <a:t> </a:t>
            </a:r>
            <a:endParaRPr lang="en-US" sz="1400" dirty="0"/>
          </a:p>
          <a:p>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@observe()</a:t>
            </a:r>
            <a:endParaRPr lang="en-US" sz="1400" dirty="0"/>
          </a:p>
          <a:p>
            <a:pPr indent="0" marL="0">
              <a:spcAft>
                <a:spcPts val="200"/>
              </a:spcAft>
              <a:buNone/>
            </a:pPr>
            <a:r>
              <a:rPr lang="en-US" sz="14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400" dirty="0">
                <a:solidFill>
                  <a:srgbClr val="F5B53F"/>
                </a:solidFill>
                <a:latin typeface="Consolas" pitchFamily="34" charset="0"/>
                <a:ea typeface="Consolas" pitchFamily="34" charset="-122"/>
                <a:cs typeface="Consolas" pitchFamily="34" charset="-120"/>
              </a:rPr>
              <a:t>weather_assistant</a:t>
            </a:r>
            <a:pPr indent="0" marL="0">
              <a:spcAft>
                <a:spcPts val="200"/>
              </a:spcAft>
              <a:buNone/>
            </a:pPr>
            <a:r>
              <a:rPr lang="en-US" sz="1400" dirty="0">
                <a:solidFill>
                  <a:srgbClr val="CBD5E1"/>
                </a:solidFill>
                <a:latin typeface="Consolas" pitchFamily="34" charset="0"/>
                <a:ea typeface="Consolas" pitchFamily="34" charset="-122"/>
                <a:cs typeface="Consolas" pitchFamily="34" charset="-120"/>
              </a:rPr>
              <a:t>(city): ...</a:t>
            </a:r>
            <a:endParaRPr lang="en-US" sz="1400" dirty="0"/>
          </a:p>
        </p:txBody>
      </p:sp>
      <p:sp>
        <p:nvSpPr>
          <p:cNvPr id="12" name="Shape 10"/>
          <p:cNvSpPr/>
          <p:nvPr/>
        </p:nvSpPr>
        <p:spPr>
          <a:xfrm>
            <a:off x="7818120" y="1737360"/>
            <a:ext cx="3822192" cy="1188720"/>
          </a:xfrm>
          <a:prstGeom prst="rect">
            <a:avLst/>
          </a:prstGeom>
          <a:solidFill>
            <a:srgbClr val="141A31"/>
          </a:solidFill>
          <a:ln w="9525">
            <a:solidFill>
              <a:srgbClr val="2A3456"/>
            </a:solidFill>
            <a:prstDash val="solid"/>
          </a:ln>
        </p:spPr>
      </p:sp>
      <p:sp>
        <p:nvSpPr>
          <p:cNvPr id="13" name="Shape 11"/>
          <p:cNvSpPr/>
          <p:nvPr/>
        </p:nvSpPr>
        <p:spPr>
          <a:xfrm>
            <a:off x="7818120" y="1737360"/>
            <a:ext cx="54864" cy="1188720"/>
          </a:xfrm>
          <a:prstGeom prst="rect">
            <a:avLst/>
          </a:prstGeom>
          <a:solidFill>
            <a:srgbClr val="F5B53F"/>
          </a:solidFill>
          <a:ln w="12700">
            <a:solidFill>
              <a:srgbClr val="F5B53F"/>
            </a:solidFill>
            <a:prstDash val="solid"/>
          </a:ln>
        </p:spPr>
      </p:sp>
      <p:sp>
        <p:nvSpPr>
          <p:cNvPr id="14" name="Text 12"/>
          <p:cNvSpPr/>
          <p:nvPr/>
        </p:nvSpPr>
        <p:spPr>
          <a:xfrm>
            <a:off x="8092440" y="1874520"/>
            <a:ext cx="3291840" cy="320040"/>
          </a:xfrm>
          <a:prstGeom prst="rect">
            <a:avLst/>
          </a:prstGeom>
          <a:noFill/>
          <a:ln/>
        </p:spPr>
        <p:txBody>
          <a:bodyPr wrap="square" lIns="0" tIns="0" rIns="0" bIns="0" rtlCol="0" anchor="t"/>
          <a:lstStyle/>
          <a:p>
            <a:pPr indent="0" marL="0">
              <a:buNone/>
            </a:pPr>
            <a:r>
              <a:rPr lang="en-US" sz="1400" b="1" dirty="0">
                <a:solidFill>
                  <a:srgbClr val="F5B53F"/>
                </a:solidFill>
                <a:latin typeface="Consolas" pitchFamily="34" charset="0"/>
                <a:ea typeface="Consolas" pitchFamily="34" charset="-122"/>
                <a:cs typeface="Consolas" pitchFamily="34" charset="-120"/>
              </a:rPr>
              <a:t>NEW 1</a:t>
            </a:r>
            <a:endParaRPr lang="en-US" sz="1400" dirty="0"/>
          </a:p>
        </p:txBody>
      </p:sp>
      <p:sp>
        <p:nvSpPr>
          <p:cNvPr id="15" name="Text 13"/>
          <p:cNvSpPr/>
          <p:nvPr/>
        </p:nvSpPr>
        <p:spPr>
          <a:xfrm>
            <a:off x="8092440" y="2194560"/>
            <a:ext cx="3383280" cy="68580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Import OpenAI from langfuse.openai. Every AI call is recorded: prompt, answer, model, tokens, cost.</a:t>
            </a:r>
            <a:endParaRPr lang="en-US" sz="1300" dirty="0"/>
          </a:p>
        </p:txBody>
      </p:sp>
      <p:sp>
        <p:nvSpPr>
          <p:cNvPr id="16" name="Shape 14"/>
          <p:cNvSpPr/>
          <p:nvPr/>
        </p:nvSpPr>
        <p:spPr>
          <a:xfrm>
            <a:off x="7818120" y="3108960"/>
            <a:ext cx="3822192" cy="1188720"/>
          </a:xfrm>
          <a:prstGeom prst="rect">
            <a:avLst/>
          </a:prstGeom>
          <a:solidFill>
            <a:srgbClr val="141A31"/>
          </a:solidFill>
          <a:ln w="9525">
            <a:solidFill>
              <a:srgbClr val="2A3456"/>
            </a:solidFill>
            <a:prstDash val="solid"/>
          </a:ln>
        </p:spPr>
      </p:sp>
      <p:sp>
        <p:nvSpPr>
          <p:cNvPr id="17" name="Shape 15"/>
          <p:cNvSpPr/>
          <p:nvPr/>
        </p:nvSpPr>
        <p:spPr>
          <a:xfrm>
            <a:off x="7818120" y="3108960"/>
            <a:ext cx="54864" cy="1188720"/>
          </a:xfrm>
          <a:prstGeom prst="rect">
            <a:avLst/>
          </a:prstGeom>
          <a:solidFill>
            <a:srgbClr val="2DD4BF"/>
          </a:solidFill>
          <a:ln w="12700">
            <a:solidFill>
              <a:srgbClr val="2DD4BF"/>
            </a:solidFill>
            <a:prstDash val="solid"/>
          </a:ln>
        </p:spPr>
      </p:sp>
      <p:sp>
        <p:nvSpPr>
          <p:cNvPr id="18" name="Text 16"/>
          <p:cNvSpPr/>
          <p:nvPr/>
        </p:nvSpPr>
        <p:spPr>
          <a:xfrm>
            <a:off x="8092440" y="3246120"/>
            <a:ext cx="3291840" cy="320040"/>
          </a:xfrm>
          <a:prstGeom prst="rect">
            <a:avLst/>
          </a:prstGeom>
          <a:noFill/>
          <a:ln/>
        </p:spPr>
        <p:txBody>
          <a:bodyPr wrap="square" lIns="0" tIns="0" rIns="0" bIns="0" rtlCol="0" anchor="t"/>
          <a:lstStyle/>
          <a:p>
            <a:pPr indent="0" marL="0">
              <a:buNone/>
            </a:pPr>
            <a:r>
              <a:rPr lang="en-US" sz="1400" b="1" dirty="0">
                <a:solidFill>
                  <a:srgbClr val="2DD4BF"/>
                </a:solidFill>
                <a:latin typeface="Consolas" pitchFamily="34" charset="0"/>
                <a:ea typeface="Consolas" pitchFamily="34" charset="-122"/>
                <a:cs typeface="Consolas" pitchFamily="34" charset="-120"/>
              </a:rPr>
              <a:t>NEW 2</a:t>
            </a:r>
            <a:endParaRPr lang="en-US" sz="1400" dirty="0"/>
          </a:p>
        </p:txBody>
      </p:sp>
      <p:sp>
        <p:nvSpPr>
          <p:cNvPr id="19" name="Text 17"/>
          <p:cNvSpPr/>
          <p:nvPr/>
        </p:nvSpPr>
        <p:spPr>
          <a:xfrm>
            <a:off x="8092440" y="3566160"/>
            <a:ext cx="3383280" cy="68580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@observe() turns each function into a span. Nested calls become child spans.</a:t>
            </a:r>
            <a:endParaRPr lang="en-US" sz="1300" dirty="0"/>
          </a:p>
        </p:txBody>
      </p:sp>
      <p:sp>
        <p:nvSpPr>
          <p:cNvPr id="20" name="Shape 18"/>
          <p:cNvSpPr/>
          <p:nvPr/>
        </p:nvSpPr>
        <p:spPr>
          <a:xfrm>
            <a:off x="7818120" y="4480560"/>
            <a:ext cx="3822192" cy="1188720"/>
          </a:xfrm>
          <a:prstGeom prst="rect">
            <a:avLst/>
          </a:prstGeom>
          <a:solidFill>
            <a:srgbClr val="141A31"/>
          </a:solidFill>
          <a:ln w="9525">
            <a:solidFill>
              <a:srgbClr val="2A3456"/>
            </a:solidFill>
            <a:prstDash val="solid"/>
          </a:ln>
        </p:spPr>
      </p:sp>
      <p:sp>
        <p:nvSpPr>
          <p:cNvPr id="21" name="Shape 19"/>
          <p:cNvSpPr/>
          <p:nvPr/>
        </p:nvSpPr>
        <p:spPr>
          <a:xfrm>
            <a:off x="7818120" y="4480560"/>
            <a:ext cx="54864" cy="1188720"/>
          </a:xfrm>
          <a:prstGeom prst="rect">
            <a:avLst/>
          </a:prstGeom>
          <a:solidFill>
            <a:srgbClr val="8B5CF6"/>
          </a:solidFill>
          <a:ln w="12700">
            <a:solidFill>
              <a:srgbClr val="8B5CF6"/>
            </a:solidFill>
            <a:prstDash val="solid"/>
          </a:ln>
        </p:spPr>
      </p:sp>
      <p:sp>
        <p:nvSpPr>
          <p:cNvPr id="22" name="Text 20"/>
          <p:cNvSpPr/>
          <p:nvPr/>
        </p:nvSpPr>
        <p:spPr>
          <a:xfrm>
            <a:off x="8092440" y="4617720"/>
            <a:ext cx="3291840" cy="320040"/>
          </a:xfrm>
          <a:prstGeom prst="rect">
            <a:avLst/>
          </a:prstGeom>
          <a:noFill/>
          <a:ln/>
        </p:spPr>
        <p:txBody>
          <a:bodyPr wrap="square" lIns="0" tIns="0" rIns="0" bIns="0" rtlCol="0" anchor="t"/>
          <a:lstStyle/>
          <a:p>
            <a:pPr indent="0" marL="0">
              <a:buNone/>
            </a:pPr>
            <a:r>
              <a:rPr lang="en-US" sz="1400" b="1" dirty="0">
                <a:solidFill>
                  <a:srgbClr val="8B5CF6"/>
                </a:solidFill>
                <a:latin typeface="Consolas" pitchFamily="34" charset="0"/>
                <a:ea typeface="Consolas" pitchFamily="34" charset="-122"/>
                <a:cs typeface="Consolas" pitchFamily="34" charset="-120"/>
              </a:rPr>
              <a:t>then</a:t>
            </a:r>
            <a:endParaRPr lang="en-US" sz="1400" dirty="0"/>
          </a:p>
        </p:txBody>
      </p:sp>
      <p:sp>
        <p:nvSpPr>
          <p:cNvPr id="23" name="Text 21"/>
          <p:cNvSpPr/>
          <p:nvPr/>
        </p:nvSpPr>
        <p:spPr>
          <a:xfrm>
            <a:off x="8092440" y="4937760"/>
            <a:ext cx="3383280" cy="68580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langfuse.flush() sends everything. Open localhost:3000, click Tracing.</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29</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DEMO 2, RESULT</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What you see in Langfuse</a:t>
            </a:r>
            <a:endParaRPr lang="en-US" sz="3200" dirty="0"/>
          </a:p>
        </p:txBody>
      </p:sp>
      <p:pic>
        <p:nvPicPr>
          <p:cNvPr id="10" name="Image 0" descr="/Users/datasense/Desktop/ai-observability/slides/assets/waterfall-langfuse.png">    </p:cNvPr>
          <p:cNvPicPr>
            <a:picLocks noChangeAspect="1"/>
          </p:cNvPicPr>
          <p:nvPr/>
        </p:nvPicPr>
        <p:blipFill>
          <a:blip r:embed="rId1"/>
          <a:stretch>
            <a:fillRect/>
          </a:stretch>
        </p:blipFill>
        <p:spPr>
          <a:xfrm>
            <a:off x="548640" y="1691640"/>
            <a:ext cx="7589520" cy="2366314"/>
          </a:xfrm>
          <a:prstGeom prst="rect">
            <a:avLst/>
          </a:prstGeom>
        </p:spPr>
      </p:pic>
      <p:sp>
        <p:nvSpPr>
          <p:cNvPr id="11" name="Text 8"/>
          <p:cNvSpPr/>
          <p:nvPr/>
        </p:nvSpPr>
        <p:spPr>
          <a:xfrm>
            <a:off x="548640" y="4206240"/>
            <a:ext cx="7589520" cy="457200"/>
          </a:xfrm>
          <a:prstGeom prst="rect">
            <a:avLst/>
          </a:prstGeom>
          <a:noFill/>
          <a:ln/>
        </p:spPr>
        <p:txBody>
          <a:bodyPr wrap="square" lIns="0" tIns="0" rIns="0" bIns="0" rtlCol="0" anchor="t"/>
          <a:lstStyle/>
          <a:p>
            <a:pPr indent="0" marL="0">
              <a:buNone/>
            </a:pPr>
            <a:r>
              <a:rPr lang="en-US" sz="1300" i="1" dirty="0">
                <a:solidFill>
                  <a:srgbClr val="8A97B0"/>
                </a:solidFill>
                <a:latin typeface="Calibri" pitchFamily="34" charset="0"/>
                <a:ea typeface="Calibri" pitchFamily="34" charset="-122"/>
                <a:cs typeface="Calibri" pitchFamily="34" charset="-120"/>
              </a:rPr>
              <a:t>The same weather_assistant trace, fetched from Langfuse. The last row was added for us by the OpenAI import.</a:t>
            </a:r>
            <a:endParaRPr lang="en-US" sz="1300" dirty="0"/>
          </a:p>
        </p:txBody>
      </p:sp>
      <p:sp>
        <p:nvSpPr>
          <p:cNvPr id="12" name="Text 9"/>
          <p:cNvSpPr/>
          <p:nvPr/>
        </p:nvSpPr>
        <p:spPr>
          <a:xfrm>
            <a:off x="8458200" y="1737360"/>
            <a:ext cx="3200400" cy="320040"/>
          </a:xfrm>
          <a:prstGeom prst="rect">
            <a:avLst/>
          </a:prstGeom>
          <a:noFill/>
          <a:ln/>
        </p:spPr>
        <p:txBody>
          <a:bodyPr wrap="square" lIns="0" tIns="0" rIns="0" bIns="0" rtlCol="0" anchor="t"/>
          <a:lstStyle/>
          <a:p>
            <a:pPr indent="0" marL="0">
              <a:buNone/>
            </a:pPr>
            <a:r>
              <a:rPr lang="en-US" sz="1400" dirty="0">
                <a:solidFill>
                  <a:srgbClr val="2DD4BF"/>
                </a:solidFill>
                <a:latin typeface="Consolas" pitchFamily="34" charset="0"/>
                <a:ea typeface="Consolas" pitchFamily="34" charset="-122"/>
                <a:cs typeface="Consolas" pitchFamily="34" charset="-120"/>
              </a:rPr>
              <a:t>weather_assistant</a:t>
            </a:r>
            <a:endParaRPr lang="en-US" sz="1400" dirty="0"/>
          </a:p>
        </p:txBody>
      </p:sp>
      <p:sp>
        <p:nvSpPr>
          <p:cNvPr id="13" name="Text 10"/>
          <p:cNvSpPr/>
          <p:nvPr/>
        </p:nvSpPr>
        <p:spPr>
          <a:xfrm>
            <a:off x="8458200" y="2084832"/>
            <a:ext cx="3200400" cy="41148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input, final answer, total time</a:t>
            </a:r>
            <a:endParaRPr lang="en-US" sz="1300" dirty="0"/>
          </a:p>
        </p:txBody>
      </p:sp>
      <p:sp>
        <p:nvSpPr>
          <p:cNvPr id="14" name="Text 11"/>
          <p:cNvSpPr/>
          <p:nvPr/>
        </p:nvSpPr>
        <p:spPr>
          <a:xfrm>
            <a:off x="8458200" y="2651760"/>
            <a:ext cx="3200400" cy="320040"/>
          </a:xfrm>
          <a:prstGeom prst="rect">
            <a:avLst/>
          </a:prstGeom>
          <a:noFill/>
          <a:ln/>
        </p:spPr>
        <p:txBody>
          <a:bodyPr wrap="square" lIns="0" tIns="0" rIns="0" bIns="0" rtlCol="0" anchor="t"/>
          <a:lstStyle/>
          <a:p>
            <a:pPr indent="0" marL="0">
              <a:buNone/>
            </a:pPr>
            <a:r>
              <a:rPr lang="en-US" sz="1400" dirty="0">
                <a:solidFill>
                  <a:srgbClr val="2DD4BF"/>
                </a:solidFill>
                <a:latin typeface="Consolas" pitchFamily="34" charset="0"/>
                <a:ea typeface="Consolas" pitchFamily="34" charset="-122"/>
                <a:cs typeface="Consolas" pitchFamily="34" charset="-120"/>
              </a:rPr>
              <a:t>get_weather</a:t>
            </a:r>
            <a:endParaRPr lang="en-US" sz="1400" dirty="0"/>
          </a:p>
        </p:txBody>
      </p:sp>
      <p:sp>
        <p:nvSpPr>
          <p:cNvPr id="15" name="Text 12"/>
          <p:cNvSpPr/>
          <p:nvPr/>
        </p:nvSpPr>
        <p:spPr>
          <a:xfrm>
            <a:off x="8458200" y="2999232"/>
            <a:ext cx="3200400" cy="41148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about 0.5 s</a:t>
            </a:r>
            <a:endParaRPr lang="en-US" sz="1300" dirty="0"/>
          </a:p>
        </p:txBody>
      </p:sp>
      <p:sp>
        <p:nvSpPr>
          <p:cNvPr id="16" name="Text 13"/>
          <p:cNvSpPr/>
          <p:nvPr/>
        </p:nvSpPr>
        <p:spPr>
          <a:xfrm>
            <a:off x="8458200" y="3566160"/>
            <a:ext cx="3200400" cy="320040"/>
          </a:xfrm>
          <a:prstGeom prst="rect">
            <a:avLst/>
          </a:prstGeom>
          <a:noFill/>
          <a:ln/>
        </p:spPr>
        <p:txBody>
          <a:bodyPr wrap="square" lIns="0" tIns="0" rIns="0" bIns="0" rtlCol="0" anchor="t"/>
          <a:lstStyle/>
          <a:p>
            <a:pPr indent="0" marL="0">
              <a:buNone/>
            </a:pPr>
            <a:r>
              <a:rPr lang="en-US" sz="1400" dirty="0">
                <a:solidFill>
                  <a:srgbClr val="2DD4BF"/>
                </a:solidFill>
                <a:latin typeface="Consolas" pitchFamily="34" charset="0"/>
                <a:ea typeface="Consolas" pitchFamily="34" charset="-122"/>
                <a:cs typeface="Consolas" pitchFamily="34" charset="-120"/>
              </a:rPr>
              <a:t>OpenAI-generation</a:t>
            </a:r>
            <a:endParaRPr lang="en-US" sz="1400" dirty="0"/>
          </a:p>
        </p:txBody>
      </p:sp>
      <p:sp>
        <p:nvSpPr>
          <p:cNvPr id="17" name="Text 14"/>
          <p:cNvSpPr/>
          <p:nvPr/>
        </p:nvSpPr>
        <p:spPr>
          <a:xfrm>
            <a:off x="8458200" y="3913632"/>
            <a:ext cx="3200400" cy="41148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prompt, reply, model, tokens, cost</a:t>
            </a:r>
            <a:endParaRPr lang="en-US" sz="1300" dirty="0"/>
          </a:p>
        </p:txBody>
      </p:sp>
      <p:sp>
        <p:nvSpPr>
          <p:cNvPr id="18" name="Text 15"/>
          <p:cNvSpPr/>
          <p:nvPr/>
        </p:nvSpPr>
        <p:spPr>
          <a:xfrm>
            <a:off x="8458200" y="4480560"/>
            <a:ext cx="3200400" cy="320040"/>
          </a:xfrm>
          <a:prstGeom prst="rect">
            <a:avLst/>
          </a:prstGeom>
          <a:noFill/>
          <a:ln/>
        </p:spPr>
        <p:txBody>
          <a:bodyPr wrap="square" lIns="0" tIns="0" rIns="0" bIns="0" rtlCol="0" anchor="t"/>
          <a:lstStyle/>
          <a:p>
            <a:pPr indent="0" marL="0">
              <a:buNone/>
            </a:pPr>
            <a:r>
              <a:rPr lang="en-US" sz="1400" dirty="0">
                <a:solidFill>
                  <a:srgbClr val="2DD4BF"/>
                </a:solidFill>
                <a:latin typeface="Consolas" pitchFamily="34" charset="0"/>
                <a:ea typeface="Consolas" pitchFamily="34" charset="-122"/>
                <a:cs typeface="Consolas" pitchFamily="34" charset="-120"/>
              </a:rPr>
              <a:t>Users page</a:t>
            </a:r>
            <a:endParaRPr lang="en-US" sz="1400" dirty="0"/>
          </a:p>
        </p:txBody>
      </p:sp>
      <p:sp>
        <p:nvSpPr>
          <p:cNvPr id="19" name="Text 16"/>
          <p:cNvSpPr/>
          <p:nvPr/>
        </p:nvSpPr>
        <p:spPr>
          <a:xfrm>
            <a:off x="8458200" y="4828032"/>
            <a:ext cx="3200400" cy="41148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who asked (optional step)</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30</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DEMO 3</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Same agent, in LangSmith</a:t>
            </a:r>
            <a:endParaRPr lang="en-US" sz="3200" dirty="0"/>
          </a:p>
        </p:txBody>
      </p:sp>
      <p:pic>
        <p:nvPicPr>
          <p:cNvPr id="10" name="Image 0" descr="/Users/datasense/Desktop/ai-observability/slides/assets/logo-langchain-color.png">    </p:cNvPr>
          <p:cNvPicPr>
            <a:picLocks noChangeAspect="1"/>
          </p:cNvPicPr>
          <p:nvPr/>
        </p:nvPicPr>
        <p:blipFill>
          <a:blip r:embed="rId1"/>
          <a:stretch>
            <a:fillRect/>
          </a:stretch>
        </p:blipFill>
        <p:spPr>
          <a:xfrm>
            <a:off x="9997135" y="777240"/>
            <a:ext cx="502920" cy="502920"/>
          </a:xfrm>
          <a:prstGeom prst="rect">
            <a:avLst/>
          </a:prstGeom>
        </p:spPr>
      </p:pic>
      <p:sp>
        <p:nvSpPr>
          <p:cNvPr id="11" name="Shape 8"/>
          <p:cNvSpPr/>
          <p:nvPr/>
        </p:nvSpPr>
        <p:spPr>
          <a:xfrm>
            <a:off x="548640" y="1691640"/>
            <a:ext cx="5669280" cy="2743200"/>
          </a:xfrm>
          <a:prstGeom prst="rect">
            <a:avLst/>
          </a:prstGeom>
          <a:solidFill>
            <a:srgbClr val="0F1428"/>
          </a:solidFill>
          <a:ln w="9525">
            <a:solidFill>
              <a:srgbClr val="2A3456"/>
            </a:solidFill>
            <a:prstDash val="solid"/>
          </a:ln>
        </p:spPr>
      </p:sp>
      <p:sp>
        <p:nvSpPr>
          <p:cNvPr id="12" name="Text 9"/>
          <p:cNvSpPr/>
          <p:nvPr/>
        </p:nvSpPr>
        <p:spPr>
          <a:xfrm>
            <a:off x="777240" y="1874520"/>
            <a:ext cx="5212080" cy="2377440"/>
          </a:xfrm>
          <a:prstGeom prst="rect">
            <a:avLst/>
          </a:prstGeom>
          <a:noFill/>
          <a:ln/>
        </p:spPr>
        <p:txBody>
          <a:bodyPr wrap="square" lIns="0" tIns="0" rIns="0" bIns="0" rtlCol="0" anchor="t"/>
          <a:lstStyle/>
          <a:p>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from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langsmith </a:t>
            </a:r>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import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traceable</a:t>
            </a:r>
            <a:endParaRPr lang="en-US" sz="1300" dirty="0"/>
          </a:p>
          <a:p>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from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langsmith.wrappers </a:t>
            </a:r>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import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wrap_openai</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client = wrap_openai(OpenAI())</a:t>
            </a:r>
            <a:endParaRPr lang="en-US" sz="1300" dirty="0"/>
          </a:p>
          <a:p>
            <a:pPr indent="0" marL="0">
              <a:spcAft>
                <a:spcPts val="200"/>
              </a:spcAft>
              <a:buNone/>
            </a:pPr>
            <a:r>
              <a:rPr lang="en-US" sz="1300" dirty="0">
                <a:solidFill>
                  <a:srgbClr val="000000"/>
                </a:solidFill>
                <a:latin typeface="Consolas" pitchFamily="34" charset="0"/>
                <a:ea typeface="Consolas" pitchFamily="34" charset="-122"/>
                <a:cs typeface="Consolas" pitchFamily="34" charset="-120"/>
              </a:rPr>
              <a:t> </a:t>
            </a:r>
            <a:endParaRPr lang="en-US" sz="1300" dirty="0"/>
          </a:p>
          <a:p>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@traceable</a:t>
            </a:r>
            <a:endParaRPr lang="en-US" sz="1300" dirty="0"/>
          </a:p>
          <a:p>
            <a:pPr indent="0" marL="0">
              <a:spcAft>
                <a:spcPts val="200"/>
              </a:spcAft>
              <a:buNone/>
            </a:pPr>
            <a:r>
              <a:rPr lang="en-US" sz="1300" dirty="0">
                <a:solidFill>
                  <a:srgbClr val="8B5CF6"/>
                </a:solidFill>
                <a:latin typeface="Consolas" pitchFamily="34" charset="0"/>
                <a:ea typeface="Consolas" pitchFamily="34" charset="-122"/>
                <a:cs typeface="Consolas" pitchFamily="34" charset="-120"/>
              </a:rPr>
              <a:t>def </a:t>
            </a:r>
            <a:pPr indent="0" marL="0">
              <a:spcAft>
                <a:spcPts val="200"/>
              </a:spcAft>
              <a:buNone/>
            </a:pPr>
            <a:r>
              <a:rPr lang="en-US" sz="1300" dirty="0">
                <a:solidFill>
                  <a:srgbClr val="F5B53F"/>
                </a:solidFill>
                <a:latin typeface="Consolas" pitchFamily="34" charset="0"/>
                <a:ea typeface="Consolas" pitchFamily="34" charset="-122"/>
                <a:cs typeface="Consolas" pitchFamily="34" charset="-120"/>
              </a:rPr>
              <a:t>get_weather</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(city): ...</a:t>
            </a:r>
            <a:endParaRPr lang="en-US" sz="1300" dirty="0"/>
          </a:p>
        </p:txBody>
      </p:sp>
      <p:sp>
        <p:nvSpPr>
          <p:cNvPr id="13" name="Shape 10"/>
          <p:cNvSpPr/>
          <p:nvPr/>
        </p:nvSpPr>
        <p:spPr>
          <a:xfrm>
            <a:off x="548640" y="4617720"/>
            <a:ext cx="5669280" cy="1188720"/>
          </a:xfrm>
          <a:prstGeom prst="rect">
            <a:avLst/>
          </a:prstGeom>
          <a:solidFill>
            <a:srgbClr val="0F1428"/>
          </a:solidFill>
          <a:ln w="9525">
            <a:solidFill>
              <a:srgbClr val="2A3456"/>
            </a:solidFill>
            <a:prstDash val="solid"/>
          </a:ln>
        </p:spPr>
      </p:sp>
      <p:sp>
        <p:nvSpPr>
          <p:cNvPr id="14" name="Text 11"/>
          <p:cNvSpPr/>
          <p:nvPr/>
        </p:nvSpPr>
        <p:spPr>
          <a:xfrm>
            <a:off x="777240" y="4800600"/>
            <a:ext cx="5212080" cy="822960"/>
          </a:xfrm>
          <a:prstGeom prst="rect">
            <a:avLst/>
          </a:prstGeom>
          <a:noFill/>
          <a:ln/>
        </p:spPr>
        <p:txBody>
          <a:bodyPr wrap="square" lIns="0" tIns="0" rIns="0" bIns="0" rtlCol="0" anchor="t"/>
          <a:lstStyle/>
          <a:p>
            <a:pPr indent="0" marL="0">
              <a:spcAft>
                <a:spcPts val="200"/>
              </a:spcAft>
              <a:buNone/>
            </a:pPr>
            <a:r>
              <a:rPr lang="en-US" sz="1200" dirty="0">
                <a:solidFill>
                  <a:srgbClr val="22D3EE"/>
                </a:solidFill>
                <a:latin typeface="Consolas" pitchFamily="34" charset="0"/>
                <a:ea typeface="Consolas" pitchFamily="34" charset="-122"/>
                <a:cs typeface="Consolas" pitchFamily="34" charset="-120"/>
              </a:rPr>
              <a:t>LANGSMITH_TRACING</a:t>
            </a:r>
            <a:pPr indent="0" marL="0">
              <a:spcAft>
                <a:spcPts val="200"/>
              </a:spcAft>
              <a:buNone/>
            </a:pPr>
            <a:r>
              <a:rPr lang="en-US" sz="1200" dirty="0">
                <a:solidFill>
                  <a:srgbClr val="CBD5E1"/>
                </a:solidFill>
                <a:latin typeface="Consolas" pitchFamily="34" charset="0"/>
                <a:ea typeface="Consolas" pitchFamily="34" charset="-122"/>
                <a:cs typeface="Consolas" pitchFamily="34" charset="-120"/>
              </a:rPr>
              <a:t>=true</a:t>
            </a:r>
            <a:endParaRPr lang="en-US" sz="1200" dirty="0"/>
          </a:p>
          <a:p>
            <a:pPr indent="0" marL="0">
              <a:spcAft>
                <a:spcPts val="200"/>
              </a:spcAft>
              <a:buNone/>
            </a:pPr>
            <a:r>
              <a:rPr lang="en-US" sz="1200" dirty="0">
                <a:solidFill>
                  <a:srgbClr val="22D3EE"/>
                </a:solidFill>
                <a:latin typeface="Consolas" pitchFamily="34" charset="0"/>
                <a:ea typeface="Consolas" pitchFamily="34" charset="-122"/>
                <a:cs typeface="Consolas" pitchFamily="34" charset="-120"/>
              </a:rPr>
              <a:t>LANGSMITH_API_KEY</a:t>
            </a:r>
            <a:pPr indent="0" marL="0">
              <a:spcAft>
                <a:spcPts val="200"/>
              </a:spcAft>
              <a:buNone/>
            </a:pPr>
            <a:r>
              <a:rPr lang="en-US" sz="1200" dirty="0">
                <a:solidFill>
                  <a:srgbClr val="CBD5E1"/>
                </a:solidFill>
                <a:latin typeface="Consolas" pitchFamily="34" charset="0"/>
                <a:ea typeface="Consolas" pitchFamily="34" charset="-122"/>
                <a:cs typeface="Consolas" pitchFamily="34" charset="-120"/>
              </a:rPr>
              <a:t>=lsv2_...</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583680" y="1691640"/>
          <a:ext cx="5056632" cy="914400"/>
        </p:xfrm>
        <a:graphic>
          <a:graphicData uri="http://schemas.openxmlformats.org/drawingml/2006/table">
            <a:tbl>
              <a:tblPr/>
              <a:tblGrid>
                <a:gridCol w="1645920"/>
                <a:gridCol w="1783080"/>
                <a:gridCol w="1627632"/>
              </a:tblGrid>
              <a:tr h="457200">
                <a:tc>
                  <a:txBody>
                    <a:bodyPr/>
                    <a:lstStyle/>
                    <a:p>
                      <a:pPr indent="0" marL="0">
                        <a:buNone/>
                      </a:pPr>
                      <a:r>
                        <a:rPr lang="en-US" sz="1200" b="1" dirty="0">
                          <a:solidFill>
                            <a:srgbClr val="2DD4BF"/>
                          </a:solidFill>
                          <a:latin typeface="Calibri" pitchFamily="34" charset="0"/>
                          <a:ea typeface="Calibri" pitchFamily="34" charset="-122"/>
                          <a:cs typeface="Calibri" pitchFamily="34" charset="-120"/>
                        </a:rPr>
                        <a:t>LangSmith</a:t>
                      </a:r>
                      <a:endParaRPr lang="en-US" sz="12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r>
                        <a:rPr lang="en-US" sz="1200" b="1" dirty="0">
                          <a:solidFill>
                            <a:srgbClr val="2DD4BF"/>
                          </a:solidFill>
                          <a:latin typeface="Calibri" pitchFamily="34" charset="0"/>
                          <a:ea typeface="Calibri" pitchFamily="34" charset="-122"/>
                          <a:cs typeface="Calibri" pitchFamily="34" charset="-120"/>
                        </a:rPr>
                        <a:t>Langfuse</a:t>
                      </a:r>
                      <a:endParaRPr lang="en-US" sz="12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r>
                        <a:rPr lang="en-US" sz="1200" b="1" dirty="0">
                          <a:solidFill>
                            <a:srgbClr val="2DD4BF"/>
                          </a:solidFill>
                          <a:latin typeface="Calibri" pitchFamily="34" charset="0"/>
                          <a:ea typeface="Calibri" pitchFamily="34" charset="-122"/>
                          <a:cs typeface="Calibri" pitchFamily="34" charset="-120"/>
                        </a:rPr>
                        <a:t>OpenTelemetry</a:t>
                      </a:r>
                      <a:endParaRPr lang="en-US" sz="12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r>
              <a:tr h="457200">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Project</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Project</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service.name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r>
              <a:tr h="457200">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Trace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Trace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Trace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r>
              <a:tr h="457200">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Run</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Observation</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Span</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r>
              <a:tr h="457200">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Run type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Observation type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operation.name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r>
              <a:tr h="457200">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Thread</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Session</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c>
                  <a:txBody>
                    <a:bodyPr/>
                    <a:lstStyle/>
                    <a:p>
                      <a:pPr indent="0" marL="0">
                        <a:buNone/>
                      </a:pP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141A31"/>
                    </a:solidFill>
                  </a:tcPr>
                </a:tc>
              </a:tr>
              <a:tr h="457200">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Feedback</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r>
                        <a:rPr lang="en-US" sz="1300" dirty="0">
                          <a:solidFill>
                            <a:srgbClr val="CBD5E1"/>
                          </a:solidFill>
                          <a:latin typeface="Calibri" pitchFamily="34" charset="0"/>
                          <a:ea typeface="Calibri" pitchFamily="34" charset="-122"/>
                          <a:cs typeface="Calibri" pitchFamily="34" charset="-120"/>
                        </a:rPr>
                        <a:t>Score</a:t>
                      </a: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c>
                  <a:txBody>
                    <a:bodyPr/>
                    <a:lstStyle/>
                    <a:p>
                      <a:pPr indent="0" marL="0">
                        <a:buNone/>
                      </a:pPr>
                      <a:endParaRPr lang="en-US" sz="1300" dirty="0">
                        <a:latin typeface="Calibri" charset="0"/>
                        <a:ea typeface="Calibri" charset="0"/>
                        <a:cs typeface="Calibri" charset="0"/>
                      </a:endParaRPr>
                    </a:p>
                  </a:txBody>
                  <a:tcPr marL="109728" marR="73152" marT="0" marB="0" anchor="ctr">
                    <a:lnL w="0" cap="flat" cmpd="sng" algn="ctr">
                      <a:noFill/>
                    </a:lnL>
                    <a:lnR w="0" cap="flat" cmpd="sng" algn="ctr">
                      <a:noFill/>
                    </a:lnR>
                    <a:lnT w="0" cap="flat" cmpd="sng" algn="ctr">
                      <a:noFill/>
                    </a:lnT>
                    <a:lnB w="0" cap="flat" cmpd="sng" algn="ctr">
                      <a:noFill/>
                    </a:lnB>
                    <a:solidFill>
                      <a:srgbClr val="0F1428"/>
                    </a:solidFill>
                  </a:tcPr>
                </a:tc>
              </a:tr>
            </a:tbl>
          </a:graphicData>
        </a:graphic>
      </p:graphicFrame>
      <p:sp>
        <p:nvSpPr>
          <p:cNvPr id="16" name="Text 12"/>
          <p:cNvSpPr/>
          <p:nvPr/>
        </p:nvSpPr>
        <p:spPr>
          <a:xfrm>
            <a:off x="6583680" y="5120640"/>
            <a:ext cx="5029200" cy="457200"/>
          </a:xfrm>
          <a:prstGeom prst="rect">
            <a:avLst/>
          </a:prstGeom>
          <a:noFill/>
          <a:ln/>
        </p:spPr>
        <p:txBody>
          <a:bodyPr wrap="square" lIns="0" tIns="0" rIns="0" bIns="0" rtlCol="0" anchor="t"/>
          <a:lstStyle/>
          <a:p>
            <a:pPr indent="0" marL="0">
              <a:buNone/>
            </a:pPr>
            <a:r>
              <a:rPr lang="en-US" sz="1400" i="1" dirty="0">
                <a:solidFill>
                  <a:srgbClr val="8A97B0"/>
                </a:solidFill>
                <a:latin typeface="Calibri" pitchFamily="34" charset="0"/>
                <a:ea typeface="Calibri" pitchFamily="34" charset="-122"/>
                <a:cs typeface="Calibri" pitchFamily="34" charset="-120"/>
              </a:rPr>
              <a:t>Same ideas, different names. Learn the concept once.</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31</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DEMO 4</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Other tools: change the address, not the code</a:t>
            </a:r>
            <a:endParaRPr lang="en-US" sz="3200" dirty="0"/>
          </a:p>
        </p:txBody>
      </p:sp>
      <p:sp>
        <p:nvSpPr>
          <p:cNvPr id="10" name="Text 8"/>
          <p:cNvSpPr/>
          <p:nvPr/>
        </p:nvSpPr>
        <p:spPr>
          <a:xfrm>
            <a:off x="548640" y="2011680"/>
            <a:ext cx="1828800" cy="457200"/>
          </a:xfrm>
          <a:prstGeom prst="rect">
            <a:avLst/>
          </a:prstGeom>
          <a:noFill/>
          <a:ln/>
        </p:spPr>
        <p:txBody>
          <a:bodyPr wrap="square" lIns="0" tIns="0" rIns="0" bIns="0" rtlCol="0" anchor="t"/>
          <a:lstStyle/>
          <a:p>
            <a:pPr indent="0" marL="0">
              <a:buNone/>
            </a:pPr>
            <a:r>
              <a:rPr lang="en-US" sz="1800" b="1" dirty="0">
                <a:solidFill>
                  <a:srgbClr val="F5B53F"/>
                </a:solidFill>
                <a:latin typeface="Calibri" pitchFamily="34" charset="0"/>
                <a:ea typeface="Calibri" pitchFamily="34" charset="-122"/>
                <a:cs typeface="Calibri" pitchFamily="34" charset="-120"/>
              </a:rPr>
              <a:t>Langfuse</a:t>
            </a:r>
            <a:endParaRPr lang="en-US" sz="1800" dirty="0"/>
          </a:p>
        </p:txBody>
      </p:sp>
      <p:sp>
        <p:nvSpPr>
          <p:cNvPr id="11" name="Shape 9"/>
          <p:cNvSpPr/>
          <p:nvPr/>
        </p:nvSpPr>
        <p:spPr>
          <a:xfrm>
            <a:off x="2468880" y="1691640"/>
            <a:ext cx="9098280" cy="1097280"/>
          </a:xfrm>
          <a:prstGeom prst="rect">
            <a:avLst/>
          </a:prstGeom>
          <a:solidFill>
            <a:srgbClr val="0F1428"/>
          </a:solidFill>
          <a:ln w="9525">
            <a:solidFill>
              <a:srgbClr val="2A3456"/>
            </a:solidFill>
            <a:prstDash val="solid"/>
          </a:ln>
        </p:spPr>
      </p:sp>
      <p:sp>
        <p:nvSpPr>
          <p:cNvPr id="12" name="Text 10"/>
          <p:cNvSpPr/>
          <p:nvPr/>
        </p:nvSpPr>
        <p:spPr>
          <a:xfrm>
            <a:off x="2697480" y="1874520"/>
            <a:ext cx="8641080" cy="731520"/>
          </a:xfrm>
          <a:prstGeom prst="rect">
            <a:avLst/>
          </a:prstGeom>
          <a:noFill/>
          <a:ln/>
        </p:spPr>
        <p:txBody>
          <a:bodyPr wrap="square" lIns="0" tIns="0" rIns="0" bIns="0" rtlCol="0" anchor="t"/>
          <a:lstStyle/>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endpoint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http://localhost:3000/api/public/otel</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headers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Authorization: Basic &lt;your keys&gt;</a:t>
            </a:r>
            <a:endParaRPr lang="en-US" sz="1300" dirty="0"/>
          </a:p>
        </p:txBody>
      </p:sp>
      <p:sp>
        <p:nvSpPr>
          <p:cNvPr id="13" name="Text 11"/>
          <p:cNvSpPr/>
          <p:nvPr/>
        </p:nvSpPr>
        <p:spPr>
          <a:xfrm>
            <a:off x="548640" y="3337560"/>
            <a:ext cx="1828800" cy="457200"/>
          </a:xfrm>
          <a:prstGeom prst="rect">
            <a:avLst/>
          </a:prstGeom>
          <a:noFill/>
          <a:ln/>
        </p:spPr>
        <p:txBody>
          <a:bodyPr wrap="square" lIns="0" tIns="0" rIns="0" bIns="0" rtlCol="0" anchor="t"/>
          <a:lstStyle/>
          <a:p>
            <a:pPr indent="0" marL="0">
              <a:buNone/>
            </a:pPr>
            <a:r>
              <a:rPr lang="en-US" sz="1800" b="1" dirty="0">
                <a:solidFill>
                  <a:srgbClr val="2DD4BF"/>
                </a:solidFill>
                <a:latin typeface="Calibri" pitchFamily="34" charset="0"/>
                <a:ea typeface="Calibri" pitchFamily="34" charset="-122"/>
                <a:cs typeface="Calibri" pitchFamily="34" charset="-120"/>
              </a:rPr>
              <a:t>LangSmith</a:t>
            </a:r>
            <a:endParaRPr lang="en-US" sz="1800" dirty="0"/>
          </a:p>
        </p:txBody>
      </p:sp>
      <p:sp>
        <p:nvSpPr>
          <p:cNvPr id="14" name="Shape 12"/>
          <p:cNvSpPr/>
          <p:nvPr/>
        </p:nvSpPr>
        <p:spPr>
          <a:xfrm>
            <a:off x="2468880" y="3017520"/>
            <a:ext cx="9098280" cy="1097280"/>
          </a:xfrm>
          <a:prstGeom prst="rect">
            <a:avLst/>
          </a:prstGeom>
          <a:solidFill>
            <a:srgbClr val="0F1428"/>
          </a:solidFill>
          <a:ln w="9525">
            <a:solidFill>
              <a:srgbClr val="2A3456"/>
            </a:solidFill>
            <a:prstDash val="solid"/>
          </a:ln>
        </p:spPr>
      </p:sp>
      <p:sp>
        <p:nvSpPr>
          <p:cNvPr id="15" name="Text 13"/>
          <p:cNvSpPr/>
          <p:nvPr/>
        </p:nvSpPr>
        <p:spPr>
          <a:xfrm>
            <a:off x="2697480" y="3200400"/>
            <a:ext cx="8641080" cy="731520"/>
          </a:xfrm>
          <a:prstGeom prst="rect">
            <a:avLst/>
          </a:prstGeom>
          <a:noFill/>
          <a:ln/>
        </p:spPr>
        <p:txBody>
          <a:bodyPr wrap="square" lIns="0" tIns="0" rIns="0" bIns="0" rtlCol="0" anchor="t"/>
          <a:lstStyle/>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endpoint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https://api.smith.langchain.com/otel</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headers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x-api-key: &lt;your key&gt;</a:t>
            </a:r>
            <a:endParaRPr lang="en-US" sz="1300" dirty="0"/>
          </a:p>
        </p:txBody>
      </p:sp>
      <p:sp>
        <p:nvSpPr>
          <p:cNvPr id="16" name="Text 14"/>
          <p:cNvSpPr/>
          <p:nvPr/>
        </p:nvSpPr>
        <p:spPr>
          <a:xfrm>
            <a:off x="548640" y="4663440"/>
            <a:ext cx="1828800" cy="45720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Dynatrace</a:t>
            </a:r>
            <a:endParaRPr lang="en-US" sz="1800" dirty="0"/>
          </a:p>
        </p:txBody>
      </p:sp>
      <p:sp>
        <p:nvSpPr>
          <p:cNvPr id="17" name="Shape 15"/>
          <p:cNvSpPr/>
          <p:nvPr/>
        </p:nvSpPr>
        <p:spPr>
          <a:xfrm>
            <a:off x="2468880" y="4343400"/>
            <a:ext cx="9098280" cy="1097280"/>
          </a:xfrm>
          <a:prstGeom prst="rect">
            <a:avLst/>
          </a:prstGeom>
          <a:solidFill>
            <a:srgbClr val="0F1428"/>
          </a:solidFill>
          <a:ln w="9525">
            <a:solidFill>
              <a:srgbClr val="2A3456"/>
            </a:solidFill>
            <a:prstDash val="solid"/>
          </a:ln>
        </p:spPr>
      </p:sp>
      <p:sp>
        <p:nvSpPr>
          <p:cNvPr id="18" name="Text 16"/>
          <p:cNvSpPr/>
          <p:nvPr/>
        </p:nvSpPr>
        <p:spPr>
          <a:xfrm>
            <a:off x="2697480" y="4526280"/>
            <a:ext cx="8641080" cy="731520"/>
          </a:xfrm>
          <a:prstGeom prst="rect">
            <a:avLst/>
          </a:prstGeom>
          <a:noFill/>
          <a:ln/>
        </p:spPr>
        <p:txBody>
          <a:bodyPr wrap="square" lIns="0" tIns="0" rIns="0" bIns="0" rtlCol="0" anchor="t"/>
          <a:lstStyle/>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endpoint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https://&lt;id&gt;.live.dynatrace.com/api/v2/otlp</a:t>
            </a:r>
            <a:endParaRPr lang="en-US" sz="1300" dirty="0"/>
          </a:p>
          <a:p>
            <a:pPr indent="0" marL="0">
              <a:spcAft>
                <a:spcPts val="200"/>
              </a:spcAft>
              <a:buNone/>
            </a:pPr>
            <a:r>
              <a:rPr lang="en-US" sz="1300" dirty="0">
                <a:solidFill>
                  <a:srgbClr val="22D3EE"/>
                </a:solidFill>
                <a:latin typeface="Consolas" pitchFamily="34" charset="0"/>
                <a:ea typeface="Consolas" pitchFamily="34" charset="-122"/>
                <a:cs typeface="Consolas" pitchFamily="34" charset="-120"/>
              </a:rPr>
              <a:t>headers  </a:t>
            </a:r>
            <a:pPr indent="0" marL="0">
              <a:spcAft>
                <a:spcPts val="200"/>
              </a:spcAft>
              <a:buNone/>
            </a:pPr>
            <a:r>
              <a:rPr lang="en-US" sz="1300" dirty="0">
                <a:solidFill>
                  <a:srgbClr val="CBD5E1"/>
                </a:solidFill>
                <a:latin typeface="Consolas" pitchFamily="34" charset="0"/>
                <a:ea typeface="Consolas" pitchFamily="34" charset="-122"/>
                <a:cs typeface="Consolas" pitchFamily="34" charset="-120"/>
              </a:rPr>
              <a:t>Authorization: Bearer &lt;token&gt;</a:t>
            </a:r>
            <a:endParaRPr lang="en-US" sz="1300" dirty="0"/>
          </a:p>
        </p:txBody>
      </p:sp>
      <p:sp>
        <p:nvSpPr>
          <p:cNvPr id="19" name="Text 17"/>
          <p:cNvSpPr/>
          <p:nvPr/>
        </p:nvSpPr>
        <p:spPr>
          <a:xfrm>
            <a:off x="548640" y="5715000"/>
            <a:ext cx="11094415" cy="411480"/>
          </a:xfrm>
          <a:prstGeom prst="rect">
            <a:avLst/>
          </a:prstGeom>
          <a:noFill/>
          <a:ln/>
        </p:spPr>
        <p:txBody>
          <a:bodyPr wrap="square" lIns="0" tIns="0" rIns="0" bIns="0" rtlCol="0" anchor="t"/>
          <a:lstStyle/>
          <a:p>
            <a:pPr indent="0" marL="0">
              <a:buNone/>
            </a:pPr>
            <a:r>
              <a:rPr lang="en-US" sz="1400" i="1" dirty="0">
                <a:solidFill>
                  <a:srgbClr val="8A97B0"/>
                </a:solidFill>
                <a:latin typeface="Calibri" pitchFamily="34" charset="0"/>
                <a:ea typeface="Calibri" pitchFamily="34" charset="-122"/>
                <a:cs typeface="Calibri" pitchFamily="34" charset="-120"/>
              </a:rPr>
              <a:t>Your functions and your with blocks stay exactly the same. Notebook 04 sends plain OpenTelemetry to Langfuse with zero Langfuse code.</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463040"/>
            <a:ext cx="3657600" cy="1463040"/>
          </a:xfrm>
          <a:prstGeom prst="rect">
            <a:avLst/>
          </a:prstGeom>
          <a:noFill/>
          <a:ln/>
        </p:spPr>
        <p:txBody>
          <a:bodyPr wrap="square" lIns="0" tIns="0" rIns="0" bIns="0" rtlCol="0" anchor="ctr"/>
          <a:lstStyle/>
          <a:p>
            <a:pPr indent="0" marL="0">
              <a:buNone/>
            </a:pPr>
            <a:r>
              <a:rPr lang="en-US" sz="11000" b="1" dirty="0">
                <a:solidFill>
                  <a:srgbClr val="1B2340"/>
                </a:solidFill>
                <a:latin typeface="Georgia" pitchFamily="34" charset="0"/>
                <a:ea typeface="Georgia" pitchFamily="34" charset="-122"/>
                <a:cs typeface="Georgia" pitchFamily="34" charset="-120"/>
              </a:rPr>
              <a:t>06</a:t>
            </a:r>
            <a:endParaRPr lang="en-US" sz="11000" dirty="0"/>
          </a:p>
        </p:txBody>
      </p:sp>
      <p:sp>
        <p:nvSpPr>
          <p:cNvPr id="3" name="Text 1"/>
          <p:cNvSpPr/>
          <p:nvPr/>
        </p:nvSpPr>
        <p:spPr>
          <a:xfrm>
            <a:off x="548640" y="2971800"/>
            <a:ext cx="8229600" cy="822960"/>
          </a:xfrm>
          <a:prstGeom prst="rect">
            <a:avLst/>
          </a:prstGeom>
          <a:noFill/>
          <a:ln/>
        </p:spPr>
        <p:txBody>
          <a:bodyPr wrap="square" lIns="0" tIns="0" rIns="0" bIns="0" rtlCol="0" anchor="ctr"/>
          <a:lstStyle/>
          <a:p>
            <a:pPr indent="0" marL="0">
              <a:buNone/>
            </a:pPr>
            <a:r>
              <a:rPr lang="en-US" sz="4400" b="1" dirty="0">
                <a:solidFill>
                  <a:srgbClr val="F8FAFC"/>
                </a:solidFill>
                <a:latin typeface="Georgia" pitchFamily="34" charset="0"/>
                <a:ea typeface="Georgia" pitchFamily="34" charset="-122"/>
                <a:cs typeface="Georgia" pitchFamily="34" charset="-120"/>
              </a:rPr>
              <a:t>The landscape</a:t>
            </a:r>
            <a:endParaRPr lang="en-US" sz="4400" dirty="0"/>
          </a:p>
        </p:txBody>
      </p:sp>
      <p:sp>
        <p:nvSpPr>
          <p:cNvPr id="4" name="Text 2"/>
          <p:cNvSpPr/>
          <p:nvPr/>
        </p:nvSpPr>
        <p:spPr>
          <a:xfrm>
            <a:off x="548640" y="3840480"/>
            <a:ext cx="8229600" cy="457200"/>
          </a:xfrm>
          <a:prstGeom prst="rect">
            <a:avLst/>
          </a:prstGeom>
          <a:noFill/>
          <a:ln/>
        </p:spPr>
        <p:txBody>
          <a:bodyPr wrap="square" lIns="0" tIns="0" rIns="0" bIns="0" rtlCol="0" anchor="ctr"/>
          <a:lstStyle/>
          <a:p>
            <a:pPr indent="0" marL="0">
              <a:buNone/>
            </a:pPr>
            <a:r>
              <a:rPr lang="en-US" sz="1800" dirty="0">
                <a:solidFill>
                  <a:srgbClr val="8A97B0"/>
                </a:solidFill>
                <a:latin typeface="Calibri" pitchFamily="34" charset="0"/>
                <a:ea typeface="Calibri" pitchFamily="34" charset="-122"/>
                <a:cs typeface="Calibri" pitchFamily="34" charset="-120"/>
              </a:rPr>
              <a:t>Different names, same ideas.</a:t>
            </a:r>
            <a:endParaRPr lang="en-US" sz="1800" dirty="0"/>
          </a:p>
        </p:txBody>
      </p:sp>
      <p:sp>
        <p:nvSpPr>
          <p:cNvPr id="5" name="Shape 3"/>
          <p:cNvSpPr/>
          <p:nvPr/>
        </p:nvSpPr>
        <p:spPr>
          <a:xfrm>
            <a:off x="8351215" y="914400"/>
            <a:ext cx="3291840" cy="153619"/>
          </a:xfrm>
          <a:prstGeom prst="roundRect">
            <a:avLst>
              <a:gd name="adj" fmla="val 17857"/>
            </a:avLst>
          </a:prstGeom>
          <a:solidFill>
            <a:srgbClr val="8B5CF6"/>
          </a:solidFill>
          <a:ln w="12700">
            <a:solidFill>
              <a:srgbClr val="8B5CF6"/>
            </a:solidFill>
            <a:prstDash val="solid"/>
          </a:ln>
        </p:spPr>
      </p:sp>
      <p:sp>
        <p:nvSpPr>
          <p:cNvPr id="6" name="Shape 4"/>
          <p:cNvSpPr/>
          <p:nvPr/>
        </p:nvSpPr>
        <p:spPr>
          <a:xfrm>
            <a:off x="8482889" y="1199693"/>
            <a:ext cx="724205" cy="153619"/>
          </a:xfrm>
          <a:prstGeom prst="roundRect">
            <a:avLst>
              <a:gd name="adj" fmla="val 17857"/>
            </a:avLst>
          </a:prstGeom>
          <a:solidFill>
            <a:srgbClr val="22D3EE"/>
          </a:solidFill>
          <a:ln w="12700">
            <a:solidFill>
              <a:srgbClr val="22D3EE"/>
            </a:solidFill>
            <a:prstDash val="solid"/>
          </a:ln>
        </p:spPr>
      </p:sp>
      <p:sp>
        <p:nvSpPr>
          <p:cNvPr id="7" name="Shape 5"/>
          <p:cNvSpPr/>
          <p:nvPr/>
        </p:nvSpPr>
        <p:spPr>
          <a:xfrm>
            <a:off x="9240012" y="1484986"/>
            <a:ext cx="1185062" cy="153619"/>
          </a:xfrm>
          <a:prstGeom prst="roundRect">
            <a:avLst>
              <a:gd name="adj" fmla="val 17857"/>
            </a:avLst>
          </a:prstGeom>
          <a:solidFill>
            <a:srgbClr val="F5B53F"/>
          </a:solidFill>
          <a:ln w="12700">
            <a:solidFill>
              <a:srgbClr val="F5B53F"/>
            </a:solidFill>
            <a:prstDash val="solid"/>
          </a:ln>
        </p:spPr>
      </p:sp>
      <p:sp>
        <p:nvSpPr>
          <p:cNvPr id="8" name="Shape 6"/>
          <p:cNvSpPr/>
          <p:nvPr/>
        </p:nvSpPr>
        <p:spPr>
          <a:xfrm>
            <a:off x="10457993" y="1770278"/>
            <a:ext cx="1119226" cy="153619"/>
          </a:xfrm>
          <a:prstGeom prst="roundRect">
            <a:avLst>
              <a:gd name="adj" fmla="val 17857"/>
            </a:avLst>
          </a:prstGeom>
          <a:solidFill>
            <a:srgbClr val="2DD4BF"/>
          </a:solidFill>
          <a:ln w="12700">
            <a:solidFill>
              <a:srgbClr val="2DD4BF"/>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33</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WHO DOES WHAT</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 tool landscape</a:t>
            </a:r>
            <a:endParaRPr lang="en-US" sz="3200" dirty="0"/>
          </a:p>
        </p:txBody>
      </p:sp>
      <p:sp>
        <p:nvSpPr>
          <p:cNvPr id="10" name="Text 8"/>
          <p:cNvSpPr/>
          <p:nvPr/>
        </p:nvSpPr>
        <p:spPr>
          <a:xfrm>
            <a:off x="548640" y="1691640"/>
            <a:ext cx="3657600" cy="274320"/>
          </a:xfrm>
          <a:prstGeom prst="rect">
            <a:avLst/>
          </a:prstGeom>
          <a:noFill/>
          <a:ln/>
        </p:spPr>
        <p:txBody>
          <a:bodyPr wrap="square" lIns="0" tIns="0" rIns="0" bIns="0" rtlCol="0" anchor="t"/>
          <a:lstStyle/>
          <a:p>
            <a:pPr indent="0" marL="0">
              <a:buNone/>
            </a:pPr>
            <a:r>
              <a:rPr lang="en-US" sz="1100" b="1" spc="300" kern="0" dirty="0">
                <a:solidFill>
                  <a:srgbClr val="2DD4BF"/>
                </a:solidFill>
                <a:latin typeface="Calibri" pitchFamily="34" charset="0"/>
                <a:ea typeface="Calibri" pitchFamily="34" charset="-122"/>
                <a:cs typeface="Calibri" pitchFamily="34" charset="-120"/>
              </a:rPr>
              <a:t>LLM-NATIVE</a:t>
            </a:r>
            <a:endParaRPr lang="en-US" sz="1100" dirty="0"/>
          </a:p>
        </p:txBody>
      </p:sp>
      <p:sp>
        <p:nvSpPr>
          <p:cNvPr id="11" name="Text 9"/>
          <p:cNvSpPr/>
          <p:nvPr/>
        </p:nvSpPr>
        <p:spPr>
          <a:xfrm>
            <a:off x="548640" y="1984248"/>
            <a:ext cx="3657600" cy="2743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Built for prompts, agents and evals</a:t>
            </a:r>
            <a:endParaRPr lang="en-US" sz="1300" dirty="0"/>
          </a:p>
        </p:txBody>
      </p:sp>
      <p:sp>
        <p:nvSpPr>
          <p:cNvPr id="12" name="Shape 10"/>
          <p:cNvSpPr/>
          <p:nvPr/>
        </p:nvSpPr>
        <p:spPr>
          <a:xfrm>
            <a:off x="548640" y="2377440"/>
            <a:ext cx="3520440" cy="1188720"/>
          </a:xfrm>
          <a:prstGeom prst="rect">
            <a:avLst/>
          </a:prstGeom>
          <a:solidFill>
            <a:srgbClr val="141A31"/>
          </a:solidFill>
          <a:ln w="9525">
            <a:solidFill>
              <a:srgbClr val="2A3456"/>
            </a:solidFill>
            <a:prstDash val="solid"/>
          </a:ln>
        </p:spPr>
      </p:sp>
      <p:sp>
        <p:nvSpPr>
          <p:cNvPr id="13" name="Shape 11"/>
          <p:cNvSpPr/>
          <p:nvPr/>
        </p:nvSpPr>
        <p:spPr>
          <a:xfrm>
            <a:off x="777240" y="2606040"/>
            <a:ext cx="731520" cy="731520"/>
          </a:xfrm>
          <a:prstGeom prst="roundRect">
            <a:avLst>
              <a:gd name="adj" fmla="val 15000"/>
            </a:avLst>
          </a:prstGeom>
          <a:solidFill>
            <a:srgbClr val="FFFFFF"/>
          </a:solidFill>
          <a:ln w="12700">
            <a:solidFill>
              <a:srgbClr val="FFFFFF"/>
            </a:solidFill>
            <a:prstDash val="solid"/>
          </a:ln>
        </p:spPr>
      </p:sp>
      <p:pic>
        <p:nvPicPr>
          <p:cNvPr id="14" name="Image 0" descr="/Users/datasense/Desktop/ai-observability/slides/assets/logo-langchain-color.png">    </p:cNvPr>
          <p:cNvPicPr>
            <a:picLocks noChangeAspect="1"/>
          </p:cNvPicPr>
          <p:nvPr/>
        </p:nvPicPr>
        <p:blipFill>
          <a:blip r:embed="rId1"/>
          <a:srcRect l="0" r="0" t="0" b="0"/>
          <a:stretch/>
        </p:blipFill>
        <p:spPr>
          <a:xfrm>
            <a:off x="868680" y="2697480"/>
            <a:ext cx="548640" cy="548640"/>
          </a:xfrm>
          <a:prstGeom prst="rect">
            <a:avLst/>
          </a:prstGeom>
        </p:spPr>
      </p:pic>
      <p:sp>
        <p:nvSpPr>
          <p:cNvPr id="15" name="Text 12"/>
          <p:cNvSpPr/>
          <p:nvPr/>
        </p:nvSpPr>
        <p:spPr>
          <a:xfrm>
            <a:off x="1691640" y="2606040"/>
            <a:ext cx="228600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LangSmith</a:t>
            </a:r>
            <a:endParaRPr lang="en-US" sz="1700" dirty="0"/>
          </a:p>
        </p:txBody>
      </p:sp>
      <p:sp>
        <p:nvSpPr>
          <p:cNvPr id="16" name="Text 13"/>
          <p:cNvSpPr/>
          <p:nvPr/>
        </p:nvSpPr>
        <p:spPr>
          <a:xfrm>
            <a:off x="1691640" y="2999232"/>
            <a:ext cx="2286000" cy="365760"/>
          </a:xfrm>
          <a:prstGeom prst="rect">
            <a:avLst/>
          </a:prstGeom>
          <a:noFill/>
          <a:ln/>
        </p:spPr>
        <p:txBody>
          <a:bodyPr wrap="square" lIns="0" tIns="0" rIns="0" bIns="0" rtlCol="0" anchor="t"/>
          <a:lstStyle/>
          <a:p>
            <a:pPr indent="0" marL="0">
              <a:buNone/>
            </a:pPr>
            <a:r>
              <a:rPr lang="en-US" sz="1200" dirty="0">
                <a:solidFill>
                  <a:srgbClr val="8A97B0"/>
                </a:solidFill>
                <a:latin typeface="Calibri" pitchFamily="34" charset="0"/>
                <a:ea typeface="Calibri" pitchFamily="34" charset="-122"/>
                <a:cs typeface="Calibri" pitchFamily="34" charset="-120"/>
              </a:rPr>
              <a:t>Managed, LangChain depth</a:t>
            </a:r>
            <a:endParaRPr lang="en-US" sz="1200" dirty="0"/>
          </a:p>
        </p:txBody>
      </p:sp>
      <p:sp>
        <p:nvSpPr>
          <p:cNvPr id="17" name="Shape 14"/>
          <p:cNvSpPr/>
          <p:nvPr/>
        </p:nvSpPr>
        <p:spPr>
          <a:xfrm>
            <a:off x="4297680" y="2377440"/>
            <a:ext cx="3520440" cy="1188720"/>
          </a:xfrm>
          <a:prstGeom prst="rect">
            <a:avLst/>
          </a:prstGeom>
          <a:solidFill>
            <a:srgbClr val="141A31"/>
          </a:solidFill>
          <a:ln w="9525">
            <a:solidFill>
              <a:srgbClr val="2A3456"/>
            </a:solidFill>
            <a:prstDash val="solid"/>
          </a:ln>
        </p:spPr>
      </p:sp>
      <p:sp>
        <p:nvSpPr>
          <p:cNvPr id="18" name="Shape 15"/>
          <p:cNvSpPr/>
          <p:nvPr/>
        </p:nvSpPr>
        <p:spPr>
          <a:xfrm>
            <a:off x="4526280" y="2606040"/>
            <a:ext cx="731520" cy="731520"/>
          </a:xfrm>
          <a:prstGeom prst="roundRect">
            <a:avLst>
              <a:gd name="adj" fmla="val 15000"/>
            </a:avLst>
          </a:prstGeom>
          <a:solidFill>
            <a:srgbClr val="FFFFFF"/>
          </a:solidFill>
          <a:ln w="12700">
            <a:solidFill>
              <a:srgbClr val="FFFFFF"/>
            </a:solidFill>
            <a:prstDash val="solid"/>
          </a:ln>
        </p:spPr>
      </p:sp>
      <p:pic>
        <p:nvPicPr>
          <p:cNvPr id="19" name="Image 1" descr="/Users/datasense/Desktop/ai-observability/slides/assets/logo-langfuse-color.png">    </p:cNvPr>
          <p:cNvPicPr>
            <a:picLocks noChangeAspect="1"/>
          </p:cNvPicPr>
          <p:nvPr/>
        </p:nvPicPr>
        <p:blipFill>
          <a:blip r:embed="rId2"/>
          <a:srcRect l="0" r="0" t="0" b="0"/>
          <a:stretch/>
        </p:blipFill>
        <p:spPr>
          <a:xfrm>
            <a:off x="4617720" y="2697480"/>
            <a:ext cx="548640" cy="548640"/>
          </a:xfrm>
          <a:prstGeom prst="rect">
            <a:avLst/>
          </a:prstGeom>
        </p:spPr>
      </p:pic>
      <p:sp>
        <p:nvSpPr>
          <p:cNvPr id="20" name="Text 16"/>
          <p:cNvSpPr/>
          <p:nvPr/>
        </p:nvSpPr>
        <p:spPr>
          <a:xfrm>
            <a:off x="5440680" y="2606040"/>
            <a:ext cx="228600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Langfuse</a:t>
            </a:r>
            <a:endParaRPr lang="en-US" sz="1700" dirty="0"/>
          </a:p>
        </p:txBody>
      </p:sp>
      <p:sp>
        <p:nvSpPr>
          <p:cNvPr id="21" name="Text 17"/>
          <p:cNvSpPr/>
          <p:nvPr/>
        </p:nvSpPr>
        <p:spPr>
          <a:xfrm>
            <a:off x="5440680" y="2999232"/>
            <a:ext cx="2286000" cy="365760"/>
          </a:xfrm>
          <a:prstGeom prst="rect">
            <a:avLst/>
          </a:prstGeom>
          <a:noFill/>
          <a:ln/>
        </p:spPr>
        <p:txBody>
          <a:bodyPr wrap="square" lIns="0" tIns="0" rIns="0" bIns="0" rtlCol="0" anchor="t"/>
          <a:lstStyle/>
          <a:p>
            <a:pPr indent="0" marL="0">
              <a:buNone/>
            </a:pPr>
            <a:r>
              <a:rPr lang="en-US" sz="1200" dirty="0">
                <a:solidFill>
                  <a:srgbClr val="8A97B0"/>
                </a:solidFill>
                <a:latin typeface="Calibri" pitchFamily="34" charset="0"/>
                <a:ea typeface="Calibri" pitchFamily="34" charset="-122"/>
                <a:cs typeface="Calibri" pitchFamily="34" charset="-120"/>
              </a:rPr>
              <a:t>Open source, self-host</a:t>
            </a:r>
            <a:endParaRPr lang="en-US" sz="1200" dirty="0"/>
          </a:p>
        </p:txBody>
      </p:sp>
      <p:sp>
        <p:nvSpPr>
          <p:cNvPr id="22" name="Shape 18"/>
          <p:cNvSpPr/>
          <p:nvPr/>
        </p:nvSpPr>
        <p:spPr>
          <a:xfrm>
            <a:off x="8046720" y="2377440"/>
            <a:ext cx="3520440" cy="1188720"/>
          </a:xfrm>
          <a:prstGeom prst="rect">
            <a:avLst/>
          </a:prstGeom>
          <a:solidFill>
            <a:srgbClr val="141A31"/>
          </a:solidFill>
          <a:ln w="9525">
            <a:solidFill>
              <a:srgbClr val="2A3456"/>
            </a:solidFill>
            <a:prstDash val="solid"/>
          </a:ln>
        </p:spPr>
      </p:sp>
      <p:sp>
        <p:nvSpPr>
          <p:cNvPr id="23" name="Shape 19"/>
          <p:cNvSpPr/>
          <p:nvPr/>
        </p:nvSpPr>
        <p:spPr>
          <a:xfrm>
            <a:off x="8275320" y="2606040"/>
            <a:ext cx="731520" cy="731520"/>
          </a:xfrm>
          <a:prstGeom prst="roundRect">
            <a:avLst>
              <a:gd name="adj" fmla="val 15000"/>
            </a:avLst>
          </a:prstGeom>
          <a:solidFill>
            <a:srgbClr val="FFFFFF"/>
          </a:solidFill>
          <a:ln w="12700">
            <a:solidFill>
              <a:srgbClr val="FFFFFF"/>
            </a:solidFill>
            <a:prstDash val="solid"/>
          </a:ln>
        </p:spPr>
      </p:sp>
      <p:pic>
        <p:nvPicPr>
          <p:cNvPr id="24" name="Image 2" descr="/Users/datasense/Desktop/ai-observability/slides/assets/logo-phoenix-color.png">    </p:cNvPr>
          <p:cNvPicPr>
            <a:picLocks noChangeAspect="1"/>
          </p:cNvPicPr>
          <p:nvPr/>
        </p:nvPicPr>
        <p:blipFill>
          <a:blip r:embed="rId3"/>
          <a:srcRect l="0" r="0" t="0" b="0"/>
          <a:stretch/>
        </p:blipFill>
        <p:spPr>
          <a:xfrm>
            <a:off x="8366760" y="2697480"/>
            <a:ext cx="548640" cy="548640"/>
          </a:xfrm>
          <a:prstGeom prst="rect">
            <a:avLst/>
          </a:prstGeom>
        </p:spPr>
      </p:pic>
      <p:sp>
        <p:nvSpPr>
          <p:cNvPr id="25" name="Text 20"/>
          <p:cNvSpPr/>
          <p:nvPr/>
        </p:nvSpPr>
        <p:spPr>
          <a:xfrm>
            <a:off x="9189720" y="2606040"/>
            <a:ext cx="228600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Arize Phoenix</a:t>
            </a:r>
            <a:endParaRPr lang="en-US" sz="1700" dirty="0"/>
          </a:p>
        </p:txBody>
      </p:sp>
      <p:sp>
        <p:nvSpPr>
          <p:cNvPr id="26" name="Text 21"/>
          <p:cNvSpPr/>
          <p:nvPr/>
        </p:nvSpPr>
        <p:spPr>
          <a:xfrm>
            <a:off x="9189720" y="2999232"/>
            <a:ext cx="2286000" cy="365760"/>
          </a:xfrm>
          <a:prstGeom prst="rect">
            <a:avLst/>
          </a:prstGeom>
          <a:noFill/>
          <a:ln/>
        </p:spPr>
        <p:txBody>
          <a:bodyPr wrap="square" lIns="0" tIns="0" rIns="0" bIns="0" rtlCol="0" anchor="t"/>
          <a:lstStyle/>
          <a:p>
            <a:pPr indent="0" marL="0">
              <a:buNone/>
            </a:pPr>
            <a:r>
              <a:rPr lang="en-US" sz="1200" dirty="0">
                <a:solidFill>
                  <a:srgbClr val="8A97B0"/>
                </a:solidFill>
                <a:latin typeface="Calibri" pitchFamily="34" charset="0"/>
                <a:ea typeface="Calibri" pitchFamily="34" charset="-122"/>
                <a:cs typeface="Calibri" pitchFamily="34" charset="-120"/>
              </a:rPr>
              <a:t>Open source, OpenInference</a:t>
            </a:r>
            <a:endParaRPr lang="en-US" sz="1200" dirty="0"/>
          </a:p>
        </p:txBody>
      </p:sp>
      <p:sp>
        <p:nvSpPr>
          <p:cNvPr id="27" name="Text 22"/>
          <p:cNvSpPr/>
          <p:nvPr/>
        </p:nvSpPr>
        <p:spPr>
          <a:xfrm>
            <a:off x="548640" y="3840480"/>
            <a:ext cx="3657600" cy="274320"/>
          </a:xfrm>
          <a:prstGeom prst="rect">
            <a:avLst/>
          </a:prstGeom>
          <a:noFill/>
          <a:ln/>
        </p:spPr>
        <p:txBody>
          <a:bodyPr wrap="square" lIns="0" tIns="0" rIns="0" bIns="0" rtlCol="0" anchor="t"/>
          <a:lstStyle/>
          <a:p>
            <a:pPr indent="0" marL="0">
              <a:buNone/>
            </a:pPr>
            <a:r>
              <a:rPr lang="en-US" sz="1100" b="1" spc="300" kern="0" dirty="0">
                <a:solidFill>
                  <a:srgbClr val="F5B53F"/>
                </a:solidFill>
                <a:latin typeface="Calibri" pitchFamily="34" charset="0"/>
                <a:ea typeface="Calibri" pitchFamily="34" charset="-122"/>
                <a:cs typeface="Calibri" pitchFamily="34" charset="-120"/>
              </a:rPr>
              <a:t>APM AND ENTERPRISE</a:t>
            </a:r>
            <a:endParaRPr lang="en-US" sz="1100" dirty="0"/>
          </a:p>
        </p:txBody>
      </p:sp>
      <p:sp>
        <p:nvSpPr>
          <p:cNvPr id="28" name="Text 23"/>
          <p:cNvSpPr/>
          <p:nvPr/>
        </p:nvSpPr>
        <p:spPr>
          <a:xfrm>
            <a:off x="548640" y="4133088"/>
            <a:ext cx="3657600" cy="27432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AI next to your infrastructure</a:t>
            </a:r>
            <a:endParaRPr lang="en-US" sz="1300" dirty="0"/>
          </a:p>
        </p:txBody>
      </p:sp>
      <p:sp>
        <p:nvSpPr>
          <p:cNvPr id="29" name="Shape 24"/>
          <p:cNvSpPr/>
          <p:nvPr/>
        </p:nvSpPr>
        <p:spPr>
          <a:xfrm>
            <a:off x="548640" y="4526280"/>
            <a:ext cx="3520440" cy="1188720"/>
          </a:xfrm>
          <a:prstGeom prst="rect">
            <a:avLst/>
          </a:prstGeom>
          <a:solidFill>
            <a:srgbClr val="141A31"/>
          </a:solidFill>
          <a:ln w="9525">
            <a:solidFill>
              <a:srgbClr val="2A3456"/>
            </a:solidFill>
            <a:prstDash val="solid"/>
          </a:ln>
        </p:spPr>
      </p:sp>
      <p:sp>
        <p:nvSpPr>
          <p:cNvPr id="30" name="Shape 25"/>
          <p:cNvSpPr/>
          <p:nvPr/>
        </p:nvSpPr>
        <p:spPr>
          <a:xfrm>
            <a:off x="777240" y="4754880"/>
            <a:ext cx="731520" cy="731520"/>
          </a:xfrm>
          <a:prstGeom prst="roundRect">
            <a:avLst>
              <a:gd name="adj" fmla="val 15000"/>
            </a:avLst>
          </a:prstGeom>
          <a:solidFill>
            <a:srgbClr val="FFFFFF"/>
          </a:solidFill>
          <a:ln w="12700">
            <a:solidFill>
              <a:srgbClr val="FFFFFF"/>
            </a:solidFill>
            <a:prstDash val="solid"/>
          </a:ln>
        </p:spPr>
      </p:sp>
      <p:pic>
        <p:nvPicPr>
          <p:cNvPr id="31" name="Image 3" descr="/Users/datasense/Desktop/ai-observability/slides/assets/logo-datadog-color.png">    </p:cNvPr>
          <p:cNvPicPr>
            <a:picLocks noChangeAspect="1"/>
          </p:cNvPicPr>
          <p:nvPr/>
        </p:nvPicPr>
        <p:blipFill>
          <a:blip r:embed="rId4"/>
          <a:srcRect l="0" r="0" t="0" b="0"/>
          <a:stretch/>
        </p:blipFill>
        <p:spPr>
          <a:xfrm>
            <a:off x="868680" y="4846320"/>
            <a:ext cx="548640" cy="548640"/>
          </a:xfrm>
          <a:prstGeom prst="rect">
            <a:avLst/>
          </a:prstGeom>
        </p:spPr>
      </p:pic>
      <p:sp>
        <p:nvSpPr>
          <p:cNvPr id="32" name="Text 26"/>
          <p:cNvSpPr/>
          <p:nvPr/>
        </p:nvSpPr>
        <p:spPr>
          <a:xfrm>
            <a:off x="1691640" y="4754880"/>
            <a:ext cx="228600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Datadog</a:t>
            </a:r>
            <a:endParaRPr lang="en-US" sz="1700" dirty="0"/>
          </a:p>
        </p:txBody>
      </p:sp>
      <p:sp>
        <p:nvSpPr>
          <p:cNvPr id="33" name="Text 27"/>
          <p:cNvSpPr/>
          <p:nvPr/>
        </p:nvSpPr>
        <p:spPr>
          <a:xfrm>
            <a:off x="1691640" y="5148072"/>
            <a:ext cx="2286000" cy="365760"/>
          </a:xfrm>
          <a:prstGeom prst="rect">
            <a:avLst/>
          </a:prstGeom>
          <a:noFill/>
          <a:ln/>
        </p:spPr>
        <p:txBody>
          <a:bodyPr wrap="square" lIns="0" tIns="0" rIns="0" bIns="0" rtlCol="0" anchor="t"/>
          <a:lstStyle/>
          <a:p>
            <a:pPr indent="0" marL="0">
              <a:buNone/>
            </a:pPr>
            <a:r>
              <a:rPr lang="en-US" sz="1200" dirty="0">
                <a:solidFill>
                  <a:srgbClr val="8A97B0"/>
                </a:solidFill>
                <a:latin typeface="Calibri" pitchFamily="34" charset="0"/>
                <a:ea typeface="Calibri" pitchFamily="34" charset="-122"/>
                <a:cs typeface="Calibri" pitchFamily="34" charset="-120"/>
              </a:rPr>
              <a:t>LLM Observability</a:t>
            </a:r>
            <a:endParaRPr lang="en-US" sz="1200" dirty="0"/>
          </a:p>
        </p:txBody>
      </p:sp>
      <p:sp>
        <p:nvSpPr>
          <p:cNvPr id="34" name="Shape 28"/>
          <p:cNvSpPr/>
          <p:nvPr/>
        </p:nvSpPr>
        <p:spPr>
          <a:xfrm>
            <a:off x="4297680" y="4526280"/>
            <a:ext cx="3520440" cy="1188720"/>
          </a:xfrm>
          <a:prstGeom prst="rect">
            <a:avLst/>
          </a:prstGeom>
          <a:solidFill>
            <a:srgbClr val="141A31"/>
          </a:solidFill>
          <a:ln w="9525">
            <a:solidFill>
              <a:srgbClr val="2A3456"/>
            </a:solidFill>
            <a:prstDash val="solid"/>
          </a:ln>
        </p:spPr>
      </p:sp>
      <p:sp>
        <p:nvSpPr>
          <p:cNvPr id="35" name="Shape 29"/>
          <p:cNvSpPr/>
          <p:nvPr/>
        </p:nvSpPr>
        <p:spPr>
          <a:xfrm>
            <a:off x="4526280" y="4754880"/>
            <a:ext cx="731520" cy="731520"/>
          </a:xfrm>
          <a:prstGeom prst="roundRect">
            <a:avLst>
              <a:gd name="adj" fmla="val 15000"/>
            </a:avLst>
          </a:prstGeom>
          <a:solidFill>
            <a:srgbClr val="FFFFFF"/>
          </a:solidFill>
          <a:ln w="12700">
            <a:solidFill>
              <a:srgbClr val="FFFFFF"/>
            </a:solidFill>
            <a:prstDash val="solid"/>
          </a:ln>
        </p:spPr>
      </p:sp>
      <p:pic>
        <p:nvPicPr>
          <p:cNvPr id="36" name="Image 4" descr="/Users/datasense/Desktop/ai-observability/slides/assets/logo-dynatrace-color.png">    </p:cNvPr>
          <p:cNvPicPr>
            <a:picLocks noChangeAspect="1"/>
          </p:cNvPicPr>
          <p:nvPr/>
        </p:nvPicPr>
        <p:blipFill>
          <a:blip r:embed="rId5"/>
          <a:srcRect l="0" r="0" t="0" b="0"/>
          <a:stretch/>
        </p:blipFill>
        <p:spPr>
          <a:xfrm>
            <a:off x="4617720" y="4846320"/>
            <a:ext cx="548640" cy="548640"/>
          </a:xfrm>
          <a:prstGeom prst="rect">
            <a:avLst/>
          </a:prstGeom>
        </p:spPr>
      </p:pic>
      <p:sp>
        <p:nvSpPr>
          <p:cNvPr id="37" name="Text 30"/>
          <p:cNvSpPr/>
          <p:nvPr/>
        </p:nvSpPr>
        <p:spPr>
          <a:xfrm>
            <a:off x="5440680" y="4754880"/>
            <a:ext cx="228600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Dynatrace</a:t>
            </a:r>
            <a:endParaRPr lang="en-US" sz="1700" dirty="0"/>
          </a:p>
        </p:txBody>
      </p:sp>
      <p:sp>
        <p:nvSpPr>
          <p:cNvPr id="38" name="Text 31"/>
          <p:cNvSpPr/>
          <p:nvPr/>
        </p:nvSpPr>
        <p:spPr>
          <a:xfrm>
            <a:off x="5440680" y="5148072"/>
            <a:ext cx="2286000" cy="365760"/>
          </a:xfrm>
          <a:prstGeom prst="rect">
            <a:avLst/>
          </a:prstGeom>
          <a:noFill/>
          <a:ln/>
        </p:spPr>
        <p:txBody>
          <a:bodyPr wrap="square" lIns="0" tIns="0" rIns="0" bIns="0" rtlCol="0" anchor="t"/>
          <a:lstStyle/>
          <a:p>
            <a:pPr indent="0" marL="0">
              <a:buNone/>
            </a:pPr>
            <a:r>
              <a:rPr lang="en-US" sz="1200" dirty="0">
                <a:solidFill>
                  <a:srgbClr val="8A97B0"/>
                </a:solidFill>
                <a:latin typeface="Calibri" pitchFamily="34" charset="0"/>
                <a:ea typeface="Calibri" pitchFamily="34" charset="-122"/>
                <a:cs typeface="Calibri" pitchFamily="34" charset="-120"/>
              </a:rPr>
              <a:t>Full-stack, AI root cause</a:t>
            </a:r>
            <a:endParaRPr lang="en-US" sz="1200" dirty="0"/>
          </a:p>
        </p:txBody>
      </p:sp>
      <p:sp>
        <p:nvSpPr>
          <p:cNvPr id="39" name="Shape 32"/>
          <p:cNvSpPr/>
          <p:nvPr/>
        </p:nvSpPr>
        <p:spPr>
          <a:xfrm>
            <a:off x="8046720" y="4526280"/>
            <a:ext cx="3520440" cy="1188720"/>
          </a:xfrm>
          <a:prstGeom prst="rect">
            <a:avLst/>
          </a:prstGeom>
          <a:solidFill>
            <a:srgbClr val="141A31"/>
          </a:solidFill>
          <a:ln w="9525">
            <a:solidFill>
              <a:srgbClr val="2A3456"/>
            </a:solidFill>
            <a:prstDash val="solid"/>
          </a:ln>
        </p:spPr>
      </p:sp>
      <p:sp>
        <p:nvSpPr>
          <p:cNvPr id="40" name="Shape 33"/>
          <p:cNvSpPr/>
          <p:nvPr/>
        </p:nvSpPr>
        <p:spPr>
          <a:xfrm>
            <a:off x="8275320" y="4754880"/>
            <a:ext cx="731520" cy="731520"/>
          </a:xfrm>
          <a:prstGeom prst="roundRect">
            <a:avLst>
              <a:gd name="adj" fmla="val 15000"/>
            </a:avLst>
          </a:prstGeom>
          <a:solidFill>
            <a:srgbClr val="FFFFFF"/>
          </a:solidFill>
          <a:ln w="12700">
            <a:solidFill>
              <a:srgbClr val="FFFFFF"/>
            </a:solidFill>
            <a:prstDash val="solid"/>
          </a:ln>
        </p:spPr>
      </p:sp>
      <p:pic>
        <p:nvPicPr>
          <p:cNvPr id="41" name="Image 5" descr="/Users/datasense/Desktop/ai-observability/slides/assets/logo-grafana-color.png">    </p:cNvPr>
          <p:cNvPicPr>
            <a:picLocks noChangeAspect="1"/>
          </p:cNvPicPr>
          <p:nvPr/>
        </p:nvPicPr>
        <p:blipFill>
          <a:blip r:embed="rId6"/>
          <a:srcRect l="0" r="0" t="0" b="0"/>
          <a:stretch/>
        </p:blipFill>
        <p:spPr>
          <a:xfrm>
            <a:off x="8366760" y="4846320"/>
            <a:ext cx="548640" cy="548640"/>
          </a:xfrm>
          <a:prstGeom prst="rect">
            <a:avLst/>
          </a:prstGeom>
        </p:spPr>
      </p:pic>
      <p:sp>
        <p:nvSpPr>
          <p:cNvPr id="42" name="Text 34"/>
          <p:cNvSpPr/>
          <p:nvPr/>
        </p:nvSpPr>
        <p:spPr>
          <a:xfrm>
            <a:off x="9189720" y="4754880"/>
            <a:ext cx="228600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Grafana</a:t>
            </a:r>
            <a:endParaRPr lang="en-US" sz="1700" dirty="0"/>
          </a:p>
        </p:txBody>
      </p:sp>
      <p:sp>
        <p:nvSpPr>
          <p:cNvPr id="43" name="Text 35"/>
          <p:cNvSpPr/>
          <p:nvPr/>
        </p:nvSpPr>
        <p:spPr>
          <a:xfrm>
            <a:off x="9189720" y="5148072"/>
            <a:ext cx="2286000" cy="365760"/>
          </a:xfrm>
          <a:prstGeom prst="rect">
            <a:avLst/>
          </a:prstGeom>
          <a:noFill/>
          <a:ln/>
        </p:spPr>
        <p:txBody>
          <a:bodyPr wrap="square" lIns="0" tIns="0" rIns="0" bIns="0" rtlCol="0" anchor="t"/>
          <a:lstStyle/>
          <a:p>
            <a:pPr indent="0" marL="0">
              <a:buNone/>
            </a:pPr>
            <a:r>
              <a:rPr lang="en-US" sz="1200" dirty="0">
                <a:solidFill>
                  <a:srgbClr val="8A97B0"/>
                </a:solidFill>
                <a:latin typeface="Calibri" pitchFamily="34" charset="0"/>
                <a:ea typeface="Calibri" pitchFamily="34" charset="-122"/>
                <a:cs typeface="Calibri" pitchFamily="34" charset="-120"/>
              </a:rPr>
              <a:t>Tempo, open source</a:t>
            </a:r>
            <a:endParaRPr lang="en-US" sz="1200" dirty="0"/>
          </a:p>
        </p:txBody>
      </p:sp>
      <p:pic>
        <p:nvPicPr>
          <p:cNvPr id="44" name="Image 6" descr="/Users/datasense/Desktop/ai-observability/slides/assets/logo-otel-color.png">    </p:cNvPr>
          <p:cNvPicPr>
            <a:picLocks noChangeAspect="1"/>
          </p:cNvPicPr>
          <p:nvPr/>
        </p:nvPicPr>
        <p:blipFill>
          <a:blip r:embed="rId7"/>
          <a:stretch>
            <a:fillRect/>
          </a:stretch>
        </p:blipFill>
        <p:spPr>
          <a:xfrm>
            <a:off x="548640" y="5989320"/>
            <a:ext cx="365760" cy="365760"/>
          </a:xfrm>
          <a:prstGeom prst="rect">
            <a:avLst/>
          </a:prstGeom>
        </p:spPr>
      </p:pic>
      <p:sp>
        <p:nvSpPr>
          <p:cNvPr id="45" name="Text 36"/>
          <p:cNvSpPr/>
          <p:nvPr/>
        </p:nvSpPr>
        <p:spPr>
          <a:xfrm>
            <a:off x="1051560" y="5989320"/>
            <a:ext cx="5486400" cy="36576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Underneath, increasingly: OpenTelemetry</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34</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ENTERPRISE</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Datadog and Dynatrace</a:t>
            </a:r>
            <a:endParaRPr lang="en-US" sz="3200" dirty="0"/>
          </a:p>
        </p:txBody>
      </p:sp>
      <p:sp>
        <p:nvSpPr>
          <p:cNvPr id="10" name="Shape 8"/>
          <p:cNvSpPr/>
          <p:nvPr/>
        </p:nvSpPr>
        <p:spPr>
          <a:xfrm>
            <a:off x="548640" y="1691640"/>
            <a:ext cx="5394960" cy="4114800"/>
          </a:xfrm>
          <a:prstGeom prst="rect">
            <a:avLst/>
          </a:prstGeom>
          <a:solidFill>
            <a:srgbClr val="141A31"/>
          </a:solidFill>
          <a:ln w="9525">
            <a:solidFill>
              <a:srgbClr val="2A3456"/>
            </a:solidFill>
            <a:prstDash val="solid"/>
          </a:ln>
        </p:spPr>
      </p:sp>
      <p:sp>
        <p:nvSpPr>
          <p:cNvPr id="11" name="Shape 9"/>
          <p:cNvSpPr/>
          <p:nvPr/>
        </p:nvSpPr>
        <p:spPr>
          <a:xfrm>
            <a:off x="868680" y="1965960"/>
            <a:ext cx="685800" cy="685800"/>
          </a:xfrm>
          <a:prstGeom prst="roundRect">
            <a:avLst>
              <a:gd name="adj" fmla="val 16000"/>
            </a:avLst>
          </a:prstGeom>
          <a:solidFill>
            <a:srgbClr val="FFFFFF"/>
          </a:solidFill>
          <a:ln w="12700">
            <a:solidFill>
              <a:srgbClr val="FFFFFF"/>
            </a:solidFill>
            <a:prstDash val="solid"/>
          </a:ln>
        </p:spPr>
      </p:sp>
      <p:pic>
        <p:nvPicPr>
          <p:cNvPr id="12" name="Image 0" descr="/Users/datasense/Desktop/ai-observability/slides/assets/logo-datadog-color.png">    </p:cNvPr>
          <p:cNvPicPr>
            <a:picLocks noChangeAspect="1"/>
          </p:cNvPicPr>
          <p:nvPr/>
        </p:nvPicPr>
        <p:blipFill>
          <a:blip r:embed="rId1"/>
          <a:srcRect l="0" r="0" t="0" b="0"/>
          <a:stretch/>
        </p:blipFill>
        <p:spPr>
          <a:xfrm>
            <a:off x="960120" y="2057400"/>
            <a:ext cx="502920" cy="502920"/>
          </a:xfrm>
          <a:prstGeom prst="rect">
            <a:avLst/>
          </a:prstGeom>
        </p:spPr>
      </p:pic>
      <p:sp>
        <p:nvSpPr>
          <p:cNvPr id="13" name="Text 10"/>
          <p:cNvSpPr/>
          <p:nvPr/>
        </p:nvSpPr>
        <p:spPr>
          <a:xfrm>
            <a:off x="1737360" y="1965960"/>
            <a:ext cx="4023360" cy="685800"/>
          </a:xfrm>
          <a:prstGeom prst="rect">
            <a:avLst/>
          </a:prstGeom>
          <a:noFill/>
          <a:ln/>
        </p:spPr>
        <p:txBody>
          <a:bodyPr wrap="square" lIns="0" tIns="0" rIns="0" bIns="0" rtlCol="0" anchor="ctr"/>
          <a:lstStyle/>
          <a:p>
            <a:pPr indent="0" marL="0">
              <a:buNone/>
            </a:pPr>
            <a:r>
              <a:rPr lang="en-US" sz="2000" b="1" dirty="0">
                <a:solidFill>
                  <a:srgbClr val="F8FAFC"/>
                </a:solidFill>
                <a:latin typeface="Calibri" pitchFamily="34" charset="0"/>
                <a:ea typeface="Calibri" pitchFamily="34" charset="-122"/>
                <a:cs typeface="Calibri" pitchFamily="34" charset="-120"/>
              </a:rPr>
              <a:t>Datadog LLM Observability</a:t>
            </a:r>
            <a:endParaRPr lang="en-US" sz="2000" dirty="0"/>
          </a:p>
        </p:txBody>
      </p:sp>
      <p:sp>
        <p:nvSpPr>
          <p:cNvPr id="14" name="Text 11"/>
          <p:cNvSpPr/>
          <p:nvPr/>
        </p:nvSpPr>
        <p:spPr>
          <a:xfrm>
            <a:off x="868680" y="2834640"/>
            <a:ext cx="4754880" cy="173736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Span kinds: llm, workflow, agent, tool, task, embedding, retrieval</a:t>
            </a:r>
            <a:endParaRPr lang="en-US" sz="1400" dirty="0"/>
          </a:p>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Cost and latency dashboards, evaluations</a:t>
            </a:r>
            <a:endParaRPr lang="en-US" sz="1400" dirty="0"/>
          </a:p>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PII and prompt-injection scanning</a:t>
            </a:r>
            <a:endParaRPr lang="en-US" sz="1400" dirty="0"/>
          </a:p>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Native OTel GenAI ingest, v1.37+</a:t>
            </a:r>
            <a:endParaRPr lang="en-US" sz="1400" dirty="0"/>
          </a:p>
        </p:txBody>
      </p:sp>
      <p:sp>
        <p:nvSpPr>
          <p:cNvPr id="15" name="Shape 12"/>
          <p:cNvSpPr/>
          <p:nvPr/>
        </p:nvSpPr>
        <p:spPr>
          <a:xfrm>
            <a:off x="868680" y="4709160"/>
            <a:ext cx="4754880" cy="868680"/>
          </a:xfrm>
          <a:prstGeom prst="rect">
            <a:avLst/>
          </a:prstGeom>
          <a:solidFill>
            <a:srgbClr val="0F1428"/>
          </a:solidFill>
          <a:ln w="9525">
            <a:solidFill>
              <a:srgbClr val="2A3456"/>
            </a:solidFill>
            <a:prstDash val="solid"/>
          </a:ln>
        </p:spPr>
      </p:sp>
      <p:sp>
        <p:nvSpPr>
          <p:cNvPr id="16" name="Text 13"/>
          <p:cNvSpPr/>
          <p:nvPr/>
        </p:nvSpPr>
        <p:spPr>
          <a:xfrm>
            <a:off x="1097280" y="4892040"/>
            <a:ext cx="4297680" cy="502920"/>
          </a:xfrm>
          <a:prstGeom prst="rect">
            <a:avLst/>
          </a:prstGeom>
          <a:noFill/>
          <a:ln/>
        </p:spPr>
        <p:txBody>
          <a:bodyPr wrap="square" lIns="0" tIns="0" rIns="0" bIns="0" rtlCol="0" anchor="t"/>
          <a:lstStyle/>
          <a:p>
            <a:pPr indent="0" marL="0">
              <a:spcAft>
                <a:spcPts val="200"/>
              </a:spcAft>
              <a:buNone/>
            </a:pPr>
            <a:r>
              <a:rPr lang="en-US" sz="1200" dirty="0">
                <a:solidFill>
                  <a:srgbClr val="22D3EE"/>
                </a:solidFill>
                <a:latin typeface="Consolas" pitchFamily="34" charset="0"/>
                <a:ea typeface="Consolas" pitchFamily="34" charset="-122"/>
                <a:cs typeface="Consolas" pitchFamily="34" charset="-120"/>
              </a:rPr>
              <a:t>DD_LLMOBS_ENABLED</a:t>
            </a:r>
            <a:pPr indent="0" marL="0">
              <a:spcAft>
                <a:spcPts val="200"/>
              </a:spcAft>
              <a:buNone/>
            </a:pPr>
            <a:r>
              <a:rPr lang="en-US" sz="1200" dirty="0">
                <a:solidFill>
                  <a:srgbClr val="CBD5E1"/>
                </a:solidFill>
                <a:latin typeface="Consolas" pitchFamily="34" charset="0"/>
                <a:ea typeface="Consolas" pitchFamily="34" charset="-122"/>
                <a:cs typeface="Consolas" pitchFamily="34" charset="-120"/>
              </a:rPr>
              <a:t>=1 </a:t>
            </a:r>
            <a:pPr indent="0" marL="0">
              <a:spcAft>
                <a:spcPts val="200"/>
              </a:spcAft>
              <a:buNone/>
            </a:pPr>
            <a:r>
              <a:rPr lang="en-US" sz="1200" dirty="0">
                <a:solidFill>
                  <a:srgbClr val="F5B53F"/>
                </a:solidFill>
                <a:latin typeface="Consolas" pitchFamily="34" charset="0"/>
                <a:ea typeface="Consolas" pitchFamily="34" charset="-122"/>
                <a:cs typeface="Consolas" pitchFamily="34" charset="-120"/>
              </a:rPr>
              <a:t>ddtrace-run</a:t>
            </a:r>
            <a:pPr indent="0" marL="0">
              <a:spcAft>
                <a:spcPts val="200"/>
              </a:spcAft>
              <a:buNone/>
            </a:pPr>
            <a:r>
              <a:rPr lang="en-US" sz="1200" dirty="0">
                <a:solidFill>
                  <a:srgbClr val="CBD5E1"/>
                </a:solidFill>
                <a:latin typeface="Consolas" pitchFamily="34" charset="0"/>
                <a:ea typeface="Consolas" pitchFamily="34" charset="-122"/>
                <a:cs typeface="Consolas" pitchFamily="34" charset="-120"/>
              </a:rPr>
              <a:t> python app.py</a:t>
            </a:r>
            <a:endParaRPr lang="en-US" sz="1200" dirty="0"/>
          </a:p>
        </p:txBody>
      </p:sp>
      <p:sp>
        <p:nvSpPr>
          <p:cNvPr id="17" name="Shape 14"/>
          <p:cNvSpPr/>
          <p:nvPr/>
        </p:nvSpPr>
        <p:spPr>
          <a:xfrm>
            <a:off x="6172200" y="1691640"/>
            <a:ext cx="5394960" cy="4114800"/>
          </a:xfrm>
          <a:prstGeom prst="rect">
            <a:avLst/>
          </a:prstGeom>
          <a:solidFill>
            <a:srgbClr val="141A31"/>
          </a:solidFill>
          <a:ln w="9525">
            <a:solidFill>
              <a:srgbClr val="2A3456"/>
            </a:solidFill>
            <a:prstDash val="solid"/>
          </a:ln>
        </p:spPr>
      </p:sp>
      <p:sp>
        <p:nvSpPr>
          <p:cNvPr id="18" name="Shape 15"/>
          <p:cNvSpPr/>
          <p:nvPr/>
        </p:nvSpPr>
        <p:spPr>
          <a:xfrm>
            <a:off x="6492240" y="1965960"/>
            <a:ext cx="685800" cy="685800"/>
          </a:xfrm>
          <a:prstGeom prst="roundRect">
            <a:avLst>
              <a:gd name="adj" fmla="val 16000"/>
            </a:avLst>
          </a:prstGeom>
          <a:solidFill>
            <a:srgbClr val="FFFFFF"/>
          </a:solidFill>
          <a:ln w="12700">
            <a:solidFill>
              <a:srgbClr val="FFFFFF"/>
            </a:solidFill>
            <a:prstDash val="solid"/>
          </a:ln>
        </p:spPr>
      </p:sp>
      <p:pic>
        <p:nvPicPr>
          <p:cNvPr id="19" name="Image 1" descr="/Users/datasense/Desktop/ai-observability/slides/assets/logo-dynatrace-color.png">    </p:cNvPr>
          <p:cNvPicPr>
            <a:picLocks noChangeAspect="1"/>
          </p:cNvPicPr>
          <p:nvPr/>
        </p:nvPicPr>
        <p:blipFill>
          <a:blip r:embed="rId2"/>
          <a:srcRect l="0" r="0" t="0" b="0"/>
          <a:stretch/>
        </p:blipFill>
        <p:spPr>
          <a:xfrm>
            <a:off x="6583680" y="2057400"/>
            <a:ext cx="502920" cy="502920"/>
          </a:xfrm>
          <a:prstGeom prst="rect">
            <a:avLst/>
          </a:prstGeom>
        </p:spPr>
      </p:pic>
      <p:sp>
        <p:nvSpPr>
          <p:cNvPr id="20" name="Text 16"/>
          <p:cNvSpPr/>
          <p:nvPr/>
        </p:nvSpPr>
        <p:spPr>
          <a:xfrm>
            <a:off x="7360920" y="1965960"/>
            <a:ext cx="4023360" cy="685800"/>
          </a:xfrm>
          <a:prstGeom prst="rect">
            <a:avLst/>
          </a:prstGeom>
          <a:noFill/>
          <a:ln/>
        </p:spPr>
        <p:txBody>
          <a:bodyPr wrap="square" lIns="0" tIns="0" rIns="0" bIns="0" rtlCol="0" anchor="ctr"/>
          <a:lstStyle/>
          <a:p>
            <a:pPr indent="0" marL="0">
              <a:buNone/>
            </a:pPr>
            <a:r>
              <a:rPr lang="en-US" sz="2000" b="1" dirty="0">
                <a:solidFill>
                  <a:srgbClr val="F8FAFC"/>
                </a:solidFill>
                <a:latin typeface="Calibri" pitchFamily="34" charset="0"/>
                <a:ea typeface="Calibri" pitchFamily="34" charset="-122"/>
                <a:cs typeface="Calibri" pitchFamily="34" charset="-120"/>
              </a:rPr>
              <a:t>Dynatrace</a:t>
            </a:r>
            <a:endParaRPr lang="en-US" sz="2000" dirty="0"/>
          </a:p>
        </p:txBody>
      </p:sp>
      <p:sp>
        <p:nvSpPr>
          <p:cNvPr id="21" name="Text 17"/>
          <p:cNvSpPr/>
          <p:nvPr/>
        </p:nvSpPr>
        <p:spPr>
          <a:xfrm>
            <a:off x="6492240" y="2834640"/>
            <a:ext cx="4754880" cy="173736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AI observability on top of full-stack APM</a:t>
            </a:r>
            <a:endParaRPr lang="en-US" sz="1400" dirty="0"/>
          </a:p>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Ingests OTLP and OpenLLMetry traces</a:t>
            </a:r>
            <a:endParaRPr lang="en-US" sz="1400" dirty="0"/>
          </a:p>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Links LLM spans to services, infra and business metrics</a:t>
            </a:r>
            <a:endParaRPr lang="en-US" sz="1400" dirty="0"/>
          </a:p>
          <a:p>
            <a:pPr marL="203200" indent="-203200">
              <a:spcAft>
                <a:spcPts val="600"/>
              </a:spcAft>
              <a:buSzPct val="100000"/>
              <a:buChar char="•"/>
            </a:pPr>
            <a:r>
              <a:rPr lang="en-US" sz="1400" dirty="0">
                <a:solidFill>
                  <a:srgbClr val="CBD5E1"/>
                </a:solidFill>
                <a:latin typeface="Calibri" pitchFamily="34" charset="0"/>
                <a:ea typeface="Calibri" pitchFamily="34" charset="-122"/>
                <a:cs typeface="Calibri" pitchFamily="34" charset="-120"/>
              </a:rPr>
              <a:t>Davis AI for root cause analysis</a:t>
            </a:r>
            <a:endParaRPr lang="en-US" sz="1400" dirty="0"/>
          </a:p>
        </p:txBody>
      </p:sp>
      <p:sp>
        <p:nvSpPr>
          <p:cNvPr id="22" name="Shape 18"/>
          <p:cNvSpPr/>
          <p:nvPr/>
        </p:nvSpPr>
        <p:spPr>
          <a:xfrm>
            <a:off x="6492240" y="4709160"/>
            <a:ext cx="4754880" cy="868680"/>
          </a:xfrm>
          <a:prstGeom prst="rect">
            <a:avLst/>
          </a:prstGeom>
          <a:solidFill>
            <a:srgbClr val="0F1428"/>
          </a:solidFill>
          <a:ln w="9525">
            <a:solidFill>
              <a:srgbClr val="2A3456"/>
            </a:solidFill>
            <a:prstDash val="solid"/>
          </a:ln>
        </p:spPr>
      </p:sp>
      <p:sp>
        <p:nvSpPr>
          <p:cNvPr id="23" name="Text 19"/>
          <p:cNvSpPr/>
          <p:nvPr/>
        </p:nvSpPr>
        <p:spPr>
          <a:xfrm>
            <a:off x="6720840" y="4892040"/>
            <a:ext cx="4297680" cy="502920"/>
          </a:xfrm>
          <a:prstGeom prst="rect">
            <a:avLst/>
          </a:prstGeom>
          <a:noFill/>
          <a:ln/>
        </p:spPr>
        <p:txBody>
          <a:bodyPr wrap="square" lIns="0" tIns="0" rIns="0" bIns="0" rtlCol="0" anchor="t"/>
          <a:lstStyle/>
          <a:p>
            <a:pPr indent="0" marL="0">
              <a:spcAft>
                <a:spcPts val="200"/>
              </a:spcAft>
              <a:buNone/>
            </a:pPr>
            <a:r>
              <a:rPr lang="en-US" sz="1200" dirty="0">
                <a:solidFill>
                  <a:srgbClr val="22D3EE"/>
                </a:solidFill>
                <a:latin typeface="Consolas" pitchFamily="34" charset="0"/>
                <a:ea typeface="Consolas" pitchFamily="34" charset="-122"/>
                <a:cs typeface="Consolas" pitchFamily="34" charset="-120"/>
              </a:rPr>
              <a:t>endpoint: </a:t>
            </a:r>
            <a:pPr indent="0" marL="0">
              <a:spcAft>
                <a:spcPts val="200"/>
              </a:spcAft>
              <a:buNone/>
            </a:pPr>
            <a:r>
              <a:rPr lang="en-US" sz="1200" dirty="0">
                <a:solidFill>
                  <a:srgbClr val="CBD5E1"/>
                </a:solidFill>
                <a:latin typeface="Consolas" pitchFamily="34" charset="0"/>
                <a:ea typeface="Consolas" pitchFamily="34" charset="-122"/>
                <a:cs typeface="Consolas" pitchFamily="34" charset="-120"/>
              </a:rPr>
              <a:t>.../api/v2/otlp</a:t>
            </a:r>
            <a:endParaRPr lang="en-US" sz="1200" dirty="0"/>
          </a:p>
          <a:p>
            <a:pPr indent="0" marL="0">
              <a:spcAft>
                <a:spcPts val="200"/>
              </a:spcAft>
              <a:buNone/>
            </a:pPr>
            <a:r>
              <a:rPr lang="en-US" sz="1200" dirty="0">
                <a:solidFill>
                  <a:srgbClr val="22D3EE"/>
                </a:solidFill>
                <a:latin typeface="Consolas" pitchFamily="34" charset="0"/>
                <a:ea typeface="Consolas" pitchFamily="34" charset="-122"/>
                <a:cs typeface="Consolas" pitchFamily="34" charset="-120"/>
              </a:rPr>
              <a:t>Authorization: </a:t>
            </a:r>
            <a:pPr indent="0" marL="0">
              <a:spcAft>
                <a:spcPts val="200"/>
              </a:spcAft>
              <a:buNone/>
            </a:pPr>
            <a:r>
              <a:rPr lang="en-US" sz="1200" dirty="0">
                <a:solidFill>
                  <a:srgbClr val="CBD5E1"/>
                </a:solidFill>
                <a:latin typeface="Consolas" pitchFamily="34" charset="0"/>
                <a:ea typeface="Consolas" pitchFamily="34" charset="-122"/>
                <a:cs typeface="Consolas" pitchFamily="34" charset="-120"/>
              </a:rPr>
              <a:t>Bearer &lt;token&gt;</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35</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DECISION GUIDE</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How to choose</a:t>
            </a:r>
            <a:endParaRPr lang="en-US" sz="3200" dirty="0"/>
          </a:p>
        </p:txBody>
      </p:sp>
      <p:sp>
        <p:nvSpPr>
          <p:cNvPr id="10" name="Shape 8"/>
          <p:cNvSpPr/>
          <p:nvPr/>
        </p:nvSpPr>
        <p:spPr>
          <a:xfrm>
            <a:off x="548640" y="1737360"/>
            <a:ext cx="11094415" cy="841248"/>
          </a:xfrm>
          <a:prstGeom prst="rect">
            <a:avLst/>
          </a:prstGeom>
          <a:solidFill>
            <a:srgbClr val="141A31"/>
          </a:solidFill>
          <a:ln w="9525">
            <a:solidFill>
              <a:srgbClr val="2A3456"/>
            </a:solidFill>
            <a:prstDash val="solid"/>
          </a:ln>
        </p:spPr>
      </p:sp>
      <p:sp>
        <p:nvSpPr>
          <p:cNvPr id="11" name="Shape 9"/>
          <p:cNvSpPr/>
          <p:nvPr/>
        </p:nvSpPr>
        <p:spPr>
          <a:xfrm>
            <a:off x="548640" y="1737360"/>
            <a:ext cx="54864" cy="841248"/>
          </a:xfrm>
          <a:prstGeom prst="rect">
            <a:avLst/>
          </a:prstGeom>
          <a:solidFill>
            <a:srgbClr val="2DD4BF"/>
          </a:solidFill>
          <a:ln w="12700">
            <a:solidFill>
              <a:srgbClr val="2DD4BF"/>
            </a:solidFill>
            <a:prstDash val="solid"/>
          </a:ln>
        </p:spPr>
      </p:sp>
      <p:sp>
        <p:nvSpPr>
          <p:cNvPr id="12" name="Text 10"/>
          <p:cNvSpPr/>
          <p:nvPr/>
        </p:nvSpPr>
        <p:spPr>
          <a:xfrm>
            <a:off x="914400" y="1737360"/>
            <a:ext cx="4937760" cy="841248"/>
          </a:xfrm>
          <a:prstGeom prst="rect">
            <a:avLst/>
          </a:prstGeom>
          <a:noFill/>
          <a:ln/>
        </p:spPr>
        <p:txBody>
          <a:bodyPr wrap="square" lIns="0" tIns="0" rIns="0" bIns="0" rtlCol="0" anchor="ctr"/>
          <a:lstStyle/>
          <a:p>
            <a:pPr indent="0" marL="0">
              <a:buNone/>
            </a:pPr>
            <a:r>
              <a:rPr lang="en-US" sz="1800" b="1" dirty="0">
                <a:solidFill>
                  <a:srgbClr val="F8FAFC"/>
                </a:solidFill>
                <a:latin typeface="Calibri" pitchFamily="34" charset="0"/>
                <a:ea typeface="Calibri" pitchFamily="34" charset="-122"/>
                <a:cs typeface="Calibri" pitchFamily="34" charset="-120"/>
              </a:rPr>
              <a:t>Data must stay in-house?</a:t>
            </a:r>
            <a:endParaRPr lang="en-US" sz="1800" dirty="0"/>
          </a:p>
        </p:txBody>
      </p:sp>
      <p:sp>
        <p:nvSpPr>
          <p:cNvPr id="13" name="Shape 11"/>
          <p:cNvSpPr/>
          <p:nvPr/>
        </p:nvSpPr>
        <p:spPr>
          <a:xfrm>
            <a:off x="5806440" y="2157984"/>
            <a:ext cx="502920" cy="0"/>
          </a:xfrm>
          <a:prstGeom prst="line">
            <a:avLst/>
          </a:prstGeom>
          <a:noFill/>
          <a:ln w="19050">
            <a:solidFill>
              <a:srgbClr val="2DD4BF"/>
            </a:solidFill>
            <a:prstDash val="solid"/>
            <a:tailEnd type="triangle"/>
          </a:ln>
        </p:spPr>
      </p:sp>
      <p:sp>
        <p:nvSpPr>
          <p:cNvPr id="14" name="Text 12"/>
          <p:cNvSpPr/>
          <p:nvPr/>
        </p:nvSpPr>
        <p:spPr>
          <a:xfrm>
            <a:off x="6537960" y="1737360"/>
            <a:ext cx="4937760" cy="841248"/>
          </a:xfrm>
          <a:prstGeom prst="rect">
            <a:avLst/>
          </a:prstGeom>
          <a:noFill/>
          <a:ln/>
        </p:spPr>
        <p:txBody>
          <a:bodyPr wrap="square" lIns="0" tIns="0" rIns="0" bIns="0" rtlCol="0" anchor="ctr"/>
          <a:lstStyle/>
          <a:p>
            <a:pPr indent="0" marL="0">
              <a:buNone/>
            </a:pPr>
            <a:r>
              <a:rPr lang="en-US" sz="1700" dirty="0">
                <a:solidFill>
                  <a:srgbClr val="CBD5E1"/>
                </a:solidFill>
                <a:latin typeface="Calibri" pitchFamily="34" charset="0"/>
                <a:ea typeface="Calibri" pitchFamily="34" charset="-122"/>
                <a:cs typeface="Calibri" pitchFamily="34" charset="-120"/>
              </a:rPr>
              <a:t>Self-host Langfuse or Phoenix</a:t>
            </a:r>
            <a:endParaRPr lang="en-US" sz="1700" dirty="0"/>
          </a:p>
        </p:txBody>
      </p:sp>
      <p:sp>
        <p:nvSpPr>
          <p:cNvPr id="15" name="Shape 13"/>
          <p:cNvSpPr/>
          <p:nvPr/>
        </p:nvSpPr>
        <p:spPr>
          <a:xfrm>
            <a:off x="548640" y="2743200"/>
            <a:ext cx="11094415" cy="841248"/>
          </a:xfrm>
          <a:prstGeom prst="rect">
            <a:avLst/>
          </a:prstGeom>
          <a:solidFill>
            <a:srgbClr val="141A31"/>
          </a:solidFill>
          <a:ln w="9525">
            <a:solidFill>
              <a:srgbClr val="2A3456"/>
            </a:solidFill>
            <a:prstDash val="solid"/>
          </a:ln>
        </p:spPr>
      </p:sp>
      <p:sp>
        <p:nvSpPr>
          <p:cNvPr id="16" name="Shape 14"/>
          <p:cNvSpPr/>
          <p:nvPr/>
        </p:nvSpPr>
        <p:spPr>
          <a:xfrm>
            <a:off x="548640" y="2743200"/>
            <a:ext cx="54864" cy="841248"/>
          </a:xfrm>
          <a:prstGeom prst="rect">
            <a:avLst/>
          </a:prstGeom>
          <a:solidFill>
            <a:srgbClr val="8B5CF6"/>
          </a:solidFill>
          <a:ln w="12700">
            <a:solidFill>
              <a:srgbClr val="8B5CF6"/>
            </a:solidFill>
            <a:prstDash val="solid"/>
          </a:ln>
        </p:spPr>
      </p:sp>
      <p:sp>
        <p:nvSpPr>
          <p:cNvPr id="17" name="Text 15"/>
          <p:cNvSpPr/>
          <p:nvPr/>
        </p:nvSpPr>
        <p:spPr>
          <a:xfrm>
            <a:off x="914400" y="2743200"/>
            <a:ext cx="4937760" cy="841248"/>
          </a:xfrm>
          <a:prstGeom prst="rect">
            <a:avLst/>
          </a:prstGeom>
          <a:noFill/>
          <a:ln/>
        </p:spPr>
        <p:txBody>
          <a:bodyPr wrap="square" lIns="0" tIns="0" rIns="0" bIns="0" rtlCol="0" anchor="ctr"/>
          <a:lstStyle/>
          <a:p>
            <a:pPr indent="0" marL="0">
              <a:buNone/>
            </a:pPr>
            <a:r>
              <a:rPr lang="en-US" sz="1800" b="1" dirty="0">
                <a:solidFill>
                  <a:srgbClr val="F8FAFC"/>
                </a:solidFill>
                <a:latin typeface="Calibri" pitchFamily="34" charset="0"/>
                <a:ea typeface="Calibri" pitchFamily="34" charset="-122"/>
                <a:cs typeface="Calibri" pitchFamily="34" charset="-120"/>
              </a:rPr>
              <a:t>LangChain or LangGraph everywhere?</a:t>
            </a:r>
            <a:endParaRPr lang="en-US" sz="1800" dirty="0"/>
          </a:p>
        </p:txBody>
      </p:sp>
      <p:sp>
        <p:nvSpPr>
          <p:cNvPr id="18" name="Shape 16"/>
          <p:cNvSpPr/>
          <p:nvPr/>
        </p:nvSpPr>
        <p:spPr>
          <a:xfrm>
            <a:off x="5806440" y="3163824"/>
            <a:ext cx="502920" cy="0"/>
          </a:xfrm>
          <a:prstGeom prst="line">
            <a:avLst/>
          </a:prstGeom>
          <a:noFill/>
          <a:ln w="19050">
            <a:solidFill>
              <a:srgbClr val="8B5CF6"/>
            </a:solidFill>
            <a:prstDash val="solid"/>
            <a:tailEnd type="triangle"/>
          </a:ln>
        </p:spPr>
      </p:sp>
      <p:sp>
        <p:nvSpPr>
          <p:cNvPr id="19" name="Text 17"/>
          <p:cNvSpPr/>
          <p:nvPr/>
        </p:nvSpPr>
        <p:spPr>
          <a:xfrm>
            <a:off x="6537960" y="2743200"/>
            <a:ext cx="4937760" cy="841248"/>
          </a:xfrm>
          <a:prstGeom prst="rect">
            <a:avLst/>
          </a:prstGeom>
          <a:noFill/>
          <a:ln/>
        </p:spPr>
        <p:txBody>
          <a:bodyPr wrap="square" lIns="0" tIns="0" rIns="0" bIns="0" rtlCol="0" anchor="ctr"/>
          <a:lstStyle/>
          <a:p>
            <a:pPr indent="0" marL="0">
              <a:buNone/>
            </a:pPr>
            <a:r>
              <a:rPr lang="en-US" sz="1700" dirty="0">
                <a:solidFill>
                  <a:srgbClr val="CBD5E1"/>
                </a:solidFill>
                <a:latin typeface="Calibri" pitchFamily="34" charset="0"/>
                <a:ea typeface="Calibri" pitchFamily="34" charset="-122"/>
                <a:cs typeface="Calibri" pitchFamily="34" charset="-120"/>
              </a:rPr>
              <a:t>LangSmith</a:t>
            </a:r>
            <a:endParaRPr lang="en-US" sz="1700" dirty="0"/>
          </a:p>
        </p:txBody>
      </p:sp>
      <p:sp>
        <p:nvSpPr>
          <p:cNvPr id="20" name="Shape 18"/>
          <p:cNvSpPr/>
          <p:nvPr/>
        </p:nvSpPr>
        <p:spPr>
          <a:xfrm>
            <a:off x="548640" y="3749040"/>
            <a:ext cx="11094415" cy="841248"/>
          </a:xfrm>
          <a:prstGeom prst="rect">
            <a:avLst/>
          </a:prstGeom>
          <a:solidFill>
            <a:srgbClr val="141A31"/>
          </a:solidFill>
          <a:ln w="9525">
            <a:solidFill>
              <a:srgbClr val="2A3456"/>
            </a:solidFill>
            <a:prstDash val="solid"/>
          </a:ln>
        </p:spPr>
      </p:sp>
      <p:sp>
        <p:nvSpPr>
          <p:cNvPr id="21" name="Shape 19"/>
          <p:cNvSpPr/>
          <p:nvPr/>
        </p:nvSpPr>
        <p:spPr>
          <a:xfrm>
            <a:off x="548640" y="3749040"/>
            <a:ext cx="54864" cy="841248"/>
          </a:xfrm>
          <a:prstGeom prst="rect">
            <a:avLst/>
          </a:prstGeom>
          <a:solidFill>
            <a:srgbClr val="F5B53F"/>
          </a:solidFill>
          <a:ln w="12700">
            <a:solidFill>
              <a:srgbClr val="F5B53F"/>
            </a:solidFill>
            <a:prstDash val="solid"/>
          </a:ln>
        </p:spPr>
      </p:sp>
      <p:sp>
        <p:nvSpPr>
          <p:cNvPr id="22" name="Text 20"/>
          <p:cNvSpPr/>
          <p:nvPr/>
        </p:nvSpPr>
        <p:spPr>
          <a:xfrm>
            <a:off x="914400" y="3749040"/>
            <a:ext cx="4937760" cy="841248"/>
          </a:xfrm>
          <a:prstGeom prst="rect">
            <a:avLst/>
          </a:prstGeom>
          <a:noFill/>
          <a:ln/>
        </p:spPr>
        <p:txBody>
          <a:bodyPr wrap="square" lIns="0" tIns="0" rIns="0" bIns="0" rtlCol="0" anchor="ctr"/>
          <a:lstStyle/>
          <a:p>
            <a:pPr indent="0" marL="0">
              <a:buNone/>
            </a:pPr>
            <a:r>
              <a:rPr lang="en-US" sz="1800" b="1" dirty="0">
                <a:solidFill>
                  <a:srgbClr val="F8FAFC"/>
                </a:solidFill>
                <a:latin typeface="Calibri" pitchFamily="34" charset="0"/>
                <a:ea typeface="Calibri" pitchFamily="34" charset="-122"/>
                <a:cs typeface="Calibri" pitchFamily="34" charset="-120"/>
              </a:rPr>
              <a:t>Company already on Datadog or Dynatrace?</a:t>
            </a:r>
            <a:endParaRPr lang="en-US" sz="1800" dirty="0"/>
          </a:p>
        </p:txBody>
      </p:sp>
      <p:sp>
        <p:nvSpPr>
          <p:cNvPr id="23" name="Shape 21"/>
          <p:cNvSpPr/>
          <p:nvPr/>
        </p:nvSpPr>
        <p:spPr>
          <a:xfrm>
            <a:off x="5806440" y="4169664"/>
            <a:ext cx="502920" cy="0"/>
          </a:xfrm>
          <a:prstGeom prst="line">
            <a:avLst/>
          </a:prstGeom>
          <a:noFill/>
          <a:ln w="19050">
            <a:solidFill>
              <a:srgbClr val="F5B53F"/>
            </a:solidFill>
            <a:prstDash val="solid"/>
            <a:tailEnd type="triangle"/>
          </a:ln>
        </p:spPr>
      </p:sp>
      <p:sp>
        <p:nvSpPr>
          <p:cNvPr id="24" name="Text 22"/>
          <p:cNvSpPr/>
          <p:nvPr/>
        </p:nvSpPr>
        <p:spPr>
          <a:xfrm>
            <a:off x="6537960" y="3749040"/>
            <a:ext cx="4937760" cy="841248"/>
          </a:xfrm>
          <a:prstGeom prst="rect">
            <a:avLst/>
          </a:prstGeom>
          <a:noFill/>
          <a:ln/>
        </p:spPr>
        <p:txBody>
          <a:bodyPr wrap="square" lIns="0" tIns="0" rIns="0" bIns="0" rtlCol="0" anchor="ctr"/>
          <a:lstStyle/>
          <a:p>
            <a:pPr indent="0" marL="0">
              <a:buNone/>
            </a:pPr>
            <a:r>
              <a:rPr lang="en-US" sz="1700" dirty="0">
                <a:solidFill>
                  <a:srgbClr val="CBD5E1"/>
                </a:solidFill>
                <a:latin typeface="Calibri" pitchFamily="34" charset="0"/>
                <a:ea typeface="Calibri" pitchFamily="34" charset="-122"/>
                <a:cs typeface="Calibri" pitchFamily="34" charset="-120"/>
              </a:rPr>
              <a:t>Their LLM module, fed by OpenTelemetry</a:t>
            </a:r>
            <a:endParaRPr lang="en-US" sz="1700" dirty="0"/>
          </a:p>
        </p:txBody>
      </p:sp>
      <p:sp>
        <p:nvSpPr>
          <p:cNvPr id="25" name="Shape 23"/>
          <p:cNvSpPr/>
          <p:nvPr/>
        </p:nvSpPr>
        <p:spPr>
          <a:xfrm>
            <a:off x="548640" y="4754880"/>
            <a:ext cx="11094415" cy="841248"/>
          </a:xfrm>
          <a:prstGeom prst="rect">
            <a:avLst/>
          </a:prstGeom>
          <a:solidFill>
            <a:srgbClr val="141A31"/>
          </a:solidFill>
          <a:ln w="9525">
            <a:solidFill>
              <a:srgbClr val="2A3456"/>
            </a:solidFill>
            <a:prstDash val="solid"/>
          </a:ln>
        </p:spPr>
      </p:sp>
      <p:sp>
        <p:nvSpPr>
          <p:cNvPr id="26" name="Shape 24"/>
          <p:cNvSpPr/>
          <p:nvPr/>
        </p:nvSpPr>
        <p:spPr>
          <a:xfrm>
            <a:off x="548640" y="4754880"/>
            <a:ext cx="54864" cy="841248"/>
          </a:xfrm>
          <a:prstGeom prst="rect">
            <a:avLst/>
          </a:prstGeom>
          <a:solidFill>
            <a:srgbClr val="22D3EE"/>
          </a:solidFill>
          <a:ln w="12700">
            <a:solidFill>
              <a:srgbClr val="22D3EE"/>
            </a:solidFill>
            <a:prstDash val="solid"/>
          </a:ln>
        </p:spPr>
      </p:sp>
      <p:sp>
        <p:nvSpPr>
          <p:cNvPr id="27" name="Text 25"/>
          <p:cNvSpPr/>
          <p:nvPr/>
        </p:nvSpPr>
        <p:spPr>
          <a:xfrm>
            <a:off x="914400" y="4754880"/>
            <a:ext cx="4937760" cy="841248"/>
          </a:xfrm>
          <a:prstGeom prst="rect">
            <a:avLst/>
          </a:prstGeom>
          <a:noFill/>
          <a:ln/>
        </p:spPr>
        <p:txBody>
          <a:bodyPr wrap="square" lIns="0" tIns="0" rIns="0" bIns="0" rtlCol="0" anchor="ctr"/>
          <a:lstStyle/>
          <a:p>
            <a:pPr indent="0" marL="0">
              <a:buNone/>
            </a:pPr>
            <a:r>
              <a:rPr lang="en-US" sz="1800" b="1" dirty="0">
                <a:solidFill>
                  <a:srgbClr val="F8FAFC"/>
                </a:solidFill>
                <a:latin typeface="Calibri" pitchFamily="34" charset="0"/>
                <a:ea typeface="Calibri" pitchFamily="34" charset="-122"/>
                <a:cs typeface="Calibri" pitchFamily="34" charset="-120"/>
              </a:rPr>
              <a:t>Not sure yet?</a:t>
            </a:r>
            <a:endParaRPr lang="en-US" sz="1800" dirty="0"/>
          </a:p>
        </p:txBody>
      </p:sp>
      <p:sp>
        <p:nvSpPr>
          <p:cNvPr id="28" name="Shape 26"/>
          <p:cNvSpPr/>
          <p:nvPr/>
        </p:nvSpPr>
        <p:spPr>
          <a:xfrm>
            <a:off x="5806440" y="5175504"/>
            <a:ext cx="502920" cy="0"/>
          </a:xfrm>
          <a:prstGeom prst="line">
            <a:avLst/>
          </a:prstGeom>
          <a:noFill/>
          <a:ln w="19050">
            <a:solidFill>
              <a:srgbClr val="22D3EE"/>
            </a:solidFill>
            <a:prstDash val="solid"/>
            <a:tailEnd type="triangle"/>
          </a:ln>
        </p:spPr>
      </p:sp>
      <p:sp>
        <p:nvSpPr>
          <p:cNvPr id="29" name="Text 27"/>
          <p:cNvSpPr/>
          <p:nvPr/>
        </p:nvSpPr>
        <p:spPr>
          <a:xfrm>
            <a:off x="6537960" y="4754880"/>
            <a:ext cx="4937760" cy="841248"/>
          </a:xfrm>
          <a:prstGeom prst="rect">
            <a:avLst/>
          </a:prstGeom>
          <a:noFill/>
          <a:ln/>
        </p:spPr>
        <p:txBody>
          <a:bodyPr wrap="square" lIns="0" tIns="0" rIns="0" bIns="0" rtlCol="0" anchor="ctr"/>
          <a:lstStyle/>
          <a:p>
            <a:pPr indent="0" marL="0">
              <a:buNone/>
            </a:pPr>
            <a:r>
              <a:rPr lang="en-US" sz="1700" dirty="0">
                <a:solidFill>
                  <a:srgbClr val="CBD5E1"/>
                </a:solidFill>
                <a:latin typeface="Calibri" pitchFamily="34" charset="0"/>
                <a:ea typeface="Calibri" pitchFamily="34" charset="-122"/>
                <a:cs typeface="Calibri" pitchFamily="34" charset="-120"/>
              </a:rPr>
              <a:t>Instrument with OTel, try two backends, keep the one your team opens daily</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271455" y="384048"/>
            <a:ext cx="1028700" cy="48006"/>
          </a:xfrm>
          <a:prstGeom prst="roundRect">
            <a:avLst>
              <a:gd name="adj" fmla="val 57143"/>
            </a:avLst>
          </a:prstGeom>
          <a:solidFill>
            <a:srgbClr val="8B5CF6"/>
          </a:solidFill>
          <a:ln w="12700">
            <a:solidFill>
              <a:srgbClr val="8B5CF6"/>
            </a:solidFill>
            <a:prstDash val="solid"/>
          </a:ln>
        </p:spPr>
      </p:sp>
      <p:sp>
        <p:nvSpPr>
          <p:cNvPr id="3" name="Shape 1"/>
          <p:cNvSpPr/>
          <p:nvPr/>
        </p:nvSpPr>
        <p:spPr>
          <a:xfrm>
            <a:off x="10312603" y="473202"/>
            <a:ext cx="226314" cy="48006"/>
          </a:xfrm>
          <a:prstGeom prst="roundRect">
            <a:avLst>
              <a:gd name="adj" fmla="val 57143"/>
            </a:avLst>
          </a:prstGeom>
          <a:solidFill>
            <a:srgbClr val="22D3EE"/>
          </a:solidFill>
          <a:ln w="12700">
            <a:solidFill>
              <a:srgbClr val="22D3EE"/>
            </a:solidFill>
            <a:prstDash val="solid"/>
          </a:ln>
        </p:spPr>
      </p:sp>
      <p:sp>
        <p:nvSpPr>
          <p:cNvPr id="4" name="Shape 2"/>
          <p:cNvSpPr/>
          <p:nvPr/>
        </p:nvSpPr>
        <p:spPr>
          <a:xfrm>
            <a:off x="10549204" y="562356"/>
            <a:ext cx="370332" cy="48006"/>
          </a:xfrm>
          <a:prstGeom prst="roundRect">
            <a:avLst>
              <a:gd name="adj" fmla="val 57143"/>
            </a:avLst>
          </a:prstGeom>
          <a:solidFill>
            <a:srgbClr val="F5B53F"/>
          </a:solidFill>
          <a:ln w="12700">
            <a:solidFill>
              <a:srgbClr val="F5B53F"/>
            </a:solidFill>
            <a:prstDash val="solid"/>
          </a:ln>
        </p:spPr>
      </p:sp>
      <p:sp>
        <p:nvSpPr>
          <p:cNvPr id="5" name="Shape 3"/>
          <p:cNvSpPr/>
          <p:nvPr/>
        </p:nvSpPr>
        <p:spPr>
          <a:xfrm>
            <a:off x="10929823" y="651510"/>
            <a:ext cx="349758" cy="48006"/>
          </a:xfrm>
          <a:prstGeom prst="roundRect">
            <a:avLst>
              <a:gd name="adj" fmla="val 57143"/>
            </a:avLst>
          </a:prstGeom>
          <a:solidFill>
            <a:srgbClr val="2DD4BF"/>
          </a:solidFill>
          <a:ln w="12700">
            <a:solidFill>
              <a:srgbClr val="2DD4BF"/>
            </a:solidFill>
            <a:prstDash val="solid"/>
          </a:ln>
        </p:spPr>
      </p:sp>
      <p:sp>
        <p:nvSpPr>
          <p:cNvPr id="6" name="Text 4"/>
          <p:cNvSpPr/>
          <p:nvPr/>
        </p:nvSpPr>
        <p:spPr>
          <a:xfrm>
            <a:off x="548640" y="6419088"/>
            <a:ext cx="3657600" cy="274320"/>
          </a:xfrm>
          <a:prstGeom prst="rect">
            <a:avLst/>
          </a:prstGeom>
          <a:noFill/>
          <a:ln/>
        </p:spPr>
        <p:txBody>
          <a:bodyPr wrap="square" lIns="0" tIns="0" rIns="0" bIns="0" rtlCol="0" anchor="ctr"/>
          <a:lstStyle/>
          <a:p>
            <a:pPr indent="0" marL="0">
              <a:buNone/>
            </a:pPr>
            <a:r>
              <a:rPr lang="en-US" sz="900" b="1" spc="300" kern="0" dirty="0">
                <a:solidFill>
                  <a:srgbClr val="8A97B0"/>
                </a:solidFill>
                <a:latin typeface="Calibri" pitchFamily="34" charset="0"/>
                <a:ea typeface="Calibri" pitchFamily="34" charset="-122"/>
                <a:cs typeface="Calibri" pitchFamily="34" charset="-120"/>
              </a:rPr>
              <a:t>AI OBSERVABILITY</a:t>
            </a:r>
            <a:endParaRPr lang="en-US" sz="900" dirty="0"/>
          </a:p>
        </p:txBody>
      </p:sp>
      <p:sp>
        <p:nvSpPr>
          <p:cNvPr id="7" name="Text 5"/>
          <p:cNvSpPr/>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8A97B0"/>
                </a:solidFill>
                <a:latin typeface="Consolas" pitchFamily="34" charset="0"/>
                <a:ea typeface="Consolas" pitchFamily="34" charset="-122"/>
                <a:cs typeface="Consolas" pitchFamily="34" charset="-120"/>
              </a:rPr>
              <a:t>36</a:t>
            </a:r>
            <a:endParaRPr lang="en-US" sz="1000" dirty="0"/>
          </a:p>
        </p:txBody>
      </p:sp>
      <p:sp>
        <p:nvSpPr>
          <p:cNvPr id="8" name="Text 6"/>
          <p:cNvSpPr/>
          <p:nvPr/>
        </p:nvSpPr>
        <p:spPr>
          <a:xfrm>
            <a:off x="548640" y="411480"/>
            <a:ext cx="8229600" cy="274320"/>
          </a:xfrm>
          <a:prstGeom prst="rect">
            <a:avLst/>
          </a:prstGeom>
          <a:noFill/>
          <a:ln/>
        </p:spPr>
        <p:txBody>
          <a:bodyPr wrap="square" lIns="0" tIns="0" rIns="0" bIns="0" rtlCol="0" anchor="ctr"/>
          <a:lstStyle/>
          <a:p>
            <a:pPr indent="0" marL="0">
              <a:buNone/>
            </a:pPr>
            <a:r>
              <a:rPr lang="en-US" sz="1100" b="1" spc="400" kern="0" dirty="0">
                <a:solidFill>
                  <a:srgbClr val="2DD4BF"/>
                </a:solidFill>
                <a:latin typeface="Calibri" pitchFamily="34" charset="0"/>
                <a:ea typeface="Calibri" pitchFamily="34" charset="-122"/>
                <a:cs typeface="Calibri" pitchFamily="34" charset="-120"/>
              </a:rPr>
              <a:t>RECAP</a:t>
            </a:r>
            <a:endParaRPr lang="en-US" sz="1100" dirty="0"/>
          </a:p>
        </p:txBody>
      </p:sp>
      <p:sp>
        <p:nvSpPr>
          <p:cNvPr id="9" name="Text 7"/>
          <p:cNvSpPr/>
          <p:nvPr/>
        </p:nvSpPr>
        <p:spPr>
          <a:xfrm>
            <a:off x="548640" y="713232"/>
            <a:ext cx="9448495" cy="6858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Five things to remember</a:t>
            </a:r>
            <a:endParaRPr lang="en-US" sz="3200" dirty="0"/>
          </a:p>
        </p:txBody>
      </p:sp>
      <p:pic>
        <p:nvPicPr>
          <p:cNvPr id="10" name="Image 0" descr="preencoded.png">    </p:cNvPr>
          <p:cNvPicPr>
            <a:picLocks noChangeAspect="1"/>
          </p:cNvPicPr>
          <p:nvPr/>
        </p:nvPicPr>
        <p:blipFill>
          <a:blip r:embed="rId1"/>
          <a:stretch>
            <a:fillRect/>
          </a:stretch>
        </p:blipFill>
        <p:spPr>
          <a:xfrm>
            <a:off x="548640" y="1847088"/>
            <a:ext cx="384048" cy="384048"/>
          </a:xfrm>
          <a:prstGeom prst="rect">
            <a:avLst/>
          </a:prstGeom>
        </p:spPr>
      </p:pic>
      <p:sp>
        <p:nvSpPr>
          <p:cNvPr id="11" name="Text 8"/>
          <p:cNvSpPr/>
          <p:nvPr/>
        </p:nvSpPr>
        <p:spPr>
          <a:xfrm>
            <a:off x="1188720" y="1737360"/>
            <a:ext cx="10515600" cy="603504"/>
          </a:xfrm>
          <a:prstGeom prst="rect">
            <a:avLst/>
          </a:prstGeom>
          <a:noFill/>
          <a:ln/>
        </p:spPr>
        <p:txBody>
          <a:bodyPr wrap="square" lIns="0" tIns="0" rIns="0" bIns="0" rtlCol="0" anchor="ctr"/>
          <a:lstStyle/>
          <a:p>
            <a:pPr indent="0" marL="0">
              <a:buNone/>
            </a:pPr>
            <a:r>
              <a:rPr lang="en-US" sz="2000" b="1" dirty="0">
                <a:solidFill>
                  <a:srgbClr val="F8FAFC"/>
                </a:solidFill>
                <a:latin typeface="Calibri" pitchFamily="34" charset="0"/>
                <a:ea typeface="Calibri" pitchFamily="34" charset="-122"/>
                <a:cs typeface="Calibri" pitchFamily="34" charset="-120"/>
              </a:rPr>
              <a:t>AI fails silently. </a:t>
            </a:r>
            <a:pPr indent="0" marL="0">
              <a:buNone/>
            </a:pPr>
            <a:r>
              <a:rPr lang="en-US" sz="2000" dirty="0">
                <a:solidFill>
                  <a:srgbClr val="CBD5E1"/>
                </a:solidFill>
                <a:latin typeface="Calibri" pitchFamily="34" charset="0"/>
                <a:ea typeface="Calibri" pitchFamily="34" charset="-122"/>
                <a:cs typeface="Calibri" pitchFamily="34" charset="-120"/>
              </a:rPr>
              <a:t>Observe every step, not just uptime.</a:t>
            </a:r>
            <a:endParaRPr lang="en-US" sz="2000" dirty="0"/>
          </a:p>
        </p:txBody>
      </p:sp>
      <p:pic>
        <p:nvPicPr>
          <p:cNvPr id="12" name="Image 1" descr="preencoded.png">    </p:cNvPr>
          <p:cNvPicPr>
            <a:picLocks noChangeAspect="1"/>
          </p:cNvPicPr>
          <p:nvPr/>
        </p:nvPicPr>
        <p:blipFill>
          <a:blip r:embed="rId2"/>
          <a:stretch>
            <a:fillRect/>
          </a:stretch>
        </p:blipFill>
        <p:spPr>
          <a:xfrm>
            <a:off x="548640" y="2688336"/>
            <a:ext cx="384048" cy="384048"/>
          </a:xfrm>
          <a:prstGeom prst="rect">
            <a:avLst/>
          </a:prstGeom>
        </p:spPr>
      </p:pic>
      <p:sp>
        <p:nvSpPr>
          <p:cNvPr id="13" name="Text 9"/>
          <p:cNvSpPr/>
          <p:nvPr/>
        </p:nvSpPr>
        <p:spPr>
          <a:xfrm>
            <a:off x="1188720" y="2578608"/>
            <a:ext cx="10515600" cy="603504"/>
          </a:xfrm>
          <a:prstGeom prst="rect">
            <a:avLst/>
          </a:prstGeom>
          <a:noFill/>
          <a:ln/>
        </p:spPr>
        <p:txBody>
          <a:bodyPr wrap="square" lIns="0" tIns="0" rIns="0" bIns="0" rtlCol="0" anchor="ctr"/>
          <a:lstStyle/>
          <a:p>
            <a:pPr indent="0" marL="0">
              <a:buNone/>
            </a:pPr>
            <a:r>
              <a:rPr lang="en-US" sz="2000" b="1" dirty="0">
                <a:solidFill>
                  <a:srgbClr val="F8FAFC"/>
                </a:solidFill>
                <a:latin typeface="Calibri" pitchFamily="34" charset="0"/>
                <a:ea typeface="Calibri" pitchFamily="34" charset="-122"/>
                <a:cs typeface="Calibri" pitchFamily="34" charset="-120"/>
              </a:rPr>
              <a:t>Four signals. </a:t>
            </a:r>
            <a:pPr indent="0" marL="0">
              <a:buNone/>
            </a:pPr>
            <a:r>
              <a:rPr lang="en-US" sz="2000" dirty="0">
                <a:solidFill>
                  <a:srgbClr val="CBD5E1"/>
                </a:solidFill>
                <a:latin typeface="Calibri" pitchFamily="34" charset="0"/>
                <a:ea typeface="Calibri" pitchFamily="34" charset="-122"/>
                <a:cs typeface="Calibri" pitchFamily="34" charset="-120"/>
              </a:rPr>
              <a:t>Logs are events, metrics are numbers, traces are journeys, spans are steps.</a:t>
            </a:r>
            <a:endParaRPr lang="en-US" sz="2000" dirty="0"/>
          </a:p>
        </p:txBody>
      </p:sp>
      <p:pic>
        <p:nvPicPr>
          <p:cNvPr id="14" name="Image 2" descr="preencoded.png">    </p:cNvPr>
          <p:cNvPicPr>
            <a:picLocks noChangeAspect="1"/>
          </p:cNvPicPr>
          <p:nvPr/>
        </p:nvPicPr>
        <p:blipFill>
          <a:blip r:embed="rId3"/>
          <a:stretch>
            <a:fillRect/>
          </a:stretch>
        </p:blipFill>
        <p:spPr>
          <a:xfrm>
            <a:off x="548640" y="3529584"/>
            <a:ext cx="384048" cy="384048"/>
          </a:xfrm>
          <a:prstGeom prst="rect">
            <a:avLst/>
          </a:prstGeom>
        </p:spPr>
      </p:pic>
      <p:sp>
        <p:nvSpPr>
          <p:cNvPr id="15" name="Text 10"/>
          <p:cNvSpPr/>
          <p:nvPr/>
        </p:nvSpPr>
        <p:spPr>
          <a:xfrm>
            <a:off x="1188720" y="3419856"/>
            <a:ext cx="10515600" cy="603504"/>
          </a:xfrm>
          <a:prstGeom prst="rect">
            <a:avLst/>
          </a:prstGeom>
          <a:noFill/>
          <a:ln/>
        </p:spPr>
        <p:txBody>
          <a:bodyPr wrap="square" lIns="0" tIns="0" rIns="0" bIns="0" rtlCol="0" anchor="ctr"/>
          <a:lstStyle/>
          <a:p>
            <a:pPr indent="0" marL="0">
              <a:buNone/>
            </a:pPr>
            <a:r>
              <a:rPr lang="en-US" sz="2000" b="1" dirty="0">
                <a:solidFill>
                  <a:srgbClr val="F8FAFC"/>
                </a:solidFill>
                <a:latin typeface="Calibri" pitchFamily="34" charset="0"/>
                <a:ea typeface="Calibri" pitchFamily="34" charset="-122"/>
                <a:cs typeface="Calibri" pitchFamily="34" charset="-120"/>
              </a:rPr>
              <a:t>OpenTelemetry. </a:t>
            </a:r>
            <a:pPr indent="0" marL="0">
              <a:buNone/>
            </a:pPr>
            <a:r>
              <a:rPr lang="en-US" sz="2000" dirty="0">
                <a:solidFill>
                  <a:srgbClr val="CBD5E1"/>
                </a:solidFill>
                <a:latin typeface="Calibri" pitchFamily="34" charset="0"/>
                <a:ea typeface="Calibri" pitchFamily="34" charset="-122"/>
                <a:cs typeface="Calibri" pitchFamily="34" charset="-120"/>
              </a:rPr>
              <a:t>Instrument once, export anywhere. GenAI conventions name the fields.</a:t>
            </a:r>
            <a:endParaRPr lang="en-US" sz="2000" dirty="0"/>
          </a:p>
        </p:txBody>
      </p:sp>
      <p:pic>
        <p:nvPicPr>
          <p:cNvPr id="16" name="Image 3" descr="preencoded.png">    </p:cNvPr>
          <p:cNvPicPr>
            <a:picLocks noChangeAspect="1"/>
          </p:cNvPicPr>
          <p:nvPr/>
        </p:nvPicPr>
        <p:blipFill>
          <a:blip r:embed="rId4"/>
          <a:stretch>
            <a:fillRect/>
          </a:stretch>
        </p:blipFill>
        <p:spPr>
          <a:xfrm>
            <a:off x="548640" y="4370832"/>
            <a:ext cx="384048" cy="384048"/>
          </a:xfrm>
          <a:prstGeom prst="rect">
            <a:avLst/>
          </a:prstGeom>
        </p:spPr>
      </p:pic>
      <p:sp>
        <p:nvSpPr>
          <p:cNvPr id="17" name="Text 11"/>
          <p:cNvSpPr/>
          <p:nvPr/>
        </p:nvSpPr>
        <p:spPr>
          <a:xfrm>
            <a:off x="1188720" y="4261104"/>
            <a:ext cx="10515600" cy="603504"/>
          </a:xfrm>
          <a:prstGeom prst="rect">
            <a:avLst/>
          </a:prstGeom>
          <a:noFill/>
          <a:ln/>
        </p:spPr>
        <p:txBody>
          <a:bodyPr wrap="square" lIns="0" tIns="0" rIns="0" bIns="0" rtlCol="0" anchor="ctr"/>
          <a:lstStyle/>
          <a:p>
            <a:pPr indent="0" marL="0">
              <a:buNone/>
            </a:pPr>
            <a:r>
              <a:rPr lang="en-US" sz="2000" b="1" dirty="0">
                <a:solidFill>
                  <a:srgbClr val="F8FAFC"/>
                </a:solidFill>
                <a:latin typeface="Calibri" pitchFamily="34" charset="0"/>
                <a:ea typeface="Calibri" pitchFamily="34" charset="-122"/>
                <a:cs typeface="Calibri" pitchFamily="34" charset="-120"/>
              </a:rPr>
              <a:t>Measure what matters. </a:t>
            </a:r>
            <a:pPr indent="0" marL="0">
              <a:buNone/>
            </a:pPr>
            <a:r>
              <a:rPr lang="en-US" sz="2000" dirty="0">
                <a:solidFill>
                  <a:srgbClr val="CBD5E1"/>
                </a:solidFill>
                <a:latin typeface="Calibri" pitchFamily="34" charset="0"/>
                <a:ea typeface="Calibri" pitchFamily="34" charset="-122"/>
                <a:cs typeface="Calibri" pitchFamily="34" charset="-120"/>
              </a:rPr>
              <a:t>Latency, errors, tokens, cost, quality. Tag user, session and version.</a:t>
            </a:r>
            <a:endParaRPr lang="en-US" sz="2000" dirty="0"/>
          </a:p>
        </p:txBody>
      </p:sp>
      <p:pic>
        <p:nvPicPr>
          <p:cNvPr id="18" name="Image 4" descr="preencoded.png">    </p:cNvPr>
          <p:cNvPicPr>
            <a:picLocks noChangeAspect="1"/>
          </p:cNvPicPr>
          <p:nvPr/>
        </p:nvPicPr>
        <p:blipFill>
          <a:blip r:embed="rId5"/>
          <a:stretch>
            <a:fillRect/>
          </a:stretch>
        </p:blipFill>
        <p:spPr>
          <a:xfrm>
            <a:off x="548640" y="5212080"/>
            <a:ext cx="384048" cy="384048"/>
          </a:xfrm>
          <a:prstGeom prst="rect">
            <a:avLst/>
          </a:prstGeom>
        </p:spPr>
      </p:pic>
      <p:sp>
        <p:nvSpPr>
          <p:cNvPr id="19" name="Text 12"/>
          <p:cNvSpPr/>
          <p:nvPr/>
        </p:nvSpPr>
        <p:spPr>
          <a:xfrm>
            <a:off x="1188720" y="5102352"/>
            <a:ext cx="10515600" cy="603504"/>
          </a:xfrm>
          <a:prstGeom prst="rect">
            <a:avLst/>
          </a:prstGeom>
          <a:noFill/>
          <a:ln/>
        </p:spPr>
        <p:txBody>
          <a:bodyPr wrap="square" lIns="0" tIns="0" rIns="0" bIns="0" rtlCol="0" anchor="ctr"/>
          <a:lstStyle/>
          <a:p>
            <a:pPr indent="0" marL="0">
              <a:buNone/>
            </a:pPr>
            <a:r>
              <a:rPr lang="en-US" sz="2000" b="1" dirty="0">
                <a:solidFill>
                  <a:srgbClr val="F8FAFC"/>
                </a:solidFill>
                <a:latin typeface="Calibri" pitchFamily="34" charset="0"/>
                <a:ea typeface="Calibri" pitchFamily="34" charset="-122"/>
                <a:cs typeface="Calibri" pitchFamily="34" charset="-120"/>
              </a:rPr>
              <a:t>Tools differ in names, </a:t>
            </a:r>
            <a:pPr indent="0" marL="0">
              <a:buNone/>
            </a:pPr>
            <a:r>
              <a:rPr lang="en-US" sz="2000" dirty="0">
                <a:solidFill>
                  <a:srgbClr val="CBD5E1"/>
                </a:solidFill>
                <a:latin typeface="Calibri" pitchFamily="34" charset="0"/>
                <a:ea typeface="Calibri" pitchFamily="34" charset="-122"/>
                <a:cs typeface="Calibri" pitchFamily="34" charset="-120"/>
              </a:rPr>
              <a:t>not in concepts.</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548640" y="1371600"/>
            <a:ext cx="7315200" cy="1188720"/>
          </a:xfrm>
          <a:prstGeom prst="rect">
            <a:avLst/>
          </a:prstGeom>
          <a:noFill/>
          <a:ln/>
        </p:spPr>
        <p:txBody>
          <a:bodyPr wrap="square" lIns="0" tIns="0" rIns="0" bIns="0" rtlCol="0" anchor="ctr"/>
          <a:lstStyle/>
          <a:p>
            <a:pPr indent="0" marL="0">
              <a:buNone/>
            </a:pPr>
            <a:r>
              <a:rPr lang="en-US" sz="6400" b="1" dirty="0">
                <a:solidFill>
                  <a:srgbClr val="F8FAFC"/>
                </a:solidFill>
                <a:latin typeface="Georgia" pitchFamily="34" charset="0"/>
                <a:ea typeface="Georgia" pitchFamily="34" charset="-122"/>
                <a:cs typeface="Georgia" pitchFamily="34" charset="-120"/>
              </a:rPr>
              <a:t>Questions?</a:t>
            </a:r>
            <a:endParaRPr lang="en-US" sz="6400" dirty="0"/>
          </a:p>
        </p:txBody>
      </p:sp>
      <p:sp>
        <p:nvSpPr>
          <p:cNvPr id="3" name="Text 1"/>
          <p:cNvSpPr/>
          <p:nvPr/>
        </p:nvSpPr>
        <p:spPr>
          <a:xfrm>
            <a:off x="548640" y="2926080"/>
            <a:ext cx="4572000" cy="274320"/>
          </a:xfrm>
          <a:prstGeom prst="rect">
            <a:avLst/>
          </a:prstGeom>
          <a:noFill/>
          <a:ln/>
        </p:spPr>
        <p:txBody>
          <a:bodyPr wrap="square" lIns="0" tIns="0" rIns="0" bIns="0" rtlCol="0" anchor="t"/>
          <a:lstStyle/>
          <a:p>
            <a:pPr indent="0" marL="0">
              <a:buNone/>
            </a:pPr>
            <a:r>
              <a:rPr lang="en-US" sz="1200" b="1" spc="400" kern="0" dirty="0">
                <a:solidFill>
                  <a:srgbClr val="2DD4BF"/>
                </a:solidFill>
                <a:latin typeface="Calibri" pitchFamily="34" charset="0"/>
                <a:ea typeface="Calibri" pitchFamily="34" charset="-122"/>
                <a:cs typeface="Calibri" pitchFamily="34" charset="-120"/>
              </a:rPr>
              <a:t>COMING NEXT</a:t>
            </a:r>
            <a:endParaRPr lang="en-US" sz="1200" dirty="0"/>
          </a:p>
        </p:txBody>
      </p:sp>
      <p:sp>
        <p:nvSpPr>
          <p:cNvPr id="4" name="Text 2"/>
          <p:cNvSpPr/>
          <p:nvPr/>
        </p:nvSpPr>
        <p:spPr>
          <a:xfrm>
            <a:off x="548640" y="3337560"/>
            <a:ext cx="384048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Evaluations</a:t>
            </a:r>
            <a:endParaRPr lang="en-US" sz="1800" dirty="0"/>
          </a:p>
        </p:txBody>
      </p:sp>
      <p:sp>
        <p:nvSpPr>
          <p:cNvPr id="5" name="Text 3"/>
          <p:cNvSpPr/>
          <p:nvPr/>
        </p:nvSpPr>
        <p:spPr>
          <a:xfrm>
            <a:off x="548640" y="3703320"/>
            <a:ext cx="3840480" cy="36576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LLM-as-a-judge, datasets, experiments</a:t>
            </a:r>
            <a:endParaRPr lang="en-US" sz="1300" dirty="0"/>
          </a:p>
        </p:txBody>
      </p:sp>
      <p:sp>
        <p:nvSpPr>
          <p:cNvPr id="6" name="Text 4"/>
          <p:cNvSpPr/>
          <p:nvPr/>
        </p:nvSpPr>
        <p:spPr>
          <a:xfrm>
            <a:off x="4572000" y="3337560"/>
            <a:ext cx="384048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Prompt management</a:t>
            </a:r>
            <a:endParaRPr lang="en-US" sz="1800" dirty="0"/>
          </a:p>
        </p:txBody>
      </p:sp>
      <p:sp>
        <p:nvSpPr>
          <p:cNvPr id="7" name="Text 5"/>
          <p:cNvSpPr/>
          <p:nvPr/>
        </p:nvSpPr>
        <p:spPr>
          <a:xfrm>
            <a:off x="4572000" y="3703320"/>
            <a:ext cx="3840480" cy="36576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Versioning and linking prompts to traces</a:t>
            </a:r>
            <a:endParaRPr lang="en-US" sz="1300" dirty="0"/>
          </a:p>
        </p:txBody>
      </p:sp>
      <p:sp>
        <p:nvSpPr>
          <p:cNvPr id="8" name="Text 6"/>
          <p:cNvSpPr/>
          <p:nvPr/>
        </p:nvSpPr>
        <p:spPr>
          <a:xfrm>
            <a:off x="548640" y="4297680"/>
            <a:ext cx="384048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Alerts and dashboards</a:t>
            </a:r>
            <a:endParaRPr lang="en-US" sz="1800" dirty="0"/>
          </a:p>
        </p:txBody>
      </p:sp>
      <p:sp>
        <p:nvSpPr>
          <p:cNvPr id="9" name="Text 7"/>
          <p:cNvSpPr/>
          <p:nvPr/>
        </p:nvSpPr>
        <p:spPr>
          <a:xfrm>
            <a:off x="548640" y="4663440"/>
            <a:ext cx="3840480" cy="36576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SLOs on latency, cost and quality</a:t>
            </a:r>
            <a:endParaRPr lang="en-US" sz="1300" dirty="0"/>
          </a:p>
        </p:txBody>
      </p:sp>
      <p:sp>
        <p:nvSpPr>
          <p:cNvPr id="10" name="Text 8"/>
          <p:cNvSpPr/>
          <p:nvPr/>
        </p:nvSpPr>
        <p:spPr>
          <a:xfrm>
            <a:off x="4572000" y="4297680"/>
            <a:ext cx="3840480" cy="36576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Production pipelines</a:t>
            </a:r>
            <a:endParaRPr lang="en-US" sz="1800" dirty="0"/>
          </a:p>
        </p:txBody>
      </p:sp>
      <p:sp>
        <p:nvSpPr>
          <p:cNvPr id="11" name="Text 9"/>
          <p:cNvSpPr/>
          <p:nvPr/>
        </p:nvSpPr>
        <p:spPr>
          <a:xfrm>
            <a:off x="4572000" y="4663440"/>
            <a:ext cx="3840480" cy="365760"/>
          </a:xfrm>
          <a:prstGeom prst="rect">
            <a:avLst/>
          </a:prstGeom>
          <a:noFill/>
          <a:ln/>
        </p:spPr>
        <p:txBody>
          <a:bodyPr wrap="square" lIns="0" tIns="0" rIns="0" bIns="0" rtlCol="0" anchor="t"/>
          <a:lstStyle/>
          <a:p>
            <a:pPr indent="0" marL="0">
              <a:buNone/>
            </a:pPr>
            <a:r>
              <a:rPr lang="en-US" sz="1300" dirty="0">
                <a:solidFill>
                  <a:srgbClr val="8A97B0"/>
                </a:solidFill>
                <a:latin typeface="Calibri" pitchFamily="34" charset="0"/>
                <a:ea typeface="Calibri" pitchFamily="34" charset="-122"/>
                <a:cs typeface="Calibri" pitchFamily="34" charset="-120"/>
              </a:rPr>
              <a:t>Collector, sampling, redaction at scale</a:t>
            </a:r>
            <a:endParaRPr lang="en-US" sz="1300" dirty="0"/>
          </a:p>
        </p:txBody>
      </p:sp>
      <p:pic>
        <p:nvPicPr>
          <p:cNvPr id="12" name="Image 0" descr="preencoded.png">    </p:cNvPr>
          <p:cNvPicPr>
            <a:picLocks noChangeAspect="1"/>
          </p:cNvPicPr>
          <p:nvPr/>
        </p:nvPicPr>
        <p:blipFill>
          <a:blip r:embed="rId1"/>
          <a:stretch>
            <a:fillRect/>
          </a:stretch>
        </p:blipFill>
        <p:spPr>
          <a:xfrm>
            <a:off x="548640" y="5669280"/>
            <a:ext cx="320040" cy="320040"/>
          </a:xfrm>
          <a:prstGeom prst="rect">
            <a:avLst/>
          </a:prstGeom>
        </p:spPr>
      </p:pic>
      <p:sp>
        <p:nvSpPr>
          <p:cNvPr id="13" name="Text 10"/>
          <p:cNvSpPr/>
          <p:nvPr/>
        </p:nvSpPr>
        <p:spPr>
          <a:xfrm>
            <a:off x="1005840" y="5669280"/>
            <a:ext cx="6400800" cy="320040"/>
          </a:xfrm>
          <a:prstGeom prst="rect">
            <a:avLst/>
          </a:prstGeom>
          <a:noFill/>
          <a:ln/>
        </p:spPr>
        <p:txBody>
          <a:bodyPr wrap="square" lIns="0" tIns="0" rIns="0" bIns="0" rtlCol="0" anchor="ctr"/>
          <a:lstStyle/>
          <a:p>
            <a:pPr indent="0" marL="0">
              <a:buNone/>
            </a:pPr>
            <a:r>
              <a:rPr lang="en-US" sz="1400" dirty="0">
                <a:solidFill>
                  <a:srgbClr val="2DD4BF"/>
                </a:solidFill>
                <a:latin typeface="Consolas" pitchFamily="34" charset="0"/>
                <a:ea typeface="Consolas" pitchFamily="34" charset="-122"/>
                <a:cs typeface="Consolas" pitchFamily="34" charset="-120"/>
              </a:rPr>
              <a:t>github.com/fnusatvik07/ai-observability-lab</a:t>
            </a:r>
            <a:endParaRPr lang="en-US" sz="1400" dirty="0"/>
          </a:p>
        </p:txBody>
      </p:sp>
      <p:sp>
        <p:nvSpPr>
          <p:cNvPr id="14" name="Shape 11"/>
          <p:cNvSpPr/>
          <p:nvPr/>
        </p:nvSpPr>
        <p:spPr>
          <a:xfrm>
            <a:off x="8503920" y="1828800"/>
            <a:ext cx="3291840" cy="153619"/>
          </a:xfrm>
          <a:prstGeom prst="roundRect">
            <a:avLst>
              <a:gd name="adj" fmla="val 17857"/>
            </a:avLst>
          </a:prstGeom>
          <a:solidFill>
            <a:srgbClr val="8B5CF6"/>
          </a:solidFill>
          <a:ln w="12700">
            <a:solidFill>
              <a:srgbClr val="8B5CF6"/>
            </a:solidFill>
            <a:prstDash val="solid"/>
          </a:ln>
        </p:spPr>
      </p:sp>
      <p:sp>
        <p:nvSpPr>
          <p:cNvPr id="15" name="Shape 12"/>
          <p:cNvSpPr/>
          <p:nvPr/>
        </p:nvSpPr>
        <p:spPr>
          <a:xfrm>
            <a:off x="8635594" y="2114093"/>
            <a:ext cx="724205" cy="153619"/>
          </a:xfrm>
          <a:prstGeom prst="roundRect">
            <a:avLst>
              <a:gd name="adj" fmla="val 17857"/>
            </a:avLst>
          </a:prstGeom>
          <a:solidFill>
            <a:srgbClr val="22D3EE"/>
          </a:solidFill>
          <a:ln w="12700">
            <a:solidFill>
              <a:srgbClr val="22D3EE"/>
            </a:solidFill>
            <a:prstDash val="solid"/>
          </a:ln>
        </p:spPr>
      </p:sp>
      <p:sp>
        <p:nvSpPr>
          <p:cNvPr id="16" name="Shape 13"/>
          <p:cNvSpPr/>
          <p:nvPr/>
        </p:nvSpPr>
        <p:spPr>
          <a:xfrm>
            <a:off x="9392717" y="2399386"/>
            <a:ext cx="1185062" cy="153619"/>
          </a:xfrm>
          <a:prstGeom prst="roundRect">
            <a:avLst>
              <a:gd name="adj" fmla="val 17857"/>
            </a:avLst>
          </a:prstGeom>
          <a:solidFill>
            <a:srgbClr val="F5B53F"/>
          </a:solidFill>
          <a:ln w="12700">
            <a:solidFill>
              <a:srgbClr val="F5B53F"/>
            </a:solidFill>
            <a:prstDash val="solid"/>
          </a:ln>
        </p:spPr>
      </p:sp>
      <p:sp>
        <p:nvSpPr>
          <p:cNvPr id="17" name="Shape 14"/>
          <p:cNvSpPr/>
          <p:nvPr/>
        </p:nvSpPr>
        <p:spPr>
          <a:xfrm>
            <a:off x="10610698" y="2684678"/>
            <a:ext cx="1119226" cy="153619"/>
          </a:xfrm>
          <a:prstGeom prst="roundRect">
            <a:avLst>
              <a:gd name="adj" fmla="val 17857"/>
            </a:avLst>
          </a:prstGeom>
          <a:solidFill>
            <a:srgbClr val="2DD4BF"/>
          </a:solidFill>
          <a:ln w="12700">
            <a:solidFill>
              <a:srgbClr val="2DD4B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Observability: Foundations</dc:title>
  <dc:subject>PptxGenJS Presentation</dc:subject>
  <dc:creator>Data Sense</dc:creator>
  <cp:lastModifiedBy>Data Sense</cp:lastModifiedBy>
  <cp:revision>1</cp:revision>
  <dcterms:created xsi:type="dcterms:W3CDTF">2026-10-21T00:53:14Z</dcterms:created>
  <dcterms:modified xsi:type="dcterms:W3CDTF">2026-10-21T00:53:14Z</dcterms:modified>
</cp:coreProperties>
</file>